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lineChart>
        <c:grouping val="standard"/>
        <c:varyColors val="0"/>
        <c:ser>
          <c:idx val="0"/>
          <c:order val="0"/>
          <c:tx>
            <c:strRef>
              <c:f>Sheet1!$B$1</c:f>
              <c:strCache>
                <c:ptCount val="1"/>
                <c:pt idx="0">
                  <c:v>Monthly active users</c:v>
                </c:pt>
              </c:strCache>
            </c:strRef>
          </c:tx>
          <c:spPr>
            <a:solidFill>
              <a:srgbClr val="79DCAF"/>
            </a:solidFill>
            <a:ln w="35560">
              <a:solidFill>
                <a:srgbClr val="79DCAF"/>
              </a:solidFill>
            </a:ln>
          </c:spPr>
          <c:cat>
            <c:strRef>
              <c:f>Sheet1!$A$2:$A$13</c:f>
              <c:strCache>
                <c:ptCount val="12"/>
                <c:pt idx="0">
                  <c:v>M1</c:v>
                </c:pt>
                <c:pt idx="1">
                  <c:v>M2</c:v>
                </c:pt>
                <c:pt idx="2">
                  <c:v>M3</c:v>
                </c:pt>
                <c:pt idx="3">
                  <c:v>M4</c:v>
                </c:pt>
                <c:pt idx="4">
                  <c:v>M5</c:v>
                </c:pt>
                <c:pt idx="5">
                  <c:v>M6</c:v>
                </c:pt>
                <c:pt idx="6">
                  <c:v>M7</c:v>
                </c:pt>
                <c:pt idx="7">
                  <c:v>M8</c:v>
                </c:pt>
                <c:pt idx="8">
                  <c:v>M9</c:v>
                </c:pt>
                <c:pt idx="9">
                  <c:v>M10</c:v>
                </c:pt>
                <c:pt idx="10">
                  <c:v>M11</c:v>
                </c:pt>
                <c:pt idx="11">
                  <c:v>M12</c:v>
                </c:pt>
              </c:strCache>
            </c:strRef>
          </c:cat>
          <c:val>
            <c:numRef>
              <c:f>Sheet1!$B$2:$B$13</c:f>
              <c:numCache>
                <c:formatCode>General</c:formatCode>
                <c:ptCount val="12"/>
                <c:pt idx="0">
                  <c:v>0</c:v>
                </c:pt>
                <c:pt idx="1">
                  <c:v>500</c:v>
                </c:pt>
                <c:pt idx="2">
                  <c:v>1500</c:v>
                </c:pt>
                <c:pt idx="3">
                  <c:v>3000</c:v>
                </c:pt>
                <c:pt idx="4">
                  <c:v>5000</c:v>
                </c:pt>
                <c:pt idx="5">
                  <c:v>7500</c:v>
                </c:pt>
                <c:pt idx="6">
                  <c:v>10000</c:v>
                </c:pt>
                <c:pt idx="7">
                  <c:v>12500</c:v>
                </c:pt>
                <c:pt idx="8">
                  <c:v>15000</c:v>
                </c:pt>
                <c:pt idx="9">
                  <c:v>18000</c:v>
                </c:pt>
                <c:pt idx="10">
                  <c:v>21000</c:v>
                </c:pt>
                <c:pt idx="11">
                  <c:v>25000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a:solidFill>
              <a:srgbClr val="354B3D"/>
            </a:solidFill>
          </a:ln>
        </c:spPr>
        <c:txPr>
          <a:bodyPr/>
          <a:lstStyle/>
          <a:p>
            <a:pPr>
              <a:defRPr sz="1100">
                <a:solidFill>
                  <a:srgbClr val="A8B8AC"/>
                </a:solidFill>
                <a:latin typeface="Arial"/>
              </a:defRPr>
            </a:pPr>
          </a:p>
        </c:txPr>
        <c:crossAx val="2140495176"/>
        <c:crosses val="autoZero"/>
        <c:auto val="1"/>
        <c:lblAlgn val="ctr"/>
        <c:lblOffset val="100"/>
        <c:noMultiLvlLbl val="0"/>
      </c:catAx>
      <c:valAx>
        <c:axId val="2140495176"/>
        <c:scaling>
          <c:max val="25000.0"/>
          <c:min val="0.0"/>
        </c:scaling>
        <c:delete val="0"/>
        <c:axPos val="l"/>
        <c:majorGridlines>
          <c:spPr>
            <a:ln w="7620">
              <a:solidFill>
                <a:srgbClr val="354B3D"/>
              </a:solidFill>
            </a:ln>
          </c:spPr>
        </c:majorGridlines>
        <c:numFmt formatCode="#,##0" sourceLinked="0"/>
        <c:majorTickMark val="none"/>
        <c:minorTickMark val="none"/>
        <c:tickLblPos val="nextTo"/>
        <c:spPr>
          <a:ln>
            <a:solidFill>
              <a:srgbClr val="354B3D"/>
            </a:solidFill>
          </a:ln>
        </c:spPr>
        <c:txPr>
          <a:bodyPr/>
          <a:lstStyle/>
          <a:p>
            <a:pPr>
              <a:defRPr sz="1100">
                <a:solidFill>
                  <a:srgbClr val="A8B8AC"/>
                </a:solidFill>
                <a:latin typeface="Arial"/>
              </a:defRPr>
            </a:pPr>
          </a:p>
        </c:txPr>
        <c:crossAx val="2118791784"/>
        <c:crosses val="autoZero"/>
      </c:valAx>
      <c:spPr>
        <a:noFill/>
        <a:ln>
          <a:noFill/>
        </a:ln>
      </c:spPr>
    </c:plotArea>
    <c:plotVisOnly val="1"/>
    <c:dispBlanksAs val="gap"/>
    <c:showDLblsOverMax val="0"/>
  </c:chart>
  <c:spPr>
    <a:noFill/>
    <a:ln>
      <a:noFill/>
    </a:ln>
  </c:spPr>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Monthly result</c:v>
                </c:pt>
              </c:strCache>
            </c:strRef>
          </c:tx>
          <c:spPr>
            <a:solidFill>
              <a:srgbClr val="EC957F"/>
            </a:solidFill>
            <a:ln>
              <a:solidFill>
                <a:srgbClr val="EC957F"/>
              </a:solidFill>
            </a:ln>
          </c:spPr>
          <c:dPt>
            <c:idx val="11"/>
            <c:spPr>
              <a:solidFill>
                <a:srgbClr val="79DCAF"/>
              </a:solidFill>
              <a:ln>
                <a:solidFill>
                  <a:srgbClr val="79DCAF"/>
                </a:solidFill>
              </a:ln>
            </c:spPr>
          </c:dPt>
          <c:cat>
            <c:strRef>
              <c:f>Sheet1!$A$2:$A$13</c:f>
              <c:strCache>
                <c:ptCount val="12"/>
                <c:pt idx="0">
                  <c:v>M1</c:v>
                </c:pt>
                <c:pt idx="1">
                  <c:v>M2</c:v>
                </c:pt>
                <c:pt idx="2">
                  <c:v>M3</c:v>
                </c:pt>
                <c:pt idx="3">
                  <c:v>M4</c:v>
                </c:pt>
                <c:pt idx="4">
                  <c:v>M5</c:v>
                </c:pt>
                <c:pt idx="5">
                  <c:v>M6</c:v>
                </c:pt>
                <c:pt idx="6">
                  <c:v>M7</c:v>
                </c:pt>
                <c:pt idx="7">
                  <c:v>M8</c:v>
                </c:pt>
                <c:pt idx="8">
                  <c:v>M9</c:v>
                </c:pt>
                <c:pt idx="9">
                  <c:v>M10</c:v>
                </c:pt>
                <c:pt idx="10">
                  <c:v>M11</c:v>
                </c:pt>
                <c:pt idx="11">
                  <c:v>M12</c:v>
                </c:pt>
              </c:strCache>
            </c:strRef>
          </c:cat>
          <c:val>
            <c:numRef>
              <c:f>Sheet1!$B$2:$B$13</c:f>
              <c:numCache>
                <c:formatCode>General</c:formatCode>
                <c:ptCount val="12"/>
                <c:pt idx="0">
                  <c:v>-25.0</c:v>
                </c:pt>
                <c:pt idx="1">
                  <c:v>-25.379360039999998</c:v>
                </c:pt>
                <c:pt idx="2">
                  <c:v>-25.070378548</c:v>
                </c:pt>
                <c:pt idx="3">
                  <c:v>-24.29009636</c:v>
                </c:pt>
                <c:pt idx="4">
                  <c:v>-23.603360600000002</c:v>
                </c:pt>
                <c:pt idx="5">
                  <c:v>-21.672375448</c:v>
                </c:pt>
                <c:pt idx="6">
                  <c:v>-18.1088416</c:v>
                </c:pt>
                <c:pt idx="7">
                  <c:v>-15.675002</c:v>
                </c:pt>
                <c:pt idx="8">
                  <c:v>-11.0115027</c:v>
                </c:pt>
                <c:pt idx="9">
                  <c:v>-8.21380324</c:v>
                </c:pt>
                <c:pt idx="10">
                  <c:v>-1.9195802</c:v>
                </c:pt>
                <c:pt idx="11">
                  <c:v>1.832195</c:v>
                </c:pt>
              </c:numCache>
            </c:numRef>
          </c:val>
        </c:ser>
        <c:axId val="-2068027336"/>
        <c:axId val="-2113994440"/>
      </c:barChart>
      <c:catAx>
        <c:axId val="-2068027336"/>
        <c:scaling>
          <c:orientation val="minMax"/>
        </c:scaling>
        <c:delete val="0"/>
        <c:axPos val="b"/>
        <c:majorTickMark val="none"/>
        <c:minorTickMark val="none"/>
        <c:tickLblPos val="nextTo"/>
        <c:spPr>
          <a:ln>
            <a:solidFill>
              <a:srgbClr val="354B3D"/>
            </a:solidFill>
          </a:ln>
        </c:spPr>
        <c:txPr>
          <a:bodyPr/>
          <a:lstStyle/>
          <a:p>
            <a:pPr>
              <a:defRPr sz="1100">
                <a:solidFill>
                  <a:srgbClr val="A8B8AC"/>
                </a:solidFill>
                <a:latin typeface="Arial"/>
              </a:defRPr>
            </a:pPr>
          </a:p>
        </c:txPr>
        <c:crossAx val="-2113994440"/>
        <c:crosses val="autoZero"/>
        <c:auto val="1"/>
        <c:lblAlgn val="ctr"/>
        <c:lblOffset val="100"/>
        <c:noMultiLvlLbl val="0"/>
      </c:catAx>
      <c:valAx>
        <c:axId val="-2113994440"/>
        <c:scaling>
          <c:max val="5.0"/>
          <c:min val="-30.0"/>
        </c:scaling>
        <c:delete val="0"/>
        <c:axPos val="l"/>
        <c:numFmt formatCode="0;(0);0" sourceLinked="0"/>
        <c:majorTickMark val="none"/>
        <c:minorTickMark val="none"/>
        <c:tickLblPos val="nextTo"/>
        <c:spPr>
          <a:ln>
            <a:solidFill>
              <a:srgbClr val="354B3D"/>
            </a:solidFill>
          </a:ln>
        </c:spPr>
        <c:txPr>
          <a:bodyPr/>
          <a:lstStyle/>
          <a:p>
            <a:pPr>
              <a:defRPr sz="1100">
                <a:solidFill>
                  <a:srgbClr val="A8B8AC"/>
                </a:solidFill>
                <a:latin typeface="Arial"/>
              </a:defRPr>
            </a:pPr>
          </a:p>
        </c:txPr>
        <c:crossAx val="-2068027336"/>
        <c:crosses val="autoZero"/>
      </c:valAx>
      <c:spPr>
        <a:noFill/>
        <a:ln>
          <a:noFill/>
        </a:ln>
      </c:spPr>
    </c:plotArea>
    <c:dispBlanksAs val="gap"/>
  </c:chart>
  <c:spPr>
    <a:noFill/>
    <a:ln>
      <a:noFill/>
    </a:ln>
  </c:spPr>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lineChart>
        <c:grouping val="standard"/>
        <c:varyColors val="0"/>
        <c:ser>
          <c:idx val="0"/>
          <c:order val="0"/>
          <c:tx>
            <c:strRef>
              <c:f>Sheet1!$B$1</c:f>
              <c:strCache>
                <c:ptCount val="1"/>
                <c:pt idx="0">
                  <c:v>Cumulative cash</c:v>
                </c:pt>
              </c:strCache>
            </c:strRef>
          </c:tx>
          <c:spPr>
            <a:solidFill>
              <a:srgbClr val="EDC76C"/>
            </a:solidFill>
            <a:ln w="35560">
              <a:solidFill>
                <a:srgbClr val="EDC76C"/>
              </a:solidFill>
            </a:ln>
          </c:spPr>
          <c:cat>
            <c:strRef>
              <c:f>Sheet1!$A$2:$A$13</c:f>
              <c:strCache>
                <c:ptCount val="12"/>
                <c:pt idx="0">
                  <c:v>M1</c:v>
                </c:pt>
                <c:pt idx="1">
                  <c:v>M2</c:v>
                </c:pt>
                <c:pt idx="2">
                  <c:v>M3</c:v>
                </c:pt>
                <c:pt idx="3">
                  <c:v>M4</c:v>
                </c:pt>
                <c:pt idx="4">
                  <c:v>M5</c:v>
                </c:pt>
                <c:pt idx="5">
                  <c:v>M6</c:v>
                </c:pt>
                <c:pt idx="6">
                  <c:v>M7</c:v>
                </c:pt>
                <c:pt idx="7">
                  <c:v>M8</c:v>
                </c:pt>
                <c:pt idx="8">
                  <c:v>M9</c:v>
                </c:pt>
                <c:pt idx="9">
                  <c:v>M10</c:v>
                </c:pt>
                <c:pt idx="10">
                  <c:v>M11</c:v>
                </c:pt>
                <c:pt idx="11">
                  <c:v>M12</c:v>
                </c:pt>
              </c:strCache>
            </c:strRef>
          </c:cat>
          <c:val>
            <c:numRef>
              <c:f>Sheet1!$B$2:$B$13</c:f>
              <c:numCache>
                <c:formatCode>General</c:formatCode>
                <c:ptCount val="12"/>
                <c:pt idx="0">
                  <c:v>-145.0</c:v>
                </c:pt>
                <c:pt idx="1">
                  <c:v>-170.37936004</c:v>
                </c:pt>
                <c:pt idx="2">
                  <c:v>-195.449738588</c:v>
                </c:pt>
                <c:pt idx="3">
                  <c:v>-219.739834948</c:v>
                </c:pt>
                <c:pt idx="4">
                  <c:v>-243.343195548</c:v>
                </c:pt>
                <c:pt idx="5">
                  <c:v>-265.015570996</c:v>
                </c:pt>
                <c:pt idx="6">
                  <c:v>-283.124412596</c:v>
                </c:pt>
                <c:pt idx="7">
                  <c:v>-298.799414596</c:v>
                </c:pt>
                <c:pt idx="8">
                  <c:v>-309.810917296</c:v>
                </c:pt>
                <c:pt idx="9">
                  <c:v>-318.024720536</c:v>
                </c:pt>
                <c:pt idx="10">
                  <c:v>-319.944300736</c:v>
                </c:pt>
                <c:pt idx="11">
                  <c:v>-318.112105736</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a:solidFill>
              <a:srgbClr val="354B3D"/>
            </a:solidFill>
          </a:ln>
        </c:spPr>
        <c:txPr>
          <a:bodyPr/>
          <a:lstStyle/>
          <a:p>
            <a:pPr>
              <a:defRPr sz="1100">
                <a:solidFill>
                  <a:srgbClr val="A8B8AC"/>
                </a:solidFill>
                <a:latin typeface="Arial"/>
              </a:defRPr>
            </a:pPr>
          </a:p>
        </c:txPr>
        <c:crossAx val="2140495176"/>
        <c:crosses val="autoZero"/>
        <c:auto val="1"/>
        <c:lblAlgn val="ctr"/>
        <c:lblOffset val="100"/>
        <c:noMultiLvlLbl val="0"/>
      </c:catAx>
      <c:valAx>
        <c:axId val="2140495176"/>
        <c:scaling>
          <c:max val="-100.0"/>
          <c:min val="-350.0"/>
        </c:scaling>
        <c:delete val="0"/>
        <c:axPos val="l"/>
        <c:numFmt formatCode="0;(0);0" sourceLinked="0"/>
        <c:majorTickMark val="none"/>
        <c:minorTickMark val="none"/>
        <c:tickLblPos val="nextTo"/>
        <c:spPr>
          <a:ln>
            <a:solidFill>
              <a:srgbClr val="354B3D"/>
            </a:solidFill>
          </a:ln>
        </c:spPr>
        <c:txPr>
          <a:bodyPr/>
          <a:lstStyle/>
          <a:p>
            <a:pPr>
              <a:defRPr sz="1100">
                <a:solidFill>
                  <a:srgbClr val="A8B8AC"/>
                </a:solidFill>
                <a:latin typeface="Arial"/>
              </a:defRPr>
            </a:pPr>
          </a:p>
        </c:txPr>
        <c:crossAx val="2118791784"/>
        <c:crosses val="autoZero"/>
      </c:valAx>
      <c:spPr>
        <a:noFill/>
        <a:ln>
          <a:noFill/>
        </a:ln>
      </c:spPr>
    </c:plotArea>
    <c:plotVisOnly val="1"/>
    <c:dispBlanksAs val="gap"/>
    <c:showDLblsOverMax val="0"/>
  </c:chart>
  <c:spPr>
    <a:noFill/>
    <a:ln>
      <a:noFill/>
    </a:ln>
  </c:spPr>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Bayrambek Bakbergenov · CEO</a:t>
            </a:r>
          </a:p>
          <a:p/>
          <a:p>
            <a:r>
              <a:t>Good morning. Soya is a proposed walking platform for central Tashkent. It combines building shade, circular routes and information about the pavement. The business would serve people who walk and nearby cafes that want relevant visits. Today we explain the product, the responsibilities of the organisation and the financial assumptions behind a small pilot. This is a planning proposal. The maps and interface examples are demonstrations, not evidence of completed field trials. We will distinguish sourced technical facts from targets that still need testing. Our aim is to show how the business could create value, how it would be managed and what must be verified before launch.</a:t>
            </a:r>
          </a:p>
          <a:p/>
          <a:p>
            <a:r>
              <a:t>Подсказка</a:t>
            </a:r>
          </a:p>
          <a:p>
            <a:r>
              <a:t>Представить идею и сразу отделить проектные примеры от результатов реального пилота.</a:t>
            </a:r>
          </a:p>
          <a:p/>
          <a:p>
            <a:r>
              <a:t>Timing 30 seconds</a:t>
            </a:r>
          </a:p>
          <a:p/>
          <a:p>
            <a:r>
              <a:t>Citations BRIEF, SOYA_MODEL</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Bayrambek Bakbergenov</a:t>
            </a:r>
          </a:p>
          <a:p/>
          <a:p>
            <a:r>
              <a:t>We are a team of four. Bayrambek is responsible for the business direction, Marat for the product and technology, Sharifjon for operations and people, and Lobar for finance. These are venture roles. Our collaboration record will document the work each person actually completes.</a:t>
            </a:r>
          </a:p>
          <a:p/>
          <a:p>
            <a:r>
              <a:t>Подсказка</a:t>
            </a:r>
          </a:p>
          <a:p>
            <a:r>
              <a:t>Коротко представить участников. Фотографии добавляются самостоятельно в пустые рамки.</a:t>
            </a:r>
          </a:p>
          <a:p/>
          <a:p>
            <a:r>
              <a:t>Timing 35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Bayrambek Bakbergenov · CEO</a:t>
            </a:r>
          </a:p>
          <a:p/>
          <a:p>
            <a:r>
              <a:t>Soya is a digital service business rather than a transport operator. Its core activity would be turning map data and local route information into useful walking choices. People could explore and contribute routes without paying. Subscribers would pay for additional planning features. Cafes would pay for clearly marked advertising near relevant walks. This creates two sources of payment, but the service must still protect the interests of the person walking. We propose starting in a limited central area before expanding. Registration, commercial data arrangements and payment channels remain actions to complete. This distinction matters because a planned organisation should not be presented as an already operating company.</a:t>
            </a:r>
          </a:p>
          <a:p/>
          <a:p>
            <a:r>
              <a:t>Подсказка</a:t>
            </a:r>
          </a:p>
          <a:p>
            <a:r>
              <a:t>Объяснить отрасль, продукт, пользователей, плательщиков и статус проекта.</a:t>
            </a:r>
          </a:p>
          <a:p/>
          <a:p>
            <a:r>
              <a:t>Timing 60 seconds</a:t>
            </a:r>
          </a:p>
          <a:p/>
          <a:p>
            <a:r>
              <a:t>Citations BRIEF, SOYA_MODEL, BOVEE2020</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Bayrambek Bakbergenov · CEO</a:t>
            </a:r>
          </a:p>
          <a:p/>
          <a:p>
            <a:r>
              <a:t>A person planning a walk does not always want the shortest connection between two addresses. A family may need a route without stairs. A runner may want a loop. On a hot day, the side of a street and the time of departure may affect exposure to direct sun. These are the situations behind Soya. We are not claiming that every existing map fails at these tasks. Our proposal combines them in one local walking experience. The important business question is whether this combination creates enough additional value for repeat use and paid planning. That question needs observation and a pilot rather than a confident statement based only on the idea.</a:t>
            </a:r>
          </a:p>
          <a:p/>
          <a:p>
            <a:r>
              <a:t>Подсказка</a:t>
            </a:r>
          </a:p>
          <a:p>
            <a:r>
              <a:t>Показать проблему без абсолютных утверждений о конкурентах и без медицинских обещаний.</a:t>
            </a:r>
          </a:p>
          <a:p/>
          <a:p>
            <a:r>
              <a:t>Timing 65 seconds</a:t>
            </a:r>
          </a:p>
          <a:p/>
          <a:p>
            <a:r>
              <a:t>Citations SOYA_MODEL</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Bayrambek Bakbergenov · CEO</a:t>
            </a:r>
          </a:p>
          <a:p/>
          <a:p>
            <a:r>
              <a:t>The proposed pilot covers fifteen square kilometres rather than the whole city. This is a scope decision. A small area makes it more realistic to inspect building information, check pavement conditions and keep route reports current. Mirabad and Yakkasaroy are the intended starting districts in the original proposal. The final boundary and every illustrated path need local checking. We plan to prepare thirty starter loops so that early users do not arrive at an empty service. The pilot is also a learning exercise. It should show the cost of keeping a route trustworthy and whether people return. Expansion would depend on those results, not simply on drawing a larger area on the map.</a:t>
            </a:r>
          </a:p>
          <a:p/>
          <a:p>
            <a:r>
              <a:t>Подсказка</a:t>
            </a:r>
          </a:p>
          <a:p>
            <a:r>
              <a:t>Объяснить ограниченный масштаб пилота и условия расширения.</a:t>
            </a:r>
          </a:p>
          <a:p/>
          <a:p>
            <a:r>
              <a:t>Timing 65 seconds</a:t>
            </a:r>
          </a:p>
          <a:p/>
          <a:p>
            <a:r>
              <a:t>Citations SOYA_MODEL, P01</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Bayrambek Bakbergenov · CEO</a:t>
            </a:r>
          </a:p>
          <a:p/>
          <a:p>
            <a:r>
              <a:t>The platform has several participants, but they should not be treated as one average customer. Regular walkers may value repeat routes and future departure planning. Parents with strollers care about stairs, crossings and pavement changes. Friends may need to agree on a route before leaving. Local contributors supply useful observations, while cafes pay for contextual promotion. Each role requires a different measure of value. We would measure a completed first walk for the user, useful verified reports for the community and attributable response for a cafe. This keeps the business focused on actual tasks. It also prevents a large audience estimate from being mistaken for evidence that everyone will buy the same subscription.</a:t>
            </a:r>
          </a:p>
          <a:p/>
          <a:p>
            <a:r>
              <a:t>Подсказка</a:t>
            </a:r>
          </a:p>
          <a:p>
            <a:r>
              <a:t>Разделить пользователей, авторов маршрутов и плательщиков по конкретным задачам.</a:t>
            </a:r>
          </a:p>
          <a:p/>
          <a:p>
            <a:r>
              <a:t>Timing 65 seconds</a:t>
            </a:r>
          </a:p>
          <a:p/>
          <a:p>
            <a:r>
              <a:t>Citations SOYA_MODEL, BOVEE2020</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Bayrambek Bakbergenov · CEO</a:t>
            </a:r>
          </a:p>
          <a:p/>
          <a:p>
            <a:r>
              <a:t>This screen shows the proposed experience. A person chooses who is walking, when they will leave and how long they want to spend. The service then offers routes with comparable distance, expected shade and access notes. The recommendation must explain its trade off. If the shadier route is longer, the extra distance remains visible. A route card should show the date and scope of any ground check. Starting navigation may require location permission, but browsing does not need to reveal a personal walking history. After the walk, a person can report a changed condition. The interface is a concept at this stage. Its presence in a presentation does not establish that the application is complete. Marat will now explain the product and its data requirements.</a:t>
            </a:r>
          </a:p>
          <a:p/>
          <a:p>
            <a:r>
              <a:t>Подсказка</a:t>
            </a:r>
          </a:p>
          <a:p>
            <a:r>
              <a:t>Показать последовательность действий и честный статус макета.</a:t>
            </a:r>
          </a:p>
          <a:p/>
          <a:p>
            <a:r>
              <a:t>Timing 100 seconds</a:t>
            </a:r>
          </a:p>
          <a:p/>
          <a:p>
            <a:r>
              <a:t>Citations SOYA_MODEL</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Ergashev Marat · CTO</a:t>
            </a:r>
          </a:p>
          <a:p/>
          <a:p>
            <a:r>
              <a:t>A building can shade one side of a street and leave another side exposed. As solar position changes, the useful path may change too. This example keeps the street geometry fixed so that the effect of time is easier to see. A working system would need location, date, time, building geometry and dependable height data. Our proposed limit is no more than twenty percent additional distance for a route offered in that constrained mode. A warning alone would not enforce the limit. If the inputs are missing, the system should show uncertainty. The demonstrated states illustrate the intended logic. They do not prove a measured reduction in sunlight on a real Tashkent walk.</a:t>
            </a:r>
          </a:p>
          <a:p/>
          <a:p>
            <a:r>
              <a:t>Подсказка</a:t>
            </a:r>
          </a:p>
          <a:p>
            <a:r>
              <a:t>Объяснить влияние времени и высот. Не выдавать плавное движение тени за доказанный полевой результат.</a:t>
            </a:r>
          </a:p>
          <a:p/>
          <a:p>
            <a:r>
              <a:t>Timing 110 seconds</a:t>
            </a:r>
          </a:p>
          <a:p/>
          <a:p>
            <a:r>
              <a:t>Citations P01, P08, SOYA_MODEL</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Ergashev Marat · CTO</a:t>
            </a:r>
          </a:p>
          <a:p/>
          <a:p>
            <a:r>
              <a:t>The data pipeline starts with a legal question and a quality question. Overture documentation states that its Buildings theme is published under ODbL. GlobalBuildingAtlas distinguishes open footprint products from height products with noncommercial licence restrictions. Choosing an appropriate source is necessary, but it does not prove that every building in the pilot has an accurate height. Those inputs need an audit. PMTiles can help distribute map tiles, but the format alone does not guarantee a particular file size or loading time. Our release checks should test geometry, unknown data, detour rules, duplicate reports and advertising capacity. These are planned controls. We must not describe them as passed tests before implementation.</a:t>
            </a:r>
          </a:p>
          <a:p/>
          <a:p>
            <a:r>
              <a:t>Подсказка</a:t>
            </a:r>
          </a:p>
          <a:p>
            <a:r>
              <a:t>Различать право использования данных и точность. Все проверки пока запланированы.</a:t>
            </a:r>
          </a:p>
          <a:p/>
          <a:p>
            <a:r>
              <a:t>Timing 70 seconds</a:t>
            </a:r>
          </a:p>
          <a:p/>
          <a:p>
            <a:r>
              <a:t>Citations P01, P02, P04, P05, P06, P07</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Ergashev Marat · CTO</a:t>
            </a:r>
          </a:p>
          <a:p/>
          <a:p>
            <a:r>
              <a:t>The free service must be useful enough to support participation. Route discovery, contributions and basic access reports should not disappear behind a paywall. Otherwise the platform could lose the information that makes it valuable. Plus is designed around additional convenience, including planning a later departure and combining preferences. The proposed monthly price is thirty eight thousand four hundred and fifty sums. That is a business assumption, not a tested willingness to pay. The payment channel also needs checking against current platform rules. We would track the path from viewing a paid feature to purchasing it and renewing. A large free audience alone does not prove a sustainable subscription business.</a:t>
            </a:r>
          </a:p>
          <a:p/>
          <a:p>
            <a:r>
              <a:t>Подсказка</a:t>
            </a:r>
          </a:p>
          <a:p>
            <a:r>
              <a:t>Показать понятную разницу бесплатной основы и платного удобства. Цена остается гипотезой.</a:t>
            </a:r>
          </a:p>
          <a:p/>
          <a:p>
            <a:r>
              <a:t>Timing 60 seconds</a:t>
            </a:r>
          </a:p>
          <a:p/>
          <a:p>
            <a:r>
              <a:t>Citations SOYA_MODEL</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Ergashev Marat · CTO</a:t>
            </a:r>
          </a:p>
          <a:p/>
          <a:p>
            <a:r>
              <a:t>Community information needs incentives, but an incentive should not make a report look more reliable than it is. We separate permanent reputation from points that can be spent. In the proposed scheme, a route creator receives five points for a verified upvote. One hundred points provide three days of Plus, with a monthly limit of six days. The limit controls the scale of rewards. It does not eliminate moderation work or the possibility of replacing a paid subscription. Duplicate votes and copied routes need review. A person who reports a broken ramp must not lose a reward because the report is negative. Accuracy should matter more than promotional activity.</a:t>
            </a:r>
          </a:p>
          <a:p/>
          <a:p>
            <a:r>
              <a:t>Подсказка</a:t>
            </a:r>
          </a:p>
          <a:p>
            <a:r>
              <a:t>Объяснить две системы и защиту честных отрицательных отзывов.</a:t>
            </a:r>
          </a:p>
          <a:p/>
          <a:p>
            <a:r>
              <a:t>Timing 60 seconds</a:t>
            </a:r>
          </a:p>
          <a:p/>
          <a:p>
            <a:r>
              <a:t>Citations SOYA_MODEL, FERRELL2019</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Ergashev Marat · CTO</a:t>
            </a:r>
          </a:p>
          <a:p/>
          <a:p>
            <a:r>
              <a:t>Cafe advertising is intended to be relevant to a nearby walk. The proposed package costs six hundred thousand sums for three thousand clearly marked impressions. The cafe does not buy an undisclosed change to the route. A person would choose whether to add the stop. The model gives Soya a contribution of four hundred and ninety nine thousand sums after its assumed costs and reserves. That is not guaranteed profit for every transaction. The cafe example needs twenty additional guests only if each brings thirty thousand sums of margin. We must measure additional visits rather than count everyone who would have arrived anyway. Clear labelling and voluntary choice protect the user relationship.</a:t>
            </a:r>
          </a:p>
          <a:p/>
          <a:p>
            <a:r>
              <a:t>Подсказка</a:t>
            </a:r>
          </a:p>
          <a:p>
            <a:r>
              <a:t>Объяснить пакет кафе и условность двадцати новых гостей. Маршрут меняется только после выбора.</a:t>
            </a:r>
          </a:p>
          <a:p/>
          <a:p>
            <a:r>
              <a:t>Timing 65 seconds</a:t>
            </a:r>
          </a:p>
          <a:p/>
          <a:p>
            <a:r>
              <a:t>Citations SOYA_MODEL, FERRELL2019</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Ergashev Marat · CTO</a:t>
            </a:r>
          </a:p>
          <a:p/>
          <a:p>
            <a:r>
              <a:t>The original model includes a city market estimate based on six hundred and fifty thousand regular walkers and fifteen hundred suitable venues. These are planning inputs rather than independently established counts in the supplied material. Applying a five percent subscription assumption and the proposed cafe price gives an illustrative annual city envelope of about twenty five point eight billion sums. That calculation is not proof of demand. Our pilot covers only part of the city, and the addressable audience inside that corridor needs a separate estimate. The first year revenue model is built from monthly users, paid conversion and campaign months. We would replace uncertain inputs with survey, observation and sales evidence before committing to expansion. Sharifjon will now explain how the service would operate responsibly.</a:t>
            </a:r>
          </a:p>
          <a:p/>
          <a:p>
            <a:r>
              <a:t>Подсказка</a:t>
            </a:r>
          </a:p>
          <a:p>
            <a:r>
              <a:t>Отделить расчет рынка от доказанного спроса. Исходные числа города обозначить как допущения.</a:t>
            </a:r>
          </a:p>
          <a:p/>
          <a:p>
            <a:r>
              <a:t>Timing 55 seconds</a:t>
            </a:r>
          </a:p>
          <a:p/>
          <a:p>
            <a:r>
              <a:t>Citations SOYA_MODEL</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Sharifjon Saidov · COO</a:t>
            </a:r>
          </a:p>
          <a:p/>
          <a:p>
            <a:r>
              <a:t>Our marketing mix starts with the product experience. Promotion cannot compensate for an empty map or unreliable routes. We plan to prepare useful starter walks and invite people through relevant communities and shared route choices. The model assumes one thousand sums per activation and seventy five percent monthly user retention. Both values need testing. A person opening a shared link is not the same as a person starting a first walk. We would track these steps separately. If acquisition becomes more expensive, the finance lead must update the cash plan before marketing increases spending. This connects product, price, place and promotion to operating decisions rather than presenting the four terms as a checklist.</a:t>
            </a:r>
          </a:p>
          <a:p/>
          <a:p>
            <a:r>
              <a:t>Подсказка</a:t>
            </a:r>
          </a:p>
          <a:p>
            <a:r>
              <a:t>Связать 4Ps с измеряемым первым действием и не считать открытие ссылки активацией.</a:t>
            </a:r>
          </a:p>
          <a:p/>
          <a:p>
            <a:r>
              <a:t>Timing 70 seconds</a:t>
            </a:r>
          </a:p>
          <a:p/>
          <a:p>
            <a:r>
              <a:t>Citations SOYA_MODEL, BOVEE2020, FERRELL2019</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Sharifjon Saidov · COO</a:t>
            </a:r>
          </a:p>
          <a:p/>
          <a:p>
            <a:r>
              <a:t>Marketing brings attention, while sales converts a relevant need into an agreed transaction. For a subscriber, the paid feature and price should be clear before checkout. For a cafe, sales must establish that the venue is close to suitable walks and that the platform has enough available impressions. We should not sell capacity that does not exist. After delivery, the cafe receives a report using a consistent definition of an impression. Complaints and refunds feed back into the offer. The current fee and tax values belong to the financial scenario. They are not confirmation that a particular checkout is permitted. Sales should validate the channel before making promises about settlement or profitability.</a:t>
            </a:r>
          </a:p>
          <a:p/>
          <a:p>
            <a:r>
              <a:t>Подсказка</a:t>
            </a:r>
          </a:p>
          <a:p>
            <a:r>
              <a:t>Разделить маркетинг и продажи. Объяснить обещания, доставку и продление.</a:t>
            </a:r>
          </a:p>
          <a:p/>
          <a:p>
            <a:r>
              <a:t>Timing 65 seconds</a:t>
            </a:r>
          </a:p>
          <a:p/>
          <a:p>
            <a:r>
              <a:t>Citations SOYA_MODEL, BOVEE2020</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Sharifjon Saidov · COO</a:t>
            </a:r>
          </a:p>
          <a:p/>
          <a:p>
            <a:r>
              <a:t>Soya interacts with society through the information it collects and the routes it recommends. We propose location use with permission and a clear separation between navigation and a public walking history. Access information must include its date and limits. A route labelled as checked is not a medical or safety guarantee. Paid cafe content should remain visible as advertising, with a voluntary decision to add a stop. Honest reports about closed passages or damaged ramps need protection, even when they are inconvenient for a partner. The environmental benefit also needs measurement. More pleasant walking may be useful, but we should not claim a specific emissions reduction without evidence of changed travel behaviour.</a:t>
            </a:r>
          </a:p>
          <a:p/>
          <a:p>
            <a:r>
              <a:t>Подсказка</a:t>
            </a:r>
          </a:p>
          <a:p>
            <a:r>
              <a:t>Закрыть LO1 через конкретные обязанности и ограничения, а не общие обещания.</a:t>
            </a:r>
          </a:p>
          <a:p/>
          <a:p>
            <a:r>
              <a:t>Timing 75 seconds</a:t>
            </a:r>
          </a:p>
          <a:p/>
          <a:p>
            <a:r>
              <a:t>Citations SOYA_MODEL, FERRELL2019, WETHERLY2018</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Sharifjon Saidov · COO</a:t>
            </a:r>
          </a:p>
          <a:p/>
          <a:p>
            <a:r>
              <a:t>Our leadership approach is participative because the business depends on different kinds of expertise. A frontend specialist, a moderator and a data specialist may identify different weaknesses in the same route. Their challenge should be welcomed before release. Participation does not mean that responsibility disappears. Each decision and budget line needs one accountable owner. Technical quality and data rights should have explicit stop conditions that commercial pressure cannot override. Weekly reviews would record decisions and unresolved issues. Monthly reviews would compare spending, retention and route quality with the plan. This approach supports a culture that values evidence and dependable service. It also makes disagreement useful rather than treating it as a personal conflict.</a:t>
            </a:r>
          </a:p>
          <a:p/>
          <a:p>
            <a:r>
              <a:t>Подсказка</a:t>
            </a:r>
          </a:p>
          <a:p>
            <a:r>
              <a:t>Объяснить подход к лидерству и его связь с культурой и рисками продукта.</a:t>
            </a:r>
          </a:p>
          <a:p/>
          <a:p>
            <a:r>
              <a:t>Timing 75 seconds</a:t>
            </a:r>
          </a:p>
          <a:p/>
          <a:p>
            <a:r>
              <a:t>Citations GRIFFIN2020, SOYA_MODEL</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Sharifjon Saidov · COO</a:t>
            </a:r>
          </a:p>
          <a:p/>
          <a:p>
            <a:r>
              <a:t>The operating plan uses a small group of specialist roles rather than a large executive structure. The monthly budget allocates ten million sums to the technology lead, six million to frontend work and testing, three million to product and commercial work, three million to moderation and one million to administration. Hosting adds two million. The total fixed monthly budget is twenty five million sums. Hosting is not a salary or a person, so it is shown separately. These are budget assumptions, not confirmed hires or market salary evidence. Human resources must check the actual workload, contracts, backup coverage and development needs. A low budget only works if the required responsibilities can genuinely be delivered.</a:t>
            </a:r>
          </a:p>
          <a:p/>
          <a:p>
            <a:r>
              <a:t>Подсказка</a:t>
            </a:r>
          </a:p>
          <a:p>
            <a:r>
              <a:t>Показать бюджет 25 млн и не называть инфраструктуру сотрудником.</a:t>
            </a:r>
          </a:p>
          <a:p/>
          <a:p>
            <a:r>
              <a:t>Timing 65 seconds</a:t>
            </a:r>
          </a:p>
          <a:p/>
          <a:p>
            <a:r>
              <a:t>Citations SOYA_MODEL, GRIFFIN2020</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Sharifjon Saidov · COO</a:t>
            </a:r>
          </a:p>
          <a:p/>
          <a:p>
            <a:r>
              <a:t>The brief asks us to identify five functional areas. In Soya they form a connected operating system. Marketing brings relevant people to a first walk and measures acquisition cost. Sales manages subscriptions, cafe agreements and renewal. Finance checks whether the service can meet those promises within its cash limits. Human resources makes sure that the right skills and enough working time are available. Operations maintains data, route checks, moderation and delivery. The functions must share information. For example, sales cannot promise more advertising than operations can deliver, and marketing cannot scale spending without finance reviewing the runway. This makes the functions practical responsibilities rather than five separate job titles on an organisation chart. Lobar will now explain the financial model and funding decision.</a:t>
            </a:r>
          </a:p>
          <a:p/>
          <a:p>
            <a:r>
              <a:t>Подсказка</a:t>
            </a:r>
          </a:p>
          <a:p>
            <a:r>
              <a:t>Явно назвать все пять функций из задания и показать связи между ними.</a:t>
            </a:r>
          </a:p>
          <a:p/>
          <a:p>
            <a:r>
              <a:t>Timing 70 seconds</a:t>
            </a:r>
          </a:p>
          <a:p/>
          <a:p>
            <a:r>
              <a:t>Citations BRIEF, BOVEE2020, SOYA_MODEL</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Lobar Karimova · CFO</a:t>
            </a:r>
          </a:p>
          <a:p/>
          <a:p>
            <a:r>
              <a:t>Our targets translate the proposal into decisions with owners and dates. Before launch, operations would check the pilot data and prepare thirty starter loops. The model targets fifteen hundred monthly active users by month three. By month twelve it targets twenty five thousand active users, twelve hundred and fifty subscribers and sixteen monthly cafe campaigns. These are scenario targets rather than guaranteed forecasts. The technology lead owns release quality, the commercial lead owns acquisition and sales, and finance monitors cash. Each review must have a consequence. If route quality is poor, we narrow scope. If acquisition costs exceed the available runway, we slow expansion. A milestone is useful only when it changes what the team does next.</a:t>
            </a:r>
          </a:p>
          <a:p/>
          <a:p>
            <a:r>
              <a:t>Подсказка</a:t>
            </a:r>
          </a:p>
          <a:p>
            <a:r>
              <a:t>Подать SMART цели как управленческие решения с ответственными и остановками.</a:t>
            </a:r>
          </a:p>
          <a:p/>
          <a:p>
            <a:r>
              <a:t>Timing 50 seconds</a:t>
            </a:r>
          </a:p>
          <a:p/>
          <a:p>
            <a:r>
              <a:t>Citations SOYA_MODEL, BOVEE2020, GRIFFIN2020</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Lobar Karimova · CFO</a:t>
            </a:r>
          </a:p>
          <a:p/>
          <a:p>
            <a:r>
              <a:t>The initial preparation budget is one hundred and twenty million sums. It includes the routing engine, community administration, data work and other launch preparation. Annual operating expenses are three hundred and forty eight point five million in the scenario. Unit contribution explains how the model is funded. A free user has a small monthly shortfall after delivery costs. A paying subscriber provides a positive contribution after the assumed fees, refunds, tax reserve and variable delivery costs. That contribution is not company profit because fixed costs still remain. The relationship depends heavily on paid conversion and retention. We should therefore validate those assumptions before describing the unit model as an observed economic result.</a:t>
            </a:r>
          </a:p>
          <a:p/>
          <a:p>
            <a:r>
              <a:t>Подсказка</a:t>
            </a:r>
          </a:p>
          <a:p>
            <a:r>
              <a:t>Различать вклад пользователя и прибыль. Все расходы и комиссии остаются моделью.</a:t>
            </a:r>
          </a:p>
          <a:p/>
          <a:p>
            <a:r>
              <a:t>Timing 60 seconds</a:t>
            </a:r>
          </a:p>
          <a:p/>
          <a:p>
            <a:r>
              <a:t>Citations SOYA_MODEL</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Lobar Karimova · CFO</a:t>
            </a:r>
          </a:p>
          <a:p/>
          <a:p>
            <a:r>
              <a:t>The monthly plan grows from no users in month one to twenty five thousand active users in month twelve. Because some users leave, the annual acquisition requirement is larger than the final audience. The model needs forty eight thousand five hundred activations under its retention assumption. The subscription total is five thousand two hundred and thirty four paid months. The advertising total is seventy six campaign months, which does not necessarily mean seventy six different cafes. Multiplying those units by the proposed prices produces the annual receipts model. Keeping the units visible prevents a misleading growth story. Every value on this screen is a planning result. The original spreadsheet is still needed to audit future revisions of the model.</a:t>
            </a:r>
          </a:p>
          <a:p/>
          <a:p>
            <a:r>
              <a:t>Подсказка</a:t>
            </a:r>
          </a:p>
          <a:p>
            <a:r>
              <a:t>Не смешивать MAU, активации, месяцы подписки и месяцы рекламных пакетов.</a:t>
            </a:r>
          </a:p>
          <a:p/>
          <a:p>
            <a:r>
              <a:t>Timing 65 seconds</a:t>
            </a:r>
          </a:p>
          <a:p/>
          <a:p>
            <a:r>
              <a:t>Citations SOYA_MODEL</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Lobar Karimova · CFO</a:t>
            </a:r>
          </a:p>
          <a:p/>
          <a:p>
            <a:r>
              <a:t>The first year model has a loss, even though the final months improve. We start with revenue of about two hundred and fifty one point four million sums. After direct costs, operating expenses and the assumed tax reserve, the annual operating loss is about one hundred and ninety eight point one million. This explains why the project needs funding. The second year baseline assumes thirty thousand active users and twenty one hundred subscribers throughout the year. It produces a modelled profit of three hundred and forty eight point three million. That improvement depends on a full year at a higher operating level. It is not evidence of an already achieved growth rate, and it is not the same as cash returned to an investor.</a:t>
            </a:r>
          </a:p>
          <a:p/>
          <a:p>
            <a:r>
              <a:t>Подсказка</a:t>
            </a:r>
          </a:p>
          <a:p>
            <a:r>
              <a:t>Показать мост от выручки к убытку. Второй год является устойчивым сценарием.</a:t>
            </a:r>
          </a:p>
          <a:p/>
          <a:p>
            <a:r>
              <a:t>Timing 80 seconds</a:t>
            </a:r>
          </a:p>
          <a:p/>
          <a:p>
            <a:r>
              <a:t>Citations SOYA_MODEL</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Lobar Karimova · CFO</a:t>
            </a:r>
          </a:p>
          <a:p/>
          <a:p>
            <a:r>
              <a:t>The funding request follows the deepest accumulated gap, not only the year end operating loss. The scenario reaches a peak need of about three hundred and nineteen point nine million sums. A reserve of ten percent adds about thirty two million, giving a total ask of roughly three hundred and fifty two million. This uses a consistent base for the reserve. A positive final operating month does not erase earlier spending. If the same full ask is divided by steady second year profit, the simple payback is about twelve point one months in the baseline or eight point four under the conditional optimisation. These periods start after steady profitability. Actual investor repayment also depends on the financing agreement and distributions.</a:t>
            </a:r>
          </a:p>
          <a:p/>
          <a:p>
            <a:r>
              <a:t>Подсказка</a:t>
            </a:r>
          </a:p>
          <a:p>
            <a:r>
              <a:t>Исправить резерв и окупаемость. Отсчет идет после устойчивой прибыли, а не от дня инвестирования.</a:t>
            </a:r>
          </a:p>
          <a:p/>
          <a:p>
            <a:r>
              <a:t>Timing 105 seconds</a:t>
            </a:r>
          </a:p>
          <a:p/>
          <a:p>
            <a:r>
              <a:t>Citations SOYA_MODEL</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Lobar Karimova · CFO</a:t>
            </a:r>
          </a:p>
          <a:p/>
          <a:p>
            <a:r>
              <a:t>The proposal should end with a decision process rather than a claim that every risk is solved. First, we need dependable height and access data in the chosen corridor. Second, we need evidence that people start and repeat walks, and that some will pay for future planning. Third, payment channels, fees and tax treatment need current confirmation. Seasonal use is another open question because the value of shade changes across the year. The team must keep a real record of decisions and individual contributions, as required by the assignment. The next stage should be a controlled pilot. Expansion follows evidence of useful service and sustainable operations, rather than the appearance of a polished demonstration.</a:t>
            </a:r>
          </a:p>
          <a:p/>
          <a:p>
            <a:r>
              <a:t>Подсказка</a:t>
            </a:r>
          </a:p>
          <a:p>
            <a:r>
              <a:t>Закончить проверяемыми действиями и реальным отчетом о вкладе участников.</a:t>
            </a:r>
          </a:p>
          <a:p/>
          <a:p>
            <a:r>
              <a:t>Timing 60 seconds</a:t>
            </a:r>
          </a:p>
          <a:p/>
          <a:p>
            <a:r>
              <a:t>Citations BRIEF, SOYA_MODEL</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All four team members · Questions and discussion</a:t>
            </a:r>
          </a:p>
          <a:p/>
          <a:p>
            <a:r>
              <a:t>Thank you. Soya proposes a focused walking service with a free core, paid planning and clearly marked cafe campaigns. The pilot must test route quality, repeated use and willingness to pay. Use the topic buttons to open completed answers about the product, data, management and financial model. Return to this menu after each answer. Share questions with the member responsible for that area. Distinguish a sourced technical fact from a scenario assumption.</a:t>
            </a:r>
          </a:p>
          <a:p/>
          <a:p>
            <a:r>
              <a:t>Подсказка</a:t>
            </a:r>
          </a:p>
          <a:p>
            <a:r>
              <a:t>Использовать меню для завершенных ответов и возвращаться на экран вопросов.</a:t>
            </a:r>
          </a:p>
          <a:p/>
          <a:p>
            <a:r>
              <a:t>Timing 120 seconds</a:t>
            </a:r>
          </a:p>
          <a:p/>
          <a:p>
            <a:r>
              <a:t>Citations SOYA_MODEL, BRIEF</a:t>
            </a:r>
          </a:p>
          <a:p>
            <a:r>
              <a:t>All business targets are planning assumptions. Refer to evidence slides for definitions and primary sources.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Technical presenter</a:t>
            </a:r>
          </a:p>
          <a:p/>
          <a:p>
            <a:r>
              <a:t>Use the time buttons to compare prepared illustrative states. The routes are concept geometry. No surveyed street positions or measured shade percentage are claimed. Return to the product explanation or the questions menu.</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Technical presenter</a:t>
            </a:r>
          </a:p>
          <a:p/>
          <a:p>
            <a:r>
              <a:t>Use the time buttons to compare prepared illustrative states. The routes are concept geometry. No surveyed street positions or measured shade percentage are claimed. Return to the product explanation or the questions menu.</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Technical presenter</a:t>
            </a:r>
          </a:p>
          <a:p/>
          <a:p>
            <a:r>
              <a:t>Use the time buttons to compare prepared illustrative states. The routes are concept geometry. No surveyed street positions or measured shade percentage are claimed. Return to the product explanation or the questions menu.</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Ergashev Marat · CTO</a:t>
            </a:r>
          </a:p>
          <a:p/>
          <a:p>
            <a:r>
              <a:t>This short clip is a prepared illustrative model. It does not show a completed field pilot. Click the embedded video to play. It can be paused for explanation. The static map states remain available if media playback is unavailable. Return to the product slide after the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Group</a:t>
            </a:r>
          </a:p>
          <a:p/>
          <a:p>
            <a:r>
              <a:t>References and production record</a:t>
            </a:r>
          </a:p>
          <a:p/>
          <a:p>
            <a:r>
              <a:t>Coventry University Group and UDEA  Student Assignment Brief · Introduction to Business and Management · UDEZ01AF · CW2 Group Presentation</a:t>
            </a:r>
          </a:p>
          <a:p>
            <a:r>
              <a:t>Supplied Soya presentation 2026 Soya CW2 Business Plan v3</a:t>
            </a:r>
          </a:p>
          <a:p>
            <a:r>
              <a:t>Bovée C L and Thill J V 2020 Business in Action</a:t>
            </a:r>
          </a:p>
          <a:p>
            <a:r>
              <a:t>Ferrell O C, Hirt G and Ferrell L 2019 Business Foundations · A Changing World</a:t>
            </a:r>
          </a:p>
          <a:p>
            <a:r>
              <a:t>Griffin R W 2020 Fundamentals of Management</a:t>
            </a:r>
          </a:p>
          <a:p>
            <a:r>
              <a:t>Wetherly P and Otter D 2018 The Business Environment · Themes and Issues</a:t>
            </a:r>
          </a:p>
          <a:p>
            <a:r>
              <a:t>Skripak S 2016 Fundamentals of Business</a:t>
            </a:r>
          </a:p>
          <a:p>
            <a:r>
              <a:t>Overture Buildings Guide https://github.com/OvertureMaps/docs/blob/462eee064e7741e14fe95bbcf385f52082985b7f/docs/guides/buildings/index.mdx</a:t>
            </a:r>
          </a:p>
          <a:p>
            <a:r>
              <a:t>Overture Attribution https://github.com/OvertureMaps/docs/blob/462eee064e7741e14fe95bbcf385f52082985b7f/docs/attribution.mdx</a:t>
            </a:r>
          </a:p>
          <a:p>
            <a:r>
              <a:t>GlobalBuildingAtlas README https://github.com/zhu-xlab/GlobalBuildingAtlas/blob/d58507e22af2bd940de5f98da7ed6763bd32147c/README.md</a:t>
            </a:r>
          </a:p>
          <a:p>
            <a:r>
              <a:t>OpenStreetMap политика растровых тайлов https://github.com/openstreetmap/owg-website/blob/master/policies/tiles.md</a:t>
            </a:r>
          </a:p>
          <a:p>
            <a:r>
              <a:t>OpenStreetMap политика векторных тайлов https://github.com/openstreetmap/owg-website/blob/master/policies/vector.md</a:t>
            </a:r>
          </a:p>
          <a:p>
            <a:r>
              <a:t>Protomaps PMTiles README https://github.com/protomaps/PMTiles/blob/main/README.md</a:t>
            </a:r>
          </a:p>
          <a:p>
            <a:r>
              <a:t>Авторский проект CoolWalks README https://raw.githubusercontent.com/henrik-wolf/CoolWalks/main/README.md</a:t>
            </a:r>
          </a:p>
          <a:p/>
          <a:p>
            <a:r>
              <a:t>AI assistance covered research, writing, calculations, visual design and generation code. The group must verify the content and record actual collaboration.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Group</a:t>
            </a:r>
          </a:p>
          <a:p/>
          <a:p>
            <a:r>
              <a:t>References and production record</a:t>
            </a:r>
          </a:p>
          <a:p/>
          <a:p>
            <a:r>
              <a:t>Coventry University Group and UDEA  Student Assignment Brief · Introduction to Business and Management · UDEZ01AF · CW2 Group Presentation</a:t>
            </a:r>
          </a:p>
          <a:p>
            <a:r>
              <a:t>Supplied Soya presentation 2026 Soya CW2 Business Plan v3</a:t>
            </a:r>
          </a:p>
          <a:p>
            <a:r>
              <a:t>Bovée C L and Thill J V 2020 Business in Action</a:t>
            </a:r>
          </a:p>
          <a:p>
            <a:r>
              <a:t>Ferrell O C, Hirt G and Ferrell L 2019 Business Foundations · A Changing World</a:t>
            </a:r>
          </a:p>
          <a:p>
            <a:r>
              <a:t>Griffin R W 2020 Fundamentals of Management</a:t>
            </a:r>
          </a:p>
          <a:p>
            <a:r>
              <a:t>Wetherly P and Otter D 2018 The Business Environment · Themes and Issues</a:t>
            </a:r>
          </a:p>
          <a:p>
            <a:r>
              <a:t>Skripak S 2016 Fundamentals of Business</a:t>
            </a:r>
          </a:p>
          <a:p>
            <a:r>
              <a:t>Overture Buildings Guide https://github.com/OvertureMaps/docs/blob/462eee064e7741e14fe95bbcf385f52082985b7f/docs/guides/buildings/index.mdx</a:t>
            </a:r>
          </a:p>
          <a:p>
            <a:r>
              <a:t>Overture Attribution https://github.com/OvertureMaps/docs/blob/462eee064e7741e14fe95bbcf385f52082985b7f/docs/attribution.mdx</a:t>
            </a:r>
          </a:p>
          <a:p>
            <a:r>
              <a:t>GlobalBuildingAtlas README https://github.com/zhu-xlab/GlobalBuildingAtlas/blob/d58507e22af2bd940de5f98da7ed6763bd32147c/README.md</a:t>
            </a:r>
          </a:p>
          <a:p>
            <a:r>
              <a:t>OpenStreetMap политика растровых тайлов https://github.com/openstreetmap/owg-website/blob/master/policies/tiles.md</a:t>
            </a:r>
          </a:p>
          <a:p>
            <a:r>
              <a:t>OpenStreetMap политика векторных тайлов https://github.com/openstreetmap/owg-website/blob/master/policies/vector.md</a:t>
            </a:r>
          </a:p>
          <a:p>
            <a:r>
              <a:t>Protomaps PMTiles README https://github.com/protomaps/PMTiles/blob/main/README.md</a:t>
            </a:r>
          </a:p>
          <a:p>
            <a:r>
              <a:t>Авторский проект CoolWalks README https://raw.githubusercontent.com/henrik-wolf/CoolWalks/main/README.md</a:t>
            </a:r>
          </a:p>
          <a:p/>
          <a:p>
            <a:r>
              <a:t>AI assistance covered research, writing, calculations, visual design and generation code. The group must verify the content and record actual collaboration.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Group</a:t>
            </a:r>
          </a:p>
          <a:p/>
          <a:p>
            <a:r>
              <a:t>References and production record</a:t>
            </a:r>
          </a:p>
          <a:p/>
          <a:p>
            <a:r>
              <a:t>Coventry University Group and UDEA  Student Assignment Brief · Introduction to Business and Management · UDEZ01AF · CW2 Group Presentation</a:t>
            </a:r>
          </a:p>
          <a:p>
            <a:r>
              <a:t>Supplied Soya presentation 2026 Soya CW2 Business Plan v3</a:t>
            </a:r>
          </a:p>
          <a:p>
            <a:r>
              <a:t>Bovée C L and Thill J V 2020 Business in Action</a:t>
            </a:r>
          </a:p>
          <a:p>
            <a:r>
              <a:t>Ferrell O C, Hirt G and Ferrell L 2019 Business Foundations · A Changing World</a:t>
            </a:r>
          </a:p>
          <a:p>
            <a:r>
              <a:t>Griffin R W 2020 Fundamentals of Management</a:t>
            </a:r>
          </a:p>
          <a:p>
            <a:r>
              <a:t>Wetherly P and Otter D 2018 The Business Environment · Themes and Issues</a:t>
            </a:r>
          </a:p>
          <a:p>
            <a:r>
              <a:t>Skripak S 2016 Fundamentals of Business</a:t>
            </a:r>
          </a:p>
          <a:p>
            <a:r>
              <a:t>Overture Buildings Guide https://github.com/OvertureMaps/docs/blob/462eee064e7741e14fe95bbcf385f52082985b7f/docs/guides/buildings/index.mdx</a:t>
            </a:r>
          </a:p>
          <a:p>
            <a:r>
              <a:t>Overture Attribution https://github.com/OvertureMaps/docs/blob/462eee064e7741e14fe95bbcf385f52082985b7f/docs/attribution.mdx</a:t>
            </a:r>
          </a:p>
          <a:p>
            <a:r>
              <a:t>GlobalBuildingAtlas README https://github.com/zhu-xlab/GlobalBuildingAtlas/blob/d58507e22af2bd940de5f98da7ed6763bd32147c/README.md</a:t>
            </a:r>
          </a:p>
          <a:p>
            <a:r>
              <a:t>OpenStreetMap политика растровых тайлов https://github.com/openstreetmap/owg-website/blob/master/policies/tiles.md</a:t>
            </a:r>
          </a:p>
          <a:p>
            <a:r>
              <a:t>OpenStreetMap политика векторных тайлов https://github.com/openstreetmap/owg-website/blob/master/policies/vector.md</a:t>
            </a:r>
          </a:p>
          <a:p>
            <a:r>
              <a:t>Protomaps PMTiles README https://github.com/protomaps/PMTiles/blob/main/README.md</a:t>
            </a:r>
          </a:p>
          <a:p>
            <a:r>
              <a:t>Авторский проект CoolWalks README https://raw.githubusercontent.com/henrik-wolf/CoolWalks/main/README.md</a:t>
            </a:r>
          </a:p>
          <a:p/>
          <a:p>
            <a:r>
              <a:t>AI assistance covered research, writing, calculations, visual design and generation code. The group must verify the content and record actual collaboration.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ust" preserve="1" matchingName="Soya Team Photographs">
  <p:cSld name="Soya Team Photographs">
    <p:spTree>
      <p:nvGrpSpPr>
        <p:cNvPr id="1" name=""/>
        <p:cNvGrpSpPr/>
        <p:nvPr/>
      </p:nvGrpSpPr>
      <p:grpSpPr>
        <a:xfrm>
          <a:off x="0" y="0"/>
          <a:ext cx="0" cy="0"/>
          <a:chOff x="0" y="0"/>
          <a:chExt cx="0" cy="0"/>
        </a:xfrm>
      </p:grpSpPr>
      <p:sp>
        <p:nvSpPr>
          <p:cNvPr id="2" name="Bayrambek Bakbergenov photo"/>
          <p:cNvSpPr>
            <a:spLocks noGrp="1"/>
          </p:cNvSpPr>
          <p:nvPr>
            <p:ph type="pic" idx="20"/>
          </p:nvPr>
        </p:nvSpPr>
        <p:spPr>
          <a:xfrm>
            <a:off x="594360" y="2075688"/>
            <a:ext cx="2592324" cy="2606040"/>
          </a:xfrm>
          <a:prstGeom prst="rect">
            <a:avLst/>
          </a:prstGeom>
          <a:solidFill>
            <a:srgbClr val="19271F"/>
          </a:solidFill>
          <a:ln w="19050">
            <a:solidFill>
              <a:srgbClr val="79DCAF"/>
            </a:solidFill>
            <a:prstDash val="solid"/>
          </a:ln>
        </p:spPr>
      </p:sp>
      <p:sp>
        <p:nvSpPr>
          <p:cNvPr id="3" name="Lobar Karimova photo"/>
          <p:cNvSpPr>
            <a:spLocks noGrp="1"/>
          </p:cNvSpPr>
          <p:nvPr>
            <p:ph type="pic" idx="21"/>
          </p:nvPr>
        </p:nvSpPr>
        <p:spPr>
          <a:xfrm>
            <a:off x="3387852" y="2075688"/>
            <a:ext cx="2592324" cy="2606040"/>
          </a:xfrm>
          <a:prstGeom prst="rect">
            <a:avLst/>
          </a:prstGeom>
          <a:solidFill>
            <a:srgbClr val="19271F"/>
          </a:solidFill>
          <a:ln w="19050">
            <a:solidFill>
              <a:srgbClr val="79DCAF"/>
            </a:solidFill>
            <a:prstDash val="solid"/>
          </a:ln>
        </p:spPr>
      </p:sp>
      <p:sp>
        <p:nvSpPr>
          <p:cNvPr id="4" name="Ergashev Marat photo"/>
          <p:cNvSpPr>
            <a:spLocks noGrp="1"/>
          </p:cNvSpPr>
          <p:nvPr>
            <p:ph type="pic" idx="22"/>
          </p:nvPr>
        </p:nvSpPr>
        <p:spPr>
          <a:xfrm>
            <a:off x="6181344" y="2075688"/>
            <a:ext cx="2592324" cy="2606040"/>
          </a:xfrm>
          <a:prstGeom prst="rect">
            <a:avLst/>
          </a:prstGeom>
          <a:solidFill>
            <a:srgbClr val="19271F"/>
          </a:solidFill>
          <a:ln w="19050">
            <a:solidFill>
              <a:srgbClr val="79DCAF"/>
            </a:solidFill>
            <a:prstDash val="solid"/>
          </a:ln>
        </p:spPr>
      </p:sp>
      <p:sp>
        <p:nvSpPr>
          <p:cNvPr id="5" name="Sharifjon Saidov photo"/>
          <p:cNvSpPr>
            <a:spLocks noGrp="1"/>
          </p:cNvSpPr>
          <p:nvPr>
            <p:ph type="pic" idx="23"/>
          </p:nvPr>
        </p:nvSpPr>
        <p:spPr>
          <a:xfrm>
            <a:off x="8974836" y="2075688"/>
            <a:ext cx="2592324" cy="2606040"/>
          </a:xfrm>
          <a:prstGeom prst="rect">
            <a:avLst/>
          </a:prstGeom>
          <a:solidFill>
            <a:srgbClr val="19271F"/>
          </a:solidFill>
          <a:ln w="19050">
            <a:solidFill>
              <a:srgbClr val="79DCAF"/>
            </a:solidFill>
            <a:prstDash val="solid"/>
          </a:ln>
        </p:spPr>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slide" Target="slide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slide38.xml"/><Relationship Id="rId4" Type="http://schemas.openxmlformats.org/officeDocument/2006/relationships/slide" Target="slide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slide" Target="slide40.xml"/><Relationship Id="rId4" Type="http://schemas.openxmlformats.org/officeDocument/2006/relationships/slide" Target="slide38.xml"/><Relationship Id="rId5" Type="http://schemas.openxmlformats.org/officeDocument/2006/relationships/slide" Target="slide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slide" Target="slide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slide" Target="slide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slide" Target="slide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slide" Target="slide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slide" Target="slide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slide" Target="slide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slide" Target="slide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slide" Target="slide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slide" Target="slide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slide" Target="slide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2.xml"/><Relationship Id="rId4" Type="http://schemas.openxmlformats.org/officeDocument/2006/relationships/slide" Target="slide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slide" Target="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24.xml"/><Relationship Id="rId5" Type="http://schemas.openxmlformats.org/officeDocument/2006/relationships/slide" Target="slide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slide" Target="slide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slide" Target="slide38.xml"/><Relationship Id="rId4" Type="http://schemas.openxmlformats.org/officeDocument/2006/relationships/slide" Target="slide33.xml"/><Relationship Id="rId5" Type="http://schemas.openxmlformats.org/officeDocument/2006/relationships/slide" Target="slide35.xml"/><Relationship Id="rId6" Type="http://schemas.openxmlformats.org/officeDocument/2006/relationships/slide" Target="slide34.xml"/><Relationship Id="rId7" Type="http://schemas.openxmlformats.org/officeDocument/2006/relationships/slide" Target="slide32.xml"/><Relationship Id="rId8" Type="http://schemas.openxmlformats.org/officeDocument/2006/relationships/slide" Target="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6.xml"/><Relationship Id="rId3" Type="http://schemas.openxmlformats.org/officeDocument/2006/relationships/slide" Target="slide28.xml"/><Relationship Id="rId4" Type="http://schemas.openxmlformats.org/officeDocument/2006/relationships/slide" Target="slide29.xml"/><Relationship Id="rId5" Type="http://schemas.openxmlformats.org/officeDocument/2006/relationships/notesSlide" Target="../notesSlides/notesSlide3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6.xml"/><Relationship Id="rId3" Type="http://schemas.openxmlformats.org/officeDocument/2006/relationships/notesSlide" Target="../notesSlides/notes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OvertureMaps/docs/blob/462eee064e7741e14fe95bbcf385f52082985b7f/docs/guides/buildings/index.mdx" TargetMode="External"/><Relationship Id="rId3" Type="http://schemas.openxmlformats.org/officeDocument/2006/relationships/hyperlink" Target="https://github.com/OvertureMaps/docs/blob/462eee064e7741e14fe95bbcf385f52082985b7f/docs/attribution.mdx" TargetMode="External"/><Relationship Id="rId4" Type="http://schemas.openxmlformats.org/officeDocument/2006/relationships/hyperlink" Target="https://github.com/zhu-xlab/GlobalBuildingAtlas/blob/d58507e22af2bd940de5f98da7ed6763bd32147c/README.md" TargetMode="External"/><Relationship Id="rId5" Type="http://schemas.openxmlformats.org/officeDocument/2006/relationships/hyperlink" Target="https://github.com/openstreetmap/owg-website/blob/master/policies/tiles.md" TargetMode="External"/><Relationship Id="rId6" Type="http://schemas.openxmlformats.org/officeDocument/2006/relationships/hyperlink" Target="https://github.com/openstreetmap/owg-website/blob/master/policies/vector.md" TargetMode="External"/><Relationship Id="rId7" Type="http://schemas.openxmlformats.org/officeDocument/2006/relationships/hyperlink" Target="https://github.com/protomaps/PMTiles/blob/main/README.md" TargetMode="External"/><Relationship Id="rId8" Type="http://schemas.openxmlformats.org/officeDocument/2006/relationships/hyperlink" Target="https://raw.githubusercontent.com/henrik-wolf/CoolWalks/main/README.md" TargetMode="External"/><Relationship Id="rId9" Type="http://schemas.openxmlformats.org/officeDocument/2006/relationships/slide" Target="slide26.xml"/><Relationship Id="rId10" Type="http://schemas.openxmlformats.org/officeDocument/2006/relationships/notesSlide" Target="../notesSlides/notes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6.xml"/><Relationship Id="rId3" Type="http://schemas.openxmlformats.org/officeDocument/2006/relationships/slide" Target="slide3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slide" Target="slide26.xml"/><Relationship Id="rId4" Type="http://schemas.openxmlformats.org/officeDocument/2006/relationships/slide" Target="slide37.xml"/><Relationship Id="rId5" Type="http://schemas.openxmlformats.org/officeDocument/2006/relationships/slide" Target="slide38.xml"/><Relationship Id="rId6" Type="http://schemas.openxmlformats.org/officeDocument/2006/relationships/slide" Target="slide39.xml"/><Relationship Id="rId7" Type="http://schemas.openxmlformats.org/officeDocument/2006/relationships/slide" Target="slide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slide" Target="slide26.xml"/><Relationship Id="rId4" Type="http://schemas.openxmlformats.org/officeDocument/2006/relationships/slide" Target="slide37.xml"/><Relationship Id="rId5" Type="http://schemas.openxmlformats.org/officeDocument/2006/relationships/slide" Target="slide38.xml"/><Relationship Id="rId6" Type="http://schemas.openxmlformats.org/officeDocument/2006/relationships/slide" Target="slide39.xml"/><Relationship Id="rId7" Type="http://schemas.openxmlformats.org/officeDocument/2006/relationships/slide" Target="slide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slide" Target="slide26.xml"/><Relationship Id="rId4" Type="http://schemas.openxmlformats.org/officeDocument/2006/relationships/slide" Target="slide37.xml"/><Relationship Id="rId5" Type="http://schemas.openxmlformats.org/officeDocument/2006/relationships/slide" Target="slide38.xml"/><Relationship Id="rId6" Type="http://schemas.openxmlformats.org/officeDocument/2006/relationships/slide" Target="slide39.xml"/><Relationship Id="rId7" Type="http://schemas.openxmlformats.org/officeDocument/2006/relationships/slide" Target="slide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30.xml"/><Relationship Id="rId6" Type="http://schemas.openxmlformats.org/officeDocument/2006/relationships/slide" Target="slide26.xml"/><Relationship Id="rId7" Type="http://schemas.openxmlformats.org/officeDocument/2006/relationships/slide" Target="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BUSINESS</a:t>
            </a:r>
          </a:p>
        </p:txBody>
      </p:sp>
      <p:cxnSp>
        <p:nvCxnSpPr>
          <p:cNvPr id="3"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4"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5"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01</a:t>
            </a:r>
          </a:p>
        </p:txBody>
      </p:sp>
      <p:sp>
        <p:nvSpPr>
          <p:cNvPr id="6" name="Soya wordmark"/>
          <p:cNvSpPr txBox="1"/>
          <p:nvPr/>
        </p:nvSpPr>
        <p:spPr>
          <a:xfrm>
            <a:off x="640080" y="960120"/>
            <a:ext cx="7223760" cy="914400"/>
          </a:xfrm>
          <a:prstGeom prst="rect">
            <a:avLst/>
          </a:prstGeom>
          <a:noFill/>
        </p:spPr>
        <p:txBody>
          <a:bodyPr wrap="square" lIns="13716" rIns="13716" tIns="13716" bIns="13716" anchor="t">
            <a:spAutoFit/>
          </a:bodyPr>
          <a:lstStyle/>
          <a:p>
            <a:pPr algn="l">
              <a:lnSpc>
                <a:spcPct val="108000"/>
              </a:lnSpc>
              <a:spcAft>
                <a:spcPts val="300"/>
              </a:spcAft>
              <a:defRPr sz="7200" b="1">
                <a:solidFill>
                  <a:srgbClr val="F2F5EE"/>
                </a:solidFill>
                <a:latin typeface="Arial"/>
              </a:defRPr>
            </a:pPr>
            <a:r>
              <a:t>SOYA</a:t>
            </a:r>
          </a:p>
        </p:txBody>
      </p:sp>
      <p:sp>
        <p:nvSpPr>
          <p:cNvPr id="7" name="Text 6"/>
          <p:cNvSpPr txBox="1"/>
          <p:nvPr/>
        </p:nvSpPr>
        <p:spPr>
          <a:xfrm>
            <a:off x="676656" y="2176272"/>
            <a:ext cx="7040880" cy="1143000"/>
          </a:xfrm>
          <a:prstGeom prst="rect">
            <a:avLst/>
          </a:prstGeom>
          <a:noFill/>
        </p:spPr>
        <p:txBody>
          <a:bodyPr wrap="square" lIns="13716" rIns="13716" tIns="13716" bIns="13716" anchor="t">
            <a:spAutoFit/>
          </a:bodyPr>
          <a:lstStyle/>
          <a:p>
            <a:pPr algn="l">
              <a:lnSpc>
                <a:spcPct val="108000"/>
              </a:lnSpc>
              <a:spcAft>
                <a:spcPts val="300"/>
              </a:spcAft>
              <a:defRPr sz="3400" b="1">
                <a:solidFill>
                  <a:srgbClr val="79DCAF"/>
                </a:solidFill>
                <a:latin typeface="Arial"/>
              </a:defRPr>
            </a:pPr>
            <a:r>
              <a:t>A better route</a:t>
            </a:r>
          </a:p>
          <a:p>
            <a:pPr algn="l">
              <a:lnSpc>
                <a:spcPct val="108000"/>
              </a:lnSpc>
              <a:spcAft>
                <a:spcPts val="300"/>
              </a:spcAft>
              <a:defRPr sz="3400" b="1">
                <a:solidFill>
                  <a:srgbClr val="79DCAF"/>
                </a:solidFill>
                <a:latin typeface="Arial"/>
              </a:defRPr>
            </a:pPr>
            <a:r>
              <a:t>through the city</a:t>
            </a:r>
          </a:p>
        </p:txBody>
      </p:sp>
      <p:sp>
        <p:nvSpPr>
          <p:cNvPr id="8" name="Text 7"/>
          <p:cNvSpPr txBox="1"/>
          <p:nvPr/>
        </p:nvSpPr>
        <p:spPr>
          <a:xfrm>
            <a:off x="694944" y="3666744"/>
            <a:ext cx="6583680" cy="640080"/>
          </a:xfrm>
          <a:prstGeom prst="rect">
            <a:avLst/>
          </a:prstGeom>
          <a:noFill/>
        </p:spPr>
        <p:txBody>
          <a:bodyPr wrap="square" lIns="13716" rIns="13716" tIns="13716" bIns="13716" anchor="t">
            <a:spAutoFit/>
          </a:bodyPr>
          <a:lstStyle/>
          <a:p>
            <a:pPr algn="l">
              <a:lnSpc>
                <a:spcPct val="108000"/>
              </a:lnSpc>
              <a:spcAft>
                <a:spcPts val="300"/>
              </a:spcAft>
              <a:defRPr sz="2200" b="0">
                <a:solidFill>
                  <a:srgbClr val="A8B8AC"/>
                </a:solidFill>
                <a:latin typeface="Arial"/>
              </a:defRPr>
            </a:pPr>
            <a:r>
              <a:t>Shade aware walking and local discovery</a:t>
            </a:r>
          </a:p>
          <a:p>
            <a:pPr algn="l">
              <a:lnSpc>
                <a:spcPct val="108000"/>
              </a:lnSpc>
              <a:spcAft>
                <a:spcPts val="300"/>
              </a:spcAft>
              <a:defRPr sz="2200" b="0">
                <a:solidFill>
                  <a:srgbClr val="A8B8AC"/>
                </a:solidFill>
                <a:latin typeface="Arial"/>
              </a:defRPr>
            </a:pPr>
            <a:r>
              <a:t>Proposed pilot in central Tashkent</a:t>
            </a:r>
          </a:p>
        </p:txBody>
      </p:sp>
      <p:sp>
        <p:nvSpPr>
          <p:cNvPr id="9" name="Panel 8"/>
          <p:cNvSpPr/>
          <p:nvPr/>
        </p:nvSpPr>
        <p:spPr>
          <a:xfrm>
            <a:off x="694944" y="4828032"/>
            <a:ext cx="2441448" cy="292608"/>
          </a:xfrm>
          <a:prstGeom prst="roundRect">
            <a:avLst>
              <a:gd name="adj" fmla="val 9000"/>
            </a:avLst>
          </a:prstGeom>
          <a:solidFill>
            <a:srgbClr val="22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9"/>
          <p:cNvSpPr txBox="1"/>
          <p:nvPr/>
        </p:nvSpPr>
        <p:spPr>
          <a:xfrm>
            <a:off x="786384" y="4864608"/>
            <a:ext cx="2258568" cy="219456"/>
          </a:xfrm>
          <a:prstGeom prst="rect">
            <a:avLst/>
          </a:prstGeom>
          <a:noFill/>
        </p:spPr>
        <p:txBody>
          <a:bodyPr wrap="square" lIns="13716" rIns="13716" tIns="13716" bIns="13716" anchor="t">
            <a:spAutoFit/>
          </a:bodyPr>
          <a:lstStyle/>
          <a:p>
            <a:pPr algn="l">
              <a:lnSpc>
                <a:spcPct val="108000"/>
              </a:lnSpc>
              <a:spcAft>
                <a:spcPts val="300"/>
              </a:spcAft>
              <a:defRPr sz="1200" b="1">
                <a:solidFill>
                  <a:srgbClr val="79DCAF"/>
                </a:solidFill>
                <a:latin typeface="Arial"/>
              </a:defRPr>
            </a:pPr>
            <a:r>
              <a:t>BUSINESS PLAN</a:t>
            </a:r>
          </a:p>
        </p:txBody>
      </p:sp>
      <p:sp>
        <p:nvSpPr>
          <p:cNvPr id="11" name="Panel 10"/>
          <p:cNvSpPr/>
          <p:nvPr/>
        </p:nvSpPr>
        <p:spPr>
          <a:xfrm>
            <a:off x="3291840" y="4828032"/>
            <a:ext cx="1965960" cy="292608"/>
          </a:xfrm>
          <a:prstGeom prst="roundRect">
            <a:avLst>
              <a:gd name="adj" fmla="val 9000"/>
            </a:avLst>
          </a:prstGeom>
          <a:solidFill>
            <a:srgbClr val="22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3383280" y="4864608"/>
            <a:ext cx="1783080" cy="219456"/>
          </a:xfrm>
          <a:prstGeom prst="rect">
            <a:avLst/>
          </a:prstGeom>
          <a:noFill/>
        </p:spPr>
        <p:txBody>
          <a:bodyPr wrap="square" lIns="13716" rIns="13716" tIns="13716" bIns="13716" anchor="t">
            <a:spAutoFit/>
          </a:bodyPr>
          <a:lstStyle/>
          <a:p>
            <a:pPr algn="l">
              <a:lnSpc>
                <a:spcPct val="108000"/>
              </a:lnSpc>
              <a:spcAft>
                <a:spcPts val="300"/>
              </a:spcAft>
              <a:defRPr sz="1200" b="1">
                <a:solidFill>
                  <a:srgbClr val="79DCAF"/>
                </a:solidFill>
                <a:latin typeface="Arial"/>
              </a:defRPr>
            </a:pPr>
            <a:r>
              <a:t>30 MINUTES</a:t>
            </a:r>
          </a:p>
        </p:txBody>
      </p:sp>
      <p:sp>
        <p:nvSpPr>
          <p:cNvPr id="13" name="Text 12"/>
          <p:cNvSpPr txBox="1"/>
          <p:nvPr/>
        </p:nvSpPr>
        <p:spPr>
          <a:xfrm>
            <a:off x="694944" y="5513832"/>
            <a:ext cx="6858000" cy="548640"/>
          </a:xfrm>
          <a:prstGeom prst="rect">
            <a:avLst/>
          </a:prstGeom>
          <a:noFill/>
        </p:spPr>
        <p:txBody>
          <a:bodyPr wrap="square" lIns="13716" rIns="13716" tIns="13716" bIns="13716" anchor="t">
            <a:spAutoFit/>
          </a:bodyPr>
          <a:lstStyle/>
          <a:p>
            <a:pPr algn="l">
              <a:lnSpc>
                <a:spcPct val="108000"/>
              </a:lnSpc>
              <a:spcAft>
                <a:spcPts val="300"/>
              </a:spcAft>
              <a:defRPr sz="1600" b="0">
                <a:solidFill>
                  <a:srgbClr val="F2F5EE"/>
                </a:solidFill>
                <a:latin typeface="Arial"/>
              </a:defRPr>
            </a:pPr>
            <a:r>
              <a:t>Introduction to Business and Management</a:t>
            </a:r>
          </a:p>
          <a:p>
            <a:pPr algn="l">
              <a:lnSpc>
                <a:spcPct val="108000"/>
              </a:lnSpc>
              <a:spcAft>
                <a:spcPts val="300"/>
              </a:spcAft>
              <a:defRPr sz="1600" b="0">
                <a:solidFill>
                  <a:srgbClr val="F2F5EE"/>
                </a:solidFill>
                <a:latin typeface="Arial"/>
              </a:defRPr>
            </a:pPr>
            <a:r>
              <a:t>UDEZ01AF · CW2 Group Presentation</a:t>
            </a:r>
          </a:p>
        </p:txBody>
      </p:sp>
      <p:sp>
        <p:nvSpPr>
          <p:cNvPr id="14" name="Panel 13"/>
          <p:cNvSpPr/>
          <p:nvPr/>
        </p:nvSpPr>
        <p:spPr>
          <a:xfrm>
            <a:off x="8275320" y="978408"/>
            <a:ext cx="3246120" cy="513892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8513064" y="1243584"/>
            <a:ext cx="2743200" cy="34747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79DCAF"/>
                </a:solidFill>
                <a:latin typeface="Arial"/>
              </a:defRPr>
            </a:pPr>
            <a:r>
              <a:t>THE PROJECT TEAM</a:t>
            </a:r>
          </a:p>
        </p:txBody>
      </p:sp>
      <p:sp>
        <p:nvSpPr>
          <p:cNvPr id="16" name="Text 15"/>
          <p:cNvSpPr txBox="1"/>
          <p:nvPr/>
        </p:nvSpPr>
        <p:spPr>
          <a:xfrm>
            <a:off x="8513064" y="1847088"/>
            <a:ext cx="2761488" cy="438912"/>
          </a:xfrm>
          <a:prstGeom prst="rect">
            <a:avLst/>
          </a:prstGeom>
          <a:noFill/>
        </p:spPr>
        <p:txBody>
          <a:bodyPr wrap="square" lIns="13716" rIns="13716" tIns="13716" bIns="13716" anchor="t">
            <a:spAutoFit/>
          </a:bodyPr>
          <a:lstStyle/>
          <a:p>
            <a:pPr algn="l">
              <a:lnSpc>
                <a:spcPct val="108000"/>
              </a:lnSpc>
              <a:spcAft>
                <a:spcPts val="300"/>
              </a:spcAft>
              <a:defRPr sz="1600" b="1">
                <a:solidFill>
                  <a:srgbClr val="F2F5EE"/>
                </a:solidFill>
                <a:latin typeface="Arial"/>
              </a:defRPr>
            </a:pPr>
            <a:r>
              <a:t>Bayrambek Bakbergenov</a:t>
            </a:r>
          </a:p>
        </p:txBody>
      </p:sp>
      <p:sp>
        <p:nvSpPr>
          <p:cNvPr id="17" name="Text 16"/>
          <p:cNvSpPr txBox="1"/>
          <p:nvPr/>
        </p:nvSpPr>
        <p:spPr>
          <a:xfrm>
            <a:off x="8513064" y="2286000"/>
            <a:ext cx="2761488" cy="237744"/>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50000599 · CEO</a:t>
            </a:r>
          </a:p>
        </p:txBody>
      </p:sp>
      <p:sp>
        <p:nvSpPr>
          <p:cNvPr id="18" name="Text 17"/>
          <p:cNvSpPr txBox="1"/>
          <p:nvPr/>
        </p:nvSpPr>
        <p:spPr>
          <a:xfrm>
            <a:off x="8513064" y="2807208"/>
            <a:ext cx="2761488" cy="438912"/>
          </a:xfrm>
          <a:prstGeom prst="rect">
            <a:avLst/>
          </a:prstGeom>
          <a:noFill/>
        </p:spPr>
        <p:txBody>
          <a:bodyPr wrap="square" lIns="13716" rIns="13716" tIns="13716" bIns="13716" anchor="t">
            <a:spAutoFit/>
          </a:bodyPr>
          <a:lstStyle/>
          <a:p>
            <a:pPr algn="l">
              <a:lnSpc>
                <a:spcPct val="108000"/>
              </a:lnSpc>
              <a:spcAft>
                <a:spcPts val="300"/>
              </a:spcAft>
              <a:defRPr sz="1600" b="1">
                <a:solidFill>
                  <a:srgbClr val="F2F5EE"/>
                </a:solidFill>
                <a:latin typeface="Arial"/>
              </a:defRPr>
            </a:pPr>
            <a:r>
              <a:t>Lobar Karimova</a:t>
            </a:r>
          </a:p>
        </p:txBody>
      </p:sp>
      <p:sp>
        <p:nvSpPr>
          <p:cNvPr id="19" name="Text 18"/>
          <p:cNvSpPr txBox="1"/>
          <p:nvPr/>
        </p:nvSpPr>
        <p:spPr>
          <a:xfrm>
            <a:off x="8513064" y="3246120"/>
            <a:ext cx="2761488" cy="237744"/>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50000824 · CFO</a:t>
            </a:r>
          </a:p>
        </p:txBody>
      </p:sp>
      <p:sp>
        <p:nvSpPr>
          <p:cNvPr id="20" name="Text 19"/>
          <p:cNvSpPr txBox="1"/>
          <p:nvPr/>
        </p:nvSpPr>
        <p:spPr>
          <a:xfrm>
            <a:off x="8513064" y="3767328"/>
            <a:ext cx="2761488" cy="438912"/>
          </a:xfrm>
          <a:prstGeom prst="rect">
            <a:avLst/>
          </a:prstGeom>
          <a:noFill/>
        </p:spPr>
        <p:txBody>
          <a:bodyPr wrap="square" lIns="13716" rIns="13716" tIns="13716" bIns="13716" anchor="t">
            <a:spAutoFit/>
          </a:bodyPr>
          <a:lstStyle/>
          <a:p>
            <a:pPr algn="l">
              <a:lnSpc>
                <a:spcPct val="108000"/>
              </a:lnSpc>
              <a:spcAft>
                <a:spcPts val="300"/>
              </a:spcAft>
              <a:defRPr sz="1600" b="1">
                <a:solidFill>
                  <a:srgbClr val="F2F5EE"/>
                </a:solidFill>
                <a:latin typeface="Arial"/>
              </a:defRPr>
            </a:pPr>
            <a:r>
              <a:t>Ergashev Marat</a:t>
            </a:r>
          </a:p>
        </p:txBody>
      </p:sp>
      <p:sp>
        <p:nvSpPr>
          <p:cNvPr id="21" name="Text 20"/>
          <p:cNvSpPr txBox="1"/>
          <p:nvPr/>
        </p:nvSpPr>
        <p:spPr>
          <a:xfrm>
            <a:off x="8513064" y="4206240"/>
            <a:ext cx="2761488" cy="237744"/>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50000724 · CTO</a:t>
            </a:r>
          </a:p>
        </p:txBody>
      </p:sp>
      <p:sp>
        <p:nvSpPr>
          <p:cNvPr id="22" name="Text 21"/>
          <p:cNvSpPr txBox="1"/>
          <p:nvPr/>
        </p:nvSpPr>
        <p:spPr>
          <a:xfrm>
            <a:off x="8513064" y="4727448"/>
            <a:ext cx="2761488" cy="438912"/>
          </a:xfrm>
          <a:prstGeom prst="rect">
            <a:avLst/>
          </a:prstGeom>
          <a:noFill/>
        </p:spPr>
        <p:txBody>
          <a:bodyPr wrap="square" lIns="13716" rIns="13716" tIns="13716" bIns="13716" anchor="t">
            <a:spAutoFit/>
          </a:bodyPr>
          <a:lstStyle/>
          <a:p>
            <a:pPr algn="l">
              <a:lnSpc>
                <a:spcPct val="108000"/>
              </a:lnSpc>
              <a:spcAft>
                <a:spcPts val="300"/>
              </a:spcAft>
              <a:defRPr sz="1600" b="1">
                <a:solidFill>
                  <a:srgbClr val="F2F5EE"/>
                </a:solidFill>
                <a:latin typeface="Arial"/>
              </a:defRPr>
            </a:pPr>
            <a:r>
              <a:t>Sharifjon Saidov</a:t>
            </a:r>
          </a:p>
        </p:txBody>
      </p:sp>
      <p:sp>
        <p:nvSpPr>
          <p:cNvPr id="23" name="Text 22"/>
          <p:cNvSpPr txBox="1"/>
          <p:nvPr/>
        </p:nvSpPr>
        <p:spPr>
          <a:xfrm>
            <a:off x="8513064" y="5166360"/>
            <a:ext cx="2761488" cy="237744"/>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50000658 · COO</a:t>
            </a:r>
          </a:p>
        </p:txBody>
      </p:sp>
      <p:sp>
        <p:nvSpPr>
          <p:cNvPr id="24" name="Text 23"/>
          <p:cNvSpPr txBox="1"/>
          <p:nvPr/>
        </p:nvSpPr>
        <p:spPr>
          <a:xfrm>
            <a:off x="694944" y="5321808"/>
            <a:ext cx="6858000" cy="201168"/>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Group leader · Bayrambek Bakbergenov</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PHOTO · Bayrambek Bakbergenov"/>
          <p:cNvSpPr>
            <a:spLocks noGrp="1"/>
          </p:cNvSpPr>
          <p:nvPr>
            <p:ph type="pic" idx="20"/>
          </p:nvPr>
        </p:nvSpPr>
        <p:spPr/>
        <p:txBody>
          <a:bodyPr/>
          <a:p/>
        </p:txBody>
      </p:sp>
      <p:sp>
        <p:nvSpPr>
          <p:cNvPr id="3" name="PHOTO · Lobar Karimova"/>
          <p:cNvSpPr>
            <a:spLocks noGrp="1"/>
          </p:cNvSpPr>
          <p:nvPr>
            <p:ph type="pic" idx="21"/>
          </p:nvPr>
        </p:nvSpPr>
        <p:spPr/>
        <p:txBody>
          <a:bodyPr/>
          <a:p/>
        </p:txBody>
      </p:sp>
      <p:sp>
        <p:nvSpPr>
          <p:cNvPr id="4" name="PHOTO · Ergashev Marat"/>
          <p:cNvSpPr>
            <a:spLocks noGrp="1"/>
          </p:cNvSpPr>
          <p:nvPr>
            <p:ph type="pic" idx="22"/>
          </p:nvPr>
        </p:nvSpPr>
        <p:spPr/>
        <p:txBody>
          <a:bodyPr/>
          <a:p/>
        </p:txBody>
      </p:sp>
      <p:sp>
        <p:nvSpPr>
          <p:cNvPr id="5" name="PHOTO · Sharifjon Saidov"/>
          <p:cNvSpPr>
            <a:spLocks noGrp="1"/>
          </p:cNvSpPr>
          <p:nvPr>
            <p:ph type="pic" idx="23"/>
          </p:nvPr>
        </p:nvSpPr>
        <p:spPr/>
        <p:txBody>
          <a:bodyPr/>
          <a:p/>
        </p:txBody>
      </p:sp>
      <p:sp>
        <p:nvSpPr>
          <p:cNvPr id="6"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OUR TEAM</a:t>
            </a:r>
          </a:p>
        </p:txBody>
      </p:sp>
      <p:sp>
        <p:nvSpPr>
          <p:cNvPr id="7"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The team behind Soya</a:t>
            </a:r>
          </a:p>
        </p:txBody>
      </p:sp>
      <p:sp>
        <p:nvSpPr>
          <p:cNvPr id="8"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Four roles with one shared pilot</a:t>
            </a:r>
          </a:p>
        </p:txBody>
      </p:sp>
      <p:cxnSp>
        <p:nvCxnSpPr>
          <p:cNvPr id="9"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10"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11"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02</a:t>
            </a:r>
          </a:p>
        </p:txBody>
      </p:sp>
      <p:sp>
        <p:nvSpPr>
          <p:cNvPr id="12" name="Text 11"/>
          <p:cNvSpPr txBox="1"/>
          <p:nvPr/>
        </p:nvSpPr>
        <p:spPr>
          <a:xfrm>
            <a:off x="594360" y="4937760"/>
            <a:ext cx="2592324" cy="676656"/>
          </a:xfrm>
          <a:prstGeom prst="rect">
            <a:avLst/>
          </a:prstGeom>
          <a:noFill/>
        </p:spPr>
        <p:txBody>
          <a:bodyPr wrap="square" lIns="13716" rIns="13716" tIns="13716" bIns="13716" anchor="t">
            <a:spAutoFit/>
          </a:bodyPr>
          <a:lstStyle/>
          <a:p>
            <a:pPr algn="ctr">
              <a:lnSpc>
                <a:spcPct val="108000"/>
              </a:lnSpc>
              <a:spcAft>
                <a:spcPts val="300"/>
              </a:spcAft>
              <a:defRPr sz="2100" b="1">
                <a:solidFill>
                  <a:srgbClr val="F2F5EE"/>
                </a:solidFill>
                <a:latin typeface="Arial"/>
              </a:defRPr>
            </a:pPr>
            <a:r>
              <a:t>Bayrambek Bakbergenov</a:t>
            </a:r>
          </a:p>
        </p:txBody>
      </p:sp>
      <p:sp>
        <p:nvSpPr>
          <p:cNvPr id="13" name="Text 12"/>
          <p:cNvSpPr txBox="1"/>
          <p:nvPr/>
        </p:nvSpPr>
        <p:spPr>
          <a:xfrm>
            <a:off x="594360" y="5687568"/>
            <a:ext cx="2592324" cy="274320"/>
          </a:xfrm>
          <a:prstGeom prst="rect">
            <a:avLst/>
          </a:prstGeom>
          <a:noFill/>
        </p:spPr>
        <p:txBody>
          <a:bodyPr wrap="square" lIns="13716" rIns="13716" tIns="13716" bIns="13716" anchor="t">
            <a:spAutoFit/>
          </a:bodyPr>
          <a:lstStyle/>
          <a:p>
            <a:pPr algn="ctr">
              <a:lnSpc>
                <a:spcPct val="108000"/>
              </a:lnSpc>
              <a:spcAft>
                <a:spcPts val="300"/>
              </a:spcAft>
              <a:defRPr sz="1500" b="1">
                <a:solidFill>
                  <a:srgbClr val="79DCAF"/>
                </a:solidFill>
                <a:latin typeface="Arial"/>
              </a:defRPr>
            </a:pPr>
            <a:r>
              <a:t>CEO · 50000599</a:t>
            </a:r>
          </a:p>
        </p:txBody>
      </p:sp>
      <p:sp>
        <p:nvSpPr>
          <p:cNvPr id="14" name="Text 13"/>
          <p:cNvSpPr txBox="1"/>
          <p:nvPr/>
        </p:nvSpPr>
        <p:spPr>
          <a:xfrm>
            <a:off x="3387852" y="4937760"/>
            <a:ext cx="2592324" cy="676656"/>
          </a:xfrm>
          <a:prstGeom prst="rect">
            <a:avLst/>
          </a:prstGeom>
          <a:noFill/>
        </p:spPr>
        <p:txBody>
          <a:bodyPr wrap="square" lIns="13716" rIns="13716" tIns="13716" bIns="13716" anchor="t">
            <a:spAutoFit/>
          </a:bodyPr>
          <a:lstStyle/>
          <a:p>
            <a:pPr algn="ctr">
              <a:lnSpc>
                <a:spcPct val="108000"/>
              </a:lnSpc>
              <a:spcAft>
                <a:spcPts val="300"/>
              </a:spcAft>
              <a:defRPr sz="2100" b="1">
                <a:solidFill>
                  <a:srgbClr val="F2F5EE"/>
                </a:solidFill>
                <a:latin typeface="Arial"/>
              </a:defRPr>
            </a:pPr>
            <a:r>
              <a:t>Lobar Karimova</a:t>
            </a:r>
          </a:p>
        </p:txBody>
      </p:sp>
      <p:sp>
        <p:nvSpPr>
          <p:cNvPr id="15" name="Text 14"/>
          <p:cNvSpPr txBox="1"/>
          <p:nvPr/>
        </p:nvSpPr>
        <p:spPr>
          <a:xfrm>
            <a:off x="3387852" y="5687568"/>
            <a:ext cx="2592324" cy="274320"/>
          </a:xfrm>
          <a:prstGeom prst="rect">
            <a:avLst/>
          </a:prstGeom>
          <a:noFill/>
        </p:spPr>
        <p:txBody>
          <a:bodyPr wrap="square" lIns="13716" rIns="13716" tIns="13716" bIns="13716" anchor="t">
            <a:spAutoFit/>
          </a:bodyPr>
          <a:lstStyle/>
          <a:p>
            <a:pPr algn="ctr">
              <a:lnSpc>
                <a:spcPct val="108000"/>
              </a:lnSpc>
              <a:spcAft>
                <a:spcPts val="300"/>
              </a:spcAft>
              <a:defRPr sz="1500" b="1">
                <a:solidFill>
                  <a:srgbClr val="79DCAF"/>
                </a:solidFill>
                <a:latin typeface="Arial"/>
              </a:defRPr>
            </a:pPr>
            <a:r>
              <a:t>CFO · 50000824</a:t>
            </a:r>
          </a:p>
        </p:txBody>
      </p:sp>
      <p:sp>
        <p:nvSpPr>
          <p:cNvPr id="16" name="Text 15"/>
          <p:cNvSpPr txBox="1"/>
          <p:nvPr/>
        </p:nvSpPr>
        <p:spPr>
          <a:xfrm>
            <a:off x="6181344" y="4937760"/>
            <a:ext cx="2592324" cy="676656"/>
          </a:xfrm>
          <a:prstGeom prst="rect">
            <a:avLst/>
          </a:prstGeom>
          <a:noFill/>
        </p:spPr>
        <p:txBody>
          <a:bodyPr wrap="square" lIns="13716" rIns="13716" tIns="13716" bIns="13716" anchor="t">
            <a:spAutoFit/>
          </a:bodyPr>
          <a:lstStyle/>
          <a:p>
            <a:pPr algn="ctr">
              <a:lnSpc>
                <a:spcPct val="108000"/>
              </a:lnSpc>
              <a:spcAft>
                <a:spcPts val="300"/>
              </a:spcAft>
              <a:defRPr sz="2100" b="1">
                <a:solidFill>
                  <a:srgbClr val="F2F5EE"/>
                </a:solidFill>
                <a:latin typeface="Arial"/>
              </a:defRPr>
            </a:pPr>
            <a:r>
              <a:t>Ergashev Marat</a:t>
            </a:r>
          </a:p>
        </p:txBody>
      </p:sp>
      <p:sp>
        <p:nvSpPr>
          <p:cNvPr id="17" name="Text 16"/>
          <p:cNvSpPr txBox="1"/>
          <p:nvPr/>
        </p:nvSpPr>
        <p:spPr>
          <a:xfrm>
            <a:off x="6181344" y="5687568"/>
            <a:ext cx="2592324" cy="274320"/>
          </a:xfrm>
          <a:prstGeom prst="rect">
            <a:avLst/>
          </a:prstGeom>
          <a:noFill/>
        </p:spPr>
        <p:txBody>
          <a:bodyPr wrap="square" lIns="13716" rIns="13716" tIns="13716" bIns="13716" anchor="t">
            <a:spAutoFit/>
          </a:bodyPr>
          <a:lstStyle/>
          <a:p>
            <a:pPr algn="ctr">
              <a:lnSpc>
                <a:spcPct val="108000"/>
              </a:lnSpc>
              <a:spcAft>
                <a:spcPts val="300"/>
              </a:spcAft>
              <a:defRPr sz="1500" b="1">
                <a:solidFill>
                  <a:srgbClr val="79DCAF"/>
                </a:solidFill>
                <a:latin typeface="Arial"/>
              </a:defRPr>
            </a:pPr>
            <a:r>
              <a:t>CTO · 50000724</a:t>
            </a:r>
          </a:p>
        </p:txBody>
      </p:sp>
      <p:sp>
        <p:nvSpPr>
          <p:cNvPr id="18" name="Text 17"/>
          <p:cNvSpPr txBox="1"/>
          <p:nvPr/>
        </p:nvSpPr>
        <p:spPr>
          <a:xfrm>
            <a:off x="8974836" y="4937760"/>
            <a:ext cx="2592324" cy="676656"/>
          </a:xfrm>
          <a:prstGeom prst="rect">
            <a:avLst/>
          </a:prstGeom>
          <a:noFill/>
        </p:spPr>
        <p:txBody>
          <a:bodyPr wrap="square" lIns="13716" rIns="13716" tIns="13716" bIns="13716" anchor="t">
            <a:spAutoFit/>
          </a:bodyPr>
          <a:lstStyle/>
          <a:p>
            <a:pPr algn="ctr">
              <a:lnSpc>
                <a:spcPct val="108000"/>
              </a:lnSpc>
              <a:spcAft>
                <a:spcPts val="300"/>
              </a:spcAft>
              <a:defRPr sz="2100" b="1">
                <a:solidFill>
                  <a:srgbClr val="F2F5EE"/>
                </a:solidFill>
                <a:latin typeface="Arial"/>
              </a:defRPr>
            </a:pPr>
            <a:r>
              <a:t>Sharifjon Saidov</a:t>
            </a:r>
          </a:p>
        </p:txBody>
      </p:sp>
      <p:sp>
        <p:nvSpPr>
          <p:cNvPr id="19" name="Text 18"/>
          <p:cNvSpPr txBox="1"/>
          <p:nvPr/>
        </p:nvSpPr>
        <p:spPr>
          <a:xfrm>
            <a:off x="8974836" y="5687568"/>
            <a:ext cx="2592324" cy="274320"/>
          </a:xfrm>
          <a:prstGeom prst="rect">
            <a:avLst/>
          </a:prstGeom>
          <a:noFill/>
        </p:spPr>
        <p:txBody>
          <a:bodyPr wrap="square" lIns="13716" rIns="13716" tIns="13716" bIns="13716" anchor="t">
            <a:spAutoFit/>
          </a:bodyPr>
          <a:lstStyle/>
          <a:p>
            <a:pPr algn="ctr">
              <a:lnSpc>
                <a:spcPct val="108000"/>
              </a:lnSpc>
              <a:spcAft>
                <a:spcPts val="300"/>
              </a:spcAft>
              <a:defRPr sz="1500" b="1">
                <a:solidFill>
                  <a:srgbClr val="79DCAF"/>
                </a:solidFill>
                <a:latin typeface="Arial"/>
              </a:defRPr>
            </a:pPr>
            <a:r>
              <a:t>COO · 50000658</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BUSINESS</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A walking service with two paying markets</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Free route discovery supports subscriptions and local advertising</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03</a:t>
            </a:r>
          </a:p>
        </p:txBody>
      </p:sp>
      <p:sp>
        <p:nvSpPr>
          <p:cNvPr id="8" name="Panel 7"/>
          <p:cNvSpPr/>
          <p:nvPr/>
        </p:nvSpPr>
        <p:spPr>
          <a:xfrm>
            <a:off x="548640" y="2377440"/>
            <a:ext cx="3566160" cy="25603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731520" y="2542032"/>
            <a:ext cx="320040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01</a:t>
            </a:r>
          </a:p>
        </p:txBody>
      </p:sp>
      <p:sp>
        <p:nvSpPr>
          <p:cNvPr id="10" name="Text 9"/>
          <p:cNvSpPr txBox="1"/>
          <p:nvPr/>
        </p:nvSpPr>
        <p:spPr>
          <a:xfrm>
            <a:off x="731520" y="3182112"/>
            <a:ext cx="32004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Walkers</a:t>
            </a:r>
          </a:p>
        </p:txBody>
      </p:sp>
      <p:sp>
        <p:nvSpPr>
          <p:cNvPr id="11" name="Text 10"/>
          <p:cNvSpPr txBox="1"/>
          <p:nvPr/>
        </p:nvSpPr>
        <p:spPr>
          <a:xfrm>
            <a:off x="731520" y="3739896"/>
            <a:ext cx="3200400" cy="108813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Free routes and contributions</a:t>
            </a:r>
          </a:p>
        </p:txBody>
      </p:sp>
      <p:sp>
        <p:nvSpPr>
          <p:cNvPr id="12" name="Text 11"/>
          <p:cNvSpPr txBox="1"/>
          <p:nvPr/>
        </p:nvSpPr>
        <p:spPr>
          <a:xfrm>
            <a:off x="4137660" y="3547872"/>
            <a:ext cx="164592" cy="274320"/>
          </a:xfrm>
          <a:prstGeom prst="rect">
            <a:avLst/>
          </a:prstGeom>
          <a:noFill/>
        </p:spPr>
        <p:txBody>
          <a:bodyPr wrap="square" lIns="13716" rIns="13716" tIns="13716" bIns="13716" anchor="t">
            <a:spAutoFit/>
          </a:bodyPr>
          <a:lstStyle/>
          <a:p>
            <a:pPr algn="l">
              <a:lnSpc>
                <a:spcPct val="108000"/>
              </a:lnSpc>
              <a:spcAft>
                <a:spcPts val="300"/>
              </a:spcAft>
              <a:defRPr sz="2200" b="1">
                <a:solidFill>
                  <a:srgbClr val="79DCAF"/>
                </a:solidFill>
                <a:latin typeface="Arial"/>
              </a:defRPr>
            </a:pPr>
            <a:r>
              <a:t>›</a:t>
            </a:r>
          </a:p>
        </p:txBody>
      </p:sp>
      <p:sp>
        <p:nvSpPr>
          <p:cNvPr id="13" name="Panel 12"/>
          <p:cNvSpPr/>
          <p:nvPr/>
        </p:nvSpPr>
        <p:spPr>
          <a:xfrm>
            <a:off x="4297679" y="2377440"/>
            <a:ext cx="3566160" cy="25603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4480559" y="2542032"/>
            <a:ext cx="320040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02</a:t>
            </a:r>
          </a:p>
        </p:txBody>
      </p:sp>
      <p:sp>
        <p:nvSpPr>
          <p:cNvPr id="15" name="Text 14"/>
          <p:cNvSpPr txBox="1"/>
          <p:nvPr/>
        </p:nvSpPr>
        <p:spPr>
          <a:xfrm>
            <a:off x="4480559" y="3182112"/>
            <a:ext cx="32004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Soya</a:t>
            </a:r>
          </a:p>
        </p:txBody>
      </p:sp>
      <p:sp>
        <p:nvSpPr>
          <p:cNvPr id="16" name="Text 15"/>
          <p:cNvSpPr txBox="1"/>
          <p:nvPr/>
        </p:nvSpPr>
        <p:spPr>
          <a:xfrm>
            <a:off x="4480559" y="3739896"/>
            <a:ext cx="3200400" cy="108813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Shade, access and discovery</a:t>
            </a:r>
          </a:p>
        </p:txBody>
      </p:sp>
      <p:sp>
        <p:nvSpPr>
          <p:cNvPr id="17" name="Text 16"/>
          <p:cNvSpPr txBox="1"/>
          <p:nvPr/>
        </p:nvSpPr>
        <p:spPr>
          <a:xfrm>
            <a:off x="7886700" y="3547872"/>
            <a:ext cx="164592" cy="274320"/>
          </a:xfrm>
          <a:prstGeom prst="rect">
            <a:avLst/>
          </a:prstGeom>
          <a:noFill/>
        </p:spPr>
        <p:txBody>
          <a:bodyPr wrap="square" lIns="13716" rIns="13716" tIns="13716" bIns="13716" anchor="t">
            <a:spAutoFit/>
          </a:bodyPr>
          <a:lstStyle/>
          <a:p>
            <a:pPr algn="l">
              <a:lnSpc>
                <a:spcPct val="108000"/>
              </a:lnSpc>
              <a:spcAft>
                <a:spcPts val="300"/>
              </a:spcAft>
              <a:defRPr sz="2200" b="1">
                <a:solidFill>
                  <a:srgbClr val="79DCAF"/>
                </a:solidFill>
                <a:latin typeface="Arial"/>
              </a:defRPr>
            </a:pPr>
            <a:r>
              <a:t>›</a:t>
            </a:r>
          </a:p>
        </p:txBody>
      </p:sp>
      <p:sp>
        <p:nvSpPr>
          <p:cNvPr id="18" name="Panel 17"/>
          <p:cNvSpPr/>
          <p:nvPr/>
        </p:nvSpPr>
        <p:spPr>
          <a:xfrm>
            <a:off x="8046719" y="2377440"/>
            <a:ext cx="3566160" cy="25603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8229599" y="2542032"/>
            <a:ext cx="320040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03</a:t>
            </a:r>
          </a:p>
        </p:txBody>
      </p:sp>
      <p:sp>
        <p:nvSpPr>
          <p:cNvPr id="20" name="Text 19"/>
          <p:cNvSpPr txBox="1"/>
          <p:nvPr/>
        </p:nvSpPr>
        <p:spPr>
          <a:xfrm>
            <a:off x="8229599" y="3182112"/>
            <a:ext cx="32004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Paying markets</a:t>
            </a:r>
          </a:p>
        </p:txBody>
      </p:sp>
      <p:sp>
        <p:nvSpPr>
          <p:cNvPr id="21" name="Text 20"/>
          <p:cNvSpPr txBox="1"/>
          <p:nvPr/>
        </p:nvSpPr>
        <p:spPr>
          <a:xfrm>
            <a:off x="8229599" y="3739896"/>
            <a:ext cx="3200400" cy="108813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Plus subscribers and local cafes</a:t>
            </a:r>
          </a:p>
        </p:txBody>
      </p:sp>
      <p:sp>
        <p:nvSpPr>
          <p:cNvPr id="22" name="Text 21"/>
          <p:cNvSpPr txBox="1"/>
          <p:nvPr/>
        </p:nvSpPr>
        <p:spPr>
          <a:xfrm>
            <a:off x="731520" y="5349240"/>
            <a:ext cx="10607040" cy="502920"/>
          </a:xfrm>
          <a:prstGeom prst="rect">
            <a:avLst/>
          </a:prstGeom>
          <a:noFill/>
        </p:spPr>
        <p:txBody>
          <a:bodyPr wrap="square" lIns="13716" rIns="13716" tIns="13716" bIns="13716" anchor="t">
            <a:spAutoFit/>
          </a:bodyPr>
          <a:lstStyle/>
          <a:p>
            <a:pPr algn="l">
              <a:lnSpc>
                <a:spcPct val="108000"/>
              </a:lnSpc>
              <a:spcAft>
                <a:spcPts val="300"/>
              </a:spcAft>
              <a:defRPr sz="2200" b="0">
                <a:solidFill>
                  <a:srgbClr val="A8B8AC"/>
                </a:solidFill>
                <a:latin typeface="Arial"/>
              </a:defRPr>
            </a:pPr>
            <a:r>
              <a:t>Digital mapping service · limited pilot · not yet field validated</a:t>
            </a:r>
          </a:p>
        </p:txBody>
      </p:sp>
      <p:sp>
        <p:nvSpPr>
          <p:cNvPr id="23"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CW2 brief · Soya planning model · Bovée and Thill 2020</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280" fill="hold"/>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280" fill="hold"/>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280" fill="hold"/>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280" fill="hold"/>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280" fill="hold"/>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280" fill="hold"/>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280" fill="hold"/>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280" fill="hold"/>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3" grpId="0" build="allAtOnce" animBg="1"/>
      <p:bldP spid="14" grpId="0" build="allAtOnce" animBg="1"/>
      <p:bldP spid="15" grpId="0" build="allAtOnce" animBg="1"/>
      <p:bldP spid="16" grpId="0" build="allAtOnce" animBg="1"/>
      <p:bldP spid="18" grpId="0" build="allAtOnce" animBg="1"/>
      <p:bldP spid="19" grpId="0" build="allAtOnce" animBg="1"/>
      <p:bldP spid="20" grpId="0" build="allAtOnce" animBg="1"/>
      <p:bldP spid="21" grpId="0" build="allAtOnce"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BUSINESS</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The shortest path is not always the best walk</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Shade and pavement information change the choice of route</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04</a:t>
            </a:r>
          </a:p>
        </p:txBody>
      </p:sp>
      <p:sp>
        <p:nvSpPr>
          <p:cNvPr id="8" name="Map canvas"/>
          <p:cNvSpPr/>
          <p:nvPr/>
        </p:nvSpPr>
        <p:spPr>
          <a:xfrm>
            <a:off x="548640" y="2286000"/>
            <a:ext cx="6949440" cy="3749039"/>
          </a:xfrm>
          <a:prstGeom prst="roundRect">
            <a:avLst>
              <a:gd name="adj" fmla="val 9000"/>
            </a:avLst>
          </a:prstGeom>
          <a:solidFill>
            <a:srgbClr val="142C30"/>
          </a:solidFill>
          <a:ln w="12700">
            <a:solidFill>
              <a:srgbClr val="355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ad_v_1"/>
          <p:cNvSpPr/>
          <p:nvPr/>
        </p:nvSpPr>
        <p:spPr>
          <a:xfrm>
            <a:off x="1580375" y="2395728"/>
            <a:ext cx="309579" cy="3383279"/>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ad_v_2"/>
          <p:cNvSpPr/>
          <p:nvPr/>
        </p:nvSpPr>
        <p:spPr>
          <a:xfrm>
            <a:off x="3666670" y="2395728"/>
            <a:ext cx="309579" cy="3383279"/>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ad_v_3"/>
          <p:cNvSpPr/>
          <p:nvPr/>
        </p:nvSpPr>
        <p:spPr>
          <a:xfrm>
            <a:off x="5820265" y="2395728"/>
            <a:ext cx="309579" cy="3383279"/>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ad_h_1"/>
          <p:cNvSpPr/>
          <p:nvPr/>
        </p:nvSpPr>
        <p:spPr>
          <a:xfrm>
            <a:off x="658368" y="2786496"/>
            <a:ext cx="6729983" cy="233446"/>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ad_h_2"/>
          <p:cNvSpPr/>
          <p:nvPr/>
        </p:nvSpPr>
        <p:spPr>
          <a:xfrm>
            <a:off x="658368" y="3936812"/>
            <a:ext cx="6729983" cy="233446"/>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ad_h_3"/>
          <p:cNvSpPr/>
          <p:nvPr/>
        </p:nvSpPr>
        <p:spPr>
          <a:xfrm>
            <a:off x="658368" y="5053294"/>
            <a:ext cx="6729983" cy="233446"/>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rk_01"/>
          <p:cNvSpPr/>
          <p:nvPr/>
        </p:nvSpPr>
        <p:spPr>
          <a:xfrm>
            <a:off x="759317" y="4273448"/>
            <a:ext cx="639348" cy="676656"/>
          </a:xfrm>
          <a:prstGeom prst="rect">
            <a:avLst/>
          </a:prstGeom>
          <a:solidFill>
            <a:srgbClr val="235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hadow building_01"/>
          <p:cNvSpPr/>
          <p:nvPr/>
        </p:nvSpPr>
        <p:spPr>
          <a:xfrm>
            <a:off x="2172614" y="2983552"/>
            <a:ext cx="1742278" cy="748571"/>
          </a:xfrm>
          <a:custGeom>
            <a:avLst/>
            <a:gdLst/>
            <a:ahLst/>
            <a:cxnLst/>
            <a:rect l="l" t="t" r="r" b="b"/>
            <a:pathLst>
              <a:path w="1742278" h="748571">
                <a:moveTo>
                  <a:pt x="0" y="173414"/>
                </a:moveTo>
                <a:lnTo>
                  <a:pt x="631831" y="0"/>
                </a:lnTo>
                <a:lnTo>
                  <a:pt x="1742278" y="0"/>
                </a:lnTo>
                <a:lnTo>
                  <a:pt x="1742278" y="575158"/>
                </a:lnTo>
                <a:lnTo>
                  <a:pt x="1110447" y="748571"/>
                </a:lnTo>
                <a:lnTo>
                  <a:pt x="0" y="748571"/>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hadow building_02"/>
          <p:cNvSpPr/>
          <p:nvPr/>
        </p:nvSpPr>
        <p:spPr>
          <a:xfrm>
            <a:off x="4258909" y="3026905"/>
            <a:ext cx="1617969" cy="688302"/>
          </a:xfrm>
          <a:custGeom>
            <a:avLst/>
            <a:gdLst/>
            <a:ahLst/>
            <a:cxnLst/>
            <a:rect l="l" t="t" r="r" b="b"/>
            <a:pathLst>
              <a:path w="1617969" h="688302">
                <a:moveTo>
                  <a:pt x="0" y="130061"/>
                </a:moveTo>
                <a:lnTo>
                  <a:pt x="473872" y="0"/>
                </a:lnTo>
                <a:lnTo>
                  <a:pt x="1617969" y="0"/>
                </a:lnTo>
                <a:lnTo>
                  <a:pt x="1617969" y="558242"/>
                </a:lnTo>
                <a:lnTo>
                  <a:pt x="1144097" y="688302"/>
                </a:lnTo>
                <a:lnTo>
                  <a:pt x="0" y="688302"/>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hadow building_03"/>
          <p:cNvSpPr/>
          <p:nvPr/>
        </p:nvSpPr>
        <p:spPr>
          <a:xfrm>
            <a:off x="2172614" y="4162771"/>
            <a:ext cx="1636974" cy="702751"/>
          </a:xfrm>
          <a:custGeom>
            <a:avLst/>
            <a:gdLst/>
            <a:ahLst/>
            <a:cxnLst/>
            <a:rect l="l" t="t" r="r" b="b"/>
            <a:pathLst>
              <a:path w="1636974" h="702751">
                <a:moveTo>
                  <a:pt x="0" y="144510"/>
                </a:moveTo>
                <a:lnTo>
                  <a:pt x="526527" y="0"/>
                </a:lnTo>
                <a:lnTo>
                  <a:pt x="1636974" y="0"/>
                </a:lnTo>
                <a:lnTo>
                  <a:pt x="1636974" y="558241"/>
                </a:lnTo>
                <a:lnTo>
                  <a:pt x="1110447" y="702751"/>
                </a:lnTo>
                <a:lnTo>
                  <a:pt x="0" y="702751"/>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hadow building_04"/>
          <p:cNvSpPr/>
          <p:nvPr/>
        </p:nvSpPr>
        <p:spPr>
          <a:xfrm>
            <a:off x="4258909" y="4104964"/>
            <a:ext cx="1881232" cy="760558"/>
          </a:xfrm>
          <a:custGeom>
            <a:avLst/>
            <a:gdLst/>
            <a:ahLst/>
            <a:cxnLst/>
            <a:rect l="l" t="t" r="r" b="b"/>
            <a:pathLst>
              <a:path w="1881232" h="760558">
                <a:moveTo>
                  <a:pt x="0" y="202317"/>
                </a:moveTo>
                <a:lnTo>
                  <a:pt x="737135" y="0"/>
                </a:lnTo>
                <a:lnTo>
                  <a:pt x="1881232" y="0"/>
                </a:lnTo>
                <a:lnTo>
                  <a:pt x="1881232" y="558241"/>
                </a:lnTo>
                <a:lnTo>
                  <a:pt x="1144097" y="760558"/>
                </a:lnTo>
                <a:lnTo>
                  <a:pt x="0" y="760558"/>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hadow building_05"/>
          <p:cNvSpPr/>
          <p:nvPr/>
        </p:nvSpPr>
        <p:spPr>
          <a:xfrm>
            <a:off x="6378854" y="3014918"/>
            <a:ext cx="1009498" cy="717205"/>
          </a:xfrm>
          <a:custGeom>
            <a:avLst/>
            <a:gdLst/>
            <a:ahLst/>
            <a:cxnLst/>
            <a:rect l="l" t="t" r="r" b="b"/>
            <a:pathLst>
              <a:path w="1009498" h="717205">
                <a:moveTo>
                  <a:pt x="0" y="158964"/>
                </a:moveTo>
                <a:lnTo>
                  <a:pt x="579176" y="0"/>
                </a:lnTo>
                <a:lnTo>
                  <a:pt x="1009498" y="0"/>
                </a:lnTo>
                <a:lnTo>
                  <a:pt x="1009498" y="634085"/>
                </a:lnTo>
                <a:lnTo>
                  <a:pt x="706648" y="717205"/>
                </a:lnTo>
                <a:lnTo>
                  <a:pt x="0" y="717205"/>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hadow building_06"/>
          <p:cNvSpPr/>
          <p:nvPr/>
        </p:nvSpPr>
        <p:spPr>
          <a:xfrm>
            <a:off x="6378854" y="4194137"/>
            <a:ext cx="1009498" cy="671385"/>
          </a:xfrm>
          <a:custGeom>
            <a:avLst/>
            <a:gdLst/>
            <a:ahLst/>
            <a:cxnLst/>
            <a:rect l="l" t="t" r="r" b="b"/>
            <a:pathLst>
              <a:path w="1009498" h="671385">
                <a:moveTo>
                  <a:pt x="0" y="130060"/>
                </a:moveTo>
                <a:lnTo>
                  <a:pt x="473872" y="0"/>
                </a:lnTo>
                <a:lnTo>
                  <a:pt x="1009498" y="0"/>
                </a:lnTo>
                <a:lnTo>
                  <a:pt x="1009498" y="588264"/>
                </a:lnTo>
                <a:lnTo>
                  <a:pt x="706648" y="671385"/>
                </a:lnTo>
                <a:lnTo>
                  <a:pt x="0" y="671385"/>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hadow building_07"/>
          <p:cNvSpPr/>
          <p:nvPr/>
        </p:nvSpPr>
        <p:spPr>
          <a:xfrm>
            <a:off x="826617" y="3065499"/>
            <a:ext cx="899644" cy="683540"/>
          </a:xfrm>
          <a:custGeom>
            <a:avLst/>
            <a:gdLst/>
            <a:ahLst/>
            <a:cxnLst/>
            <a:rect l="l" t="t" r="r" b="b"/>
            <a:pathLst>
              <a:path w="899644" h="683540">
                <a:moveTo>
                  <a:pt x="0" y="108383"/>
                </a:moveTo>
                <a:lnTo>
                  <a:pt x="394895" y="0"/>
                </a:lnTo>
                <a:lnTo>
                  <a:pt x="899644" y="0"/>
                </a:lnTo>
                <a:lnTo>
                  <a:pt x="899644" y="575157"/>
                </a:lnTo>
                <a:lnTo>
                  <a:pt x="504749" y="683540"/>
                </a:lnTo>
                <a:lnTo>
                  <a:pt x="0" y="683540"/>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ing_01"/>
          <p:cNvSpPr/>
          <p:nvPr/>
        </p:nvSpPr>
        <p:spPr>
          <a:xfrm>
            <a:off x="2172614" y="3156966"/>
            <a:ext cx="1110447" cy="575157"/>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building_01 roof 1"/>
          <p:cNvCxnSpPr/>
          <p:nvPr/>
        </p:nvCxnSpPr>
        <p:spPr>
          <a:xfrm>
            <a:off x="2280294" y="3224631"/>
            <a:ext cx="895088"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5" name="!!building_02"/>
          <p:cNvSpPr/>
          <p:nvPr/>
        </p:nvSpPr>
        <p:spPr>
          <a:xfrm>
            <a:off x="4258909" y="3156966"/>
            <a:ext cx="1144097" cy="558241"/>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building_02 roof 1"/>
          <p:cNvCxnSpPr/>
          <p:nvPr/>
        </p:nvCxnSpPr>
        <p:spPr>
          <a:xfrm>
            <a:off x="4366589" y="3224631"/>
            <a:ext cx="928737"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7" name="!!building_03"/>
          <p:cNvSpPr/>
          <p:nvPr/>
        </p:nvSpPr>
        <p:spPr>
          <a:xfrm>
            <a:off x="2172614" y="4307281"/>
            <a:ext cx="1110447" cy="558241"/>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building_03 roof 1"/>
          <p:cNvCxnSpPr/>
          <p:nvPr/>
        </p:nvCxnSpPr>
        <p:spPr>
          <a:xfrm>
            <a:off x="2280294" y="4374946"/>
            <a:ext cx="895088"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9" name="!!building_04"/>
          <p:cNvSpPr/>
          <p:nvPr/>
        </p:nvSpPr>
        <p:spPr>
          <a:xfrm>
            <a:off x="4258909" y="4307281"/>
            <a:ext cx="1144097" cy="558241"/>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building_04 roof 1"/>
          <p:cNvCxnSpPr/>
          <p:nvPr/>
        </p:nvCxnSpPr>
        <p:spPr>
          <a:xfrm>
            <a:off x="4366589" y="4374946"/>
            <a:ext cx="928737"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1" name="!!building_05"/>
          <p:cNvSpPr/>
          <p:nvPr/>
        </p:nvSpPr>
        <p:spPr>
          <a:xfrm>
            <a:off x="6378854" y="3173882"/>
            <a:ext cx="706648" cy="558241"/>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building_05 roof 1"/>
          <p:cNvCxnSpPr/>
          <p:nvPr/>
        </p:nvCxnSpPr>
        <p:spPr>
          <a:xfrm>
            <a:off x="6486534" y="3241548"/>
            <a:ext cx="491288"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3" name="!!building_06"/>
          <p:cNvSpPr/>
          <p:nvPr/>
        </p:nvSpPr>
        <p:spPr>
          <a:xfrm>
            <a:off x="6378854" y="4324197"/>
            <a:ext cx="706648" cy="541324"/>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building_06 roof 1"/>
          <p:cNvCxnSpPr/>
          <p:nvPr/>
        </p:nvCxnSpPr>
        <p:spPr>
          <a:xfrm>
            <a:off x="6486534" y="4391863"/>
            <a:ext cx="491288"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5" name="!!building_07"/>
          <p:cNvSpPr/>
          <p:nvPr/>
        </p:nvSpPr>
        <p:spPr>
          <a:xfrm>
            <a:off x="826617" y="3173882"/>
            <a:ext cx="504748" cy="575157"/>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building_07 roof 1"/>
          <p:cNvCxnSpPr/>
          <p:nvPr/>
        </p:nvCxnSpPr>
        <p:spPr>
          <a:xfrm>
            <a:off x="934297" y="3241548"/>
            <a:ext cx="289389"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cxnSp>
        <p:nvCxnSpPr>
          <p:cNvPr id="37" name="route_standard 1"/>
          <p:cNvCxnSpPr/>
          <p:nvPr/>
        </p:nvCxnSpPr>
        <p:spPr>
          <a:xfrm flipH="1" flipV="1">
            <a:off x="1654405" y="5109118"/>
            <a:ext cx="80760" cy="60899"/>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38" name="route_standard 2"/>
          <p:cNvCxnSpPr/>
          <p:nvPr/>
        </p:nvCxnSpPr>
        <p:spPr>
          <a:xfrm flipV="1">
            <a:off x="1654405" y="2842320"/>
            <a:ext cx="0" cy="2266798"/>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39" name="route_standard 3"/>
          <p:cNvCxnSpPr/>
          <p:nvPr/>
        </p:nvCxnSpPr>
        <p:spPr>
          <a:xfrm>
            <a:off x="1654405" y="2842320"/>
            <a:ext cx="4401410" cy="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0" name="route_standard 4"/>
          <p:cNvCxnSpPr/>
          <p:nvPr/>
        </p:nvCxnSpPr>
        <p:spPr>
          <a:xfrm>
            <a:off x="6055815" y="2842320"/>
            <a:ext cx="0" cy="2388596"/>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1" name="route_standard 5"/>
          <p:cNvCxnSpPr/>
          <p:nvPr/>
        </p:nvCxnSpPr>
        <p:spPr>
          <a:xfrm flipH="1">
            <a:off x="1815925" y="5230916"/>
            <a:ext cx="4239890" cy="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2" name="route_standard 6"/>
          <p:cNvCxnSpPr/>
          <p:nvPr/>
        </p:nvCxnSpPr>
        <p:spPr>
          <a:xfrm flipH="1" flipV="1">
            <a:off x="1735165" y="5170017"/>
            <a:ext cx="80760" cy="60899"/>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3" name="route_alternative 1"/>
          <p:cNvCxnSpPr/>
          <p:nvPr/>
        </p:nvCxnSpPr>
        <p:spPr>
          <a:xfrm flipV="1">
            <a:off x="1735165" y="5109118"/>
            <a:ext cx="80760" cy="60899"/>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4" name="route_alternative 2"/>
          <p:cNvCxnSpPr/>
          <p:nvPr/>
        </p:nvCxnSpPr>
        <p:spPr>
          <a:xfrm flipV="1">
            <a:off x="1815925" y="4104284"/>
            <a:ext cx="0" cy="1004834"/>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5" name="route_alternative 3"/>
          <p:cNvCxnSpPr/>
          <p:nvPr/>
        </p:nvCxnSpPr>
        <p:spPr>
          <a:xfrm>
            <a:off x="1815925" y="4104284"/>
            <a:ext cx="2119945"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6" name="route_alternative 4"/>
          <p:cNvCxnSpPr/>
          <p:nvPr/>
        </p:nvCxnSpPr>
        <p:spPr>
          <a:xfrm flipV="1">
            <a:off x="3935870" y="2964119"/>
            <a:ext cx="0" cy="1140165"/>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7" name="route_alternative 5"/>
          <p:cNvCxnSpPr/>
          <p:nvPr/>
        </p:nvCxnSpPr>
        <p:spPr>
          <a:xfrm>
            <a:off x="3935870" y="2964119"/>
            <a:ext cx="1958425"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8" name="route_alternative 6"/>
          <p:cNvCxnSpPr/>
          <p:nvPr/>
        </p:nvCxnSpPr>
        <p:spPr>
          <a:xfrm>
            <a:off x="5894295" y="2964119"/>
            <a:ext cx="0" cy="2144999"/>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9" name="route_alternative 7"/>
          <p:cNvCxnSpPr/>
          <p:nvPr/>
        </p:nvCxnSpPr>
        <p:spPr>
          <a:xfrm flipH="1">
            <a:off x="1815925" y="5109118"/>
            <a:ext cx="4078370"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50" name="route_alternative 8"/>
          <p:cNvCxnSpPr/>
          <p:nvPr/>
        </p:nvCxnSpPr>
        <p:spPr>
          <a:xfrm flipH="1">
            <a:off x="1735165" y="5109118"/>
            <a:ext cx="80760" cy="60899"/>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sp>
        <p:nvSpPr>
          <p:cNvPr id="51" name="Start point"/>
          <p:cNvSpPr/>
          <p:nvPr/>
        </p:nvSpPr>
        <p:spPr>
          <a:xfrm>
            <a:off x="1643725" y="5078577"/>
            <a:ext cx="182880" cy="182880"/>
          </a:xfrm>
          <a:prstGeom prst="ellipse">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tart centre"/>
          <p:cNvSpPr/>
          <p:nvPr/>
        </p:nvSpPr>
        <p:spPr>
          <a:xfrm>
            <a:off x="1689445" y="5124297"/>
            <a:ext cx="91440" cy="91440"/>
          </a:xfrm>
          <a:prstGeom prst="ellipse">
            <a:avLst/>
          </a:prstGeom>
          <a:solidFill>
            <a:srgbClr val="79DC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 52"/>
          <p:cNvSpPr txBox="1"/>
          <p:nvPr/>
        </p:nvSpPr>
        <p:spPr>
          <a:xfrm>
            <a:off x="685800" y="5806440"/>
            <a:ext cx="6675120" cy="173736"/>
          </a:xfrm>
          <a:prstGeom prst="rect">
            <a:avLst/>
          </a:prstGeom>
          <a:noFill/>
        </p:spPr>
        <p:txBody>
          <a:bodyPr wrap="square" lIns="13716" rIns="13716" tIns="13716" bIns="13716" anchor="t">
            <a:spAutoFit/>
          </a:bodyPr>
          <a:lstStyle/>
          <a:p>
            <a:pPr algn="l">
              <a:lnSpc>
                <a:spcPct val="108000"/>
              </a:lnSpc>
              <a:spcAft>
                <a:spcPts val="300"/>
              </a:spcAft>
              <a:defRPr sz="900" b="1">
                <a:solidFill>
                  <a:srgbClr val="A8B8AC"/>
                </a:solidFill>
                <a:latin typeface="Arial"/>
              </a:defRPr>
            </a:pPr>
            <a:r>
              <a:t>ILLUSTRATIVE SCHEME · ASSUMED SUN ANGLES</a:t>
            </a:r>
          </a:p>
        </p:txBody>
      </p:sp>
      <p:sp>
        <p:nvSpPr>
          <p:cNvPr id="54" name="Text 53"/>
          <p:cNvSpPr txBox="1"/>
          <p:nvPr/>
        </p:nvSpPr>
        <p:spPr>
          <a:xfrm>
            <a:off x="7114031" y="2404872"/>
            <a:ext cx="228600" cy="274320"/>
          </a:xfrm>
          <a:prstGeom prst="rect">
            <a:avLst/>
          </a:prstGeom>
          <a:noFill/>
        </p:spPr>
        <p:txBody>
          <a:bodyPr wrap="square" lIns="13716" rIns="13716" tIns="13716" bIns="13716" anchor="t">
            <a:spAutoFit/>
          </a:bodyPr>
          <a:lstStyle/>
          <a:p>
            <a:pPr algn="l">
              <a:lnSpc>
                <a:spcPct val="108000"/>
              </a:lnSpc>
              <a:spcAft>
                <a:spcPts val="300"/>
              </a:spcAft>
              <a:defRPr sz="1100" b="1">
                <a:solidFill>
                  <a:srgbClr val="F2F5EE"/>
                </a:solidFill>
                <a:latin typeface="Arial"/>
              </a:defRPr>
            </a:pPr>
            <a:r>
              <a:t>N</a:t>
            </a:r>
          </a:p>
        </p:txBody>
      </p:sp>
      <p:sp>
        <p:nvSpPr>
          <p:cNvPr id="55" name="Panel 54"/>
          <p:cNvSpPr/>
          <p:nvPr/>
        </p:nvSpPr>
        <p:spPr>
          <a:xfrm>
            <a:off x="7772400" y="2286000"/>
            <a:ext cx="3840480" cy="105156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 55"/>
          <p:cNvSpPr txBox="1"/>
          <p:nvPr/>
        </p:nvSpPr>
        <p:spPr>
          <a:xfrm>
            <a:off x="7973568" y="2441448"/>
            <a:ext cx="3447288" cy="310896"/>
          </a:xfrm>
          <a:prstGeom prst="rect">
            <a:avLst/>
          </a:prstGeom>
          <a:noFill/>
        </p:spPr>
        <p:txBody>
          <a:bodyPr wrap="square" lIns="13716" rIns="13716" tIns="13716" bIns="13716" anchor="t">
            <a:spAutoFit/>
          </a:bodyPr>
          <a:lstStyle/>
          <a:p>
            <a:pPr algn="l">
              <a:lnSpc>
                <a:spcPct val="108000"/>
              </a:lnSpc>
              <a:spcAft>
                <a:spcPts val="300"/>
              </a:spcAft>
              <a:defRPr sz="2000" b="1">
                <a:solidFill>
                  <a:srgbClr val="F2F5EE"/>
                </a:solidFill>
                <a:latin typeface="Arial"/>
              </a:defRPr>
            </a:pPr>
            <a:r>
              <a:t>Shade</a:t>
            </a:r>
          </a:p>
        </p:txBody>
      </p:sp>
      <p:sp>
        <p:nvSpPr>
          <p:cNvPr id="57" name="Text 56"/>
          <p:cNvSpPr txBox="1"/>
          <p:nvPr/>
        </p:nvSpPr>
        <p:spPr>
          <a:xfrm>
            <a:off x="7973568" y="2880360"/>
            <a:ext cx="3447288" cy="292608"/>
          </a:xfrm>
          <a:prstGeom prst="rect">
            <a:avLst/>
          </a:prstGeom>
          <a:noFill/>
        </p:spPr>
        <p:txBody>
          <a:bodyPr wrap="square" lIns="13716" rIns="13716" tIns="13716" bIns="13716" anchor="t">
            <a:spAutoFit/>
          </a:bodyPr>
          <a:lstStyle/>
          <a:p>
            <a:pPr algn="l">
              <a:lnSpc>
                <a:spcPct val="108000"/>
              </a:lnSpc>
              <a:spcAft>
                <a:spcPts val="300"/>
              </a:spcAft>
              <a:defRPr sz="1650" b="0">
                <a:solidFill>
                  <a:srgbClr val="A8B8AC"/>
                </a:solidFill>
                <a:latin typeface="Arial"/>
              </a:defRPr>
            </a:pPr>
            <a:r>
              <a:t>Avoid unnecessary direct sun</a:t>
            </a:r>
          </a:p>
        </p:txBody>
      </p:sp>
      <p:sp>
        <p:nvSpPr>
          <p:cNvPr id="58" name="Panel 57"/>
          <p:cNvSpPr/>
          <p:nvPr/>
        </p:nvSpPr>
        <p:spPr>
          <a:xfrm>
            <a:off x="7772400" y="3502152"/>
            <a:ext cx="3840480" cy="105156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 58"/>
          <p:cNvSpPr txBox="1"/>
          <p:nvPr/>
        </p:nvSpPr>
        <p:spPr>
          <a:xfrm>
            <a:off x="7973568" y="3657600"/>
            <a:ext cx="3447288" cy="310896"/>
          </a:xfrm>
          <a:prstGeom prst="rect">
            <a:avLst/>
          </a:prstGeom>
          <a:noFill/>
        </p:spPr>
        <p:txBody>
          <a:bodyPr wrap="square" lIns="13716" rIns="13716" tIns="13716" bIns="13716" anchor="t">
            <a:spAutoFit/>
          </a:bodyPr>
          <a:lstStyle/>
          <a:p>
            <a:pPr algn="l">
              <a:lnSpc>
                <a:spcPct val="108000"/>
              </a:lnSpc>
              <a:spcAft>
                <a:spcPts val="300"/>
              </a:spcAft>
              <a:defRPr sz="2000" b="1">
                <a:solidFill>
                  <a:srgbClr val="F2F5EE"/>
                </a:solidFill>
                <a:latin typeface="Arial"/>
              </a:defRPr>
            </a:pPr>
            <a:r>
              <a:t>Access</a:t>
            </a:r>
          </a:p>
        </p:txBody>
      </p:sp>
      <p:sp>
        <p:nvSpPr>
          <p:cNvPr id="60" name="Text 59"/>
          <p:cNvSpPr txBox="1"/>
          <p:nvPr/>
        </p:nvSpPr>
        <p:spPr>
          <a:xfrm>
            <a:off x="7973568" y="4096512"/>
            <a:ext cx="3447288" cy="292608"/>
          </a:xfrm>
          <a:prstGeom prst="rect">
            <a:avLst/>
          </a:prstGeom>
          <a:noFill/>
        </p:spPr>
        <p:txBody>
          <a:bodyPr wrap="square" lIns="13716" rIns="13716" tIns="13716" bIns="13716" anchor="t">
            <a:spAutoFit/>
          </a:bodyPr>
          <a:lstStyle/>
          <a:p>
            <a:pPr algn="l">
              <a:lnSpc>
                <a:spcPct val="108000"/>
              </a:lnSpc>
              <a:spcAft>
                <a:spcPts val="300"/>
              </a:spcAft>
              <a:defRPr sz="1650" b="0">
                <a:solidFill>
                  <a:srgbClr val="A8B8AC"/>
                </a:solidFill>
                <a:latin typeface="Arial"/>
              </a:defRPr>
            </a:pPr>
            <a:r>
              <a:t>Check stairs and reported barriers</a:t>
            </a:r>
          </a:p>
        </p:txBody>
      </p:sp>
      <p:sp>
        <p:nvSpPr>
          <p:cNvPr id="61" name="Panel 60"/>
          <p:cNvSpPr/>
          <p:nvPr/>
        </p:nvSpPr>
        <p:spPr>
          <a:xfrm>
            <a:off x="7772400" y="4718304"/>
            <a:ext cx="3840480" cy="105156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 61"/>
          <p:cNvSpPr txBox="1"/>
          <p:nvPr/>
        </p:nvSpPr>
        <p:spPr>
          <a:xfrm>
            <a:off x="7973568" y="4873752"/>
            <a:ext cx="3447288" cy="310896"/>
          </a:xfrm>
          <a:prstGeom prst="rect">
            <a:avLst/>
          </a:prstGeom>
          <a:noFill/>
        </p:spPr>
        <p:txBody>
          <a:bodyPr wrap="square" lIns="13716" rIns="13716" tIns="13716" bIns="13716" anchor="t">
            <a:spAutoFit/>
          </a:bodyPr>
          <a:lstStyle/>
          <a:p>
            <a:pPr algn="l">
              <a:lnSpc>
                <a:spcPct val="108000"/>
              </a:lnSpc>
              <a:spcAft>
                <a:spcPts val="300"/>
              </a:spcAft>
              <a:defRPr sz="2000" b="1">
                <a:solidFill>
                  <a:srgbClr val="F2F5EE"/>
                </a:solidFill>
                <a:latin typeface="Arial"/>
              </a:defRPr>
            </a:pPr>
            <a:r>
              <a:t>Choice</a:t>
            </a:r>
          </a:p>
        </p:txBody>
      </p:sp>
      <p:sp>
        <p:nvSpPr>
          <p:cNvPr id="63" name="Text 62"/>
          <p:cNvSpPr txBox="1"/>
          <p:nvPr/>
        </p:nvSpPr>
        <p:spPr>
          <a:xfrm>
            <a:off x="7973568" y="5312664"/>
            <a:ext cx="3447288" cy="292608"/>
          </a:xfrm>
          <a:prstGeom prst="rect">
            <a:avLst/>
          </a:prstGeom>
          <a:noFill/>
        </p:spPr>
        <p:txBody>
          <a:bodyPr wrap="square" lIns="13716" rIns="13716" tIns="13716" bIns="13716" anchor="t">
            <a:spAutoFit/>
          </a:bodyPr>
          <a:lstStyle/>
          <a:p>
            <a:pPr algn="l">
              <a:lnSpc>
                <a:spcPct val="108000"/>
              </a:lnSpc>
              <a:spcAft>
                <a:spcPts val="300"/>
              </a:spcAft>
              <a:defRPr sz="1650" b="0">
                <a:solidFill>
                  <a:srgbClr val="A8B8AC"/>
                </a:solidFill>
                <a:latin typeface="Arial"/>
              </a:defRPr>
            </a:pPr>
            <a:r>
              <a:t>Compare complete walking loops</a:t>
            </a:r>
          </a:p>
        </p:txBody>
      </p:sp>
      <p:sp>
        <p:nvSpPr>
          <p:cNvPr id="64"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80" fill="hold"/>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280" fill="hold"/>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280" fill="hold"/>
                                        <p:tgtEl>
                                          <p:spTgt spid="3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280" fill="hold"/>
                                        <p:tgtEl>
                                          <p:spTgt spid="4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280" fill="hold"/>
                                        <p:tgtEl>
                                          <p:spTgt spid="4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280" fill="hold"/>
                                        <p:tgtEl>
                                          <p:spTgt spid="4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280" fill="hold"/>
                                        <p:tgtEl>
                                          <p:spTgt spid="4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fade">
                                      <p:cBhvr>
                                        <p:cTn id="30" dur="280" fill="hold"/>
                                        <p:tgtEl>
                                          <p:spTgt spid="4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fade">
                                      <p:cBhvr>
                                        <p:cTn id="33" dur="280" fill="hold"/>
                                        <p:tgtEl>
                                          <p:spTgt spid="4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fade">
                                      <p:cBhvr>
                                        <p:cTn id="36" dur="280" fill="hold"/>
                                        <p:tgtEl>
                                          <p:spTgt spid="4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fade">
                                      <p:cBhvr>
                                        <p:cTn id="39" dur="280" fill="hold"/>
                                        <p:tgtEl>
                                          <p:spTgt spid="4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280" fill="hold"/>
                                        <p:tgtEl>
                                          <p:spTgt spid="4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fade">
                                      <p:cBhvr>
                                        <p:cTn id="45" dur="280" fill="hold"/>
                                        <p:tgtEl>
                                          <p:spTgt spid="4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0"/>
                                        </p:tgtEl>
                                        <p:attrNameLst>
                                          <p:attrName>style.visibility</p:attrName>
                                        </p:attrNameLst>
                                      </p:cBhvr>
                                      <p:to>
                                        <p:strVal val="visible"/>
                                      </p:to>
                                    </p:set>
                                    <p:animEffect transition="in" filter="fade">
                                      <p:cBhvr>
                                        <p:cTn id="48" dur="280" fill="hold"/>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uild="allAtOnce" animBg="1"/>
      <p:bldP spid="38" grpId="0" build="allAtOnce" animBg="1"/>
      <p:bldP spid="39" grpId="0" build="allAtOnce" animBg="1"/>
      <p:bldP spid="40" grpId="0" build="allAtOnce" animBg="1"/>
      <p:bldP spid="41" grpId="0" build="allAtOnce" animBg="1"/>
      <p:bldP spid="42" grpId="0" build="allAtOnce" animBg="1"/>
      <p:bldP spid="43" grpId="0" build="allAtOnce" animBg="1"/>
      <p:bldP spid="44" grpId="0" build="allAtOnce" animBg="1"/>
      <p:bldP spid="45" grpId="0" build="allAtOnce" animBg="1"/>
      <p:bldP spid="46" grpId="0" build="allAtOnce" animBg="1"/>
      <p:bldP spid="47" grpId="0" build="allAtOnce" animBg="1"/>
      <p:bldP spid="48" grpId="0" build="allAtOnce" animBg="1"/>
      <p:bldP spid="49" grpId="0" build="allAtOnce" animBg="1"/>
      <p:bldP spid="50" grpId="0" build="allAtOnce"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BUSINESS</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Start with one manageable corridor</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A limited pilot concentrates data work and service quality</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05</a:t>
            </a:r>
          </a:p>
        </p:txBody>
      </p:sp>
      <p:sp>
        <p:nvSpPr>
          <p:cNvPr id="8" name="Text 7"/>
          <p:cNvSpPr txBox="1"/>
          <p:nvPr/>
        </p:nvSpPr>
        <p:spPr>
          <a:xfrm>
            <a:off x="685800" y="2194560"/>
            <a:ext cx="3383280" cy="914400"/>
          </a:xfrm>
          <a:prstGeom prst="rect">
            <a:avLst/>
          </a:prstGeom>
          <a:noFill/>
        </p:spPr>
        <p:txBody>
          <a:bodyPr wrap="square" lIns="13716" rIns="13716" tIns="13716" bIns="13716" anchor="t">
            <a:spAutoFit/>
          </a:bodyPr>
          <a:lstStyle/>
          <a:p>
            <a:pPr algn="l">
              <a:lnSpc>
                <a:spcPct val="108000"/>
              </a:lnSpc>
              <a:spcAft>
                <a:spcPts val="300"/>
              </a:spcAft>
              <a:defRPr sz="5600" b="1">
                <a:solidFill>
                  <a:srgbClr val="79DCAF"/>
                </a:solidFill>
                <a:latin typeface="Arial"/>
              </a:defRPr>
            </a:pPr>
            <a:r>
              <a:t>15 km²</a:t>
            </a:r>
          </a:p>
        </p:txBody>
      </p:sp>
      <p:sp>
        <p:nvSpPr>
          <p:cNvPr id="9" name="Text 8"/>
          <p:cNvSpPr txBox="1"/>
          <p:nvPr/>
        </p:nvSpPr>
        <p:spPr>
          <a:xfrm>
            <a:off x="713232" y="3291840"/>
            <a:ext cx="3200400" cy="960120"/>
          </a:xfrm>
          <a:prstGeom prst="rect">
            <a:avLst/>
          </a:prstGeom>
          <a:noFill/>
        </p:spPr>
        <p:txBody>
          <a:bodyPr wrap="square" lIns="13716" rIns="13716" tIns="13716" bIns="13716" anchor="t">
            <a:spAutoFit/>
          </a:bodyPr>
          <a:lstStyle/>
          <a:p>
            <a:pPr algn="l">
              <a:lnSpc>
                <a:spcPct val="108000"/>
              </a:lnSpc>
              <a:spcAft>
                <a:spcPts val="300"/>
              </a:spcAft>
              <a:defRPr sz="2400" b="1">
                <a:solidFill>
                  <a:srgbClr val="F2F5EE"/>
                </a:solidFill>
                <a:latin typeface="Arial"/>
              </a:defRPr>
            </a:pPr>
            <a:r>
              <a:t>Proposed central</a:t>
            </a:r>
          </a:p>
          <a:p>
            <a:pPr algn="l">
              <a:lnSpc>
                <a:spcPct val="108000"/>
              </a:lnSpc>
              <a:spcAft>
                <a:spcPts val="300"/>
              </a:spcAft>
              <a:defRPr sz="2400" b="1">
                <a:solidFill>
                  <a:srgbClr val="F2F5EE"/>
                </a:solidFill>
                <a:latin typeface="Arial"/>
              </a:defRPr>
            </a:pPr>
            <a:r>
              <a:t>Tashkent pilot</a:t>
            </a:r>
          </a:p>
        </p:txBody>
      </p:sp>
      <p:sp>
        <p:nvSpPr>
          <p:cNvPr id="10" name="Text 9"/>
          <p:cNvSpPr txBox="1"/>
          <p:nvPr/>
        </p:nvSpPr>
        <p:spPr>
          <a:xfrm>
            <a:off x="713232" y="4526280"/>
            <a:ext cx="3200400" cy="1143000"/>
          </a:xfrm>
          <a:prstGeom prst="rect">
            <a:avLst/>
          </a:prstGeom>
          <a:noFill/>
        </p:spPr>
        <p:txBody>
          <a:bodyPr wrap="square" lIns="13716" rIns="13716" tIns="13716" bIns="13716" anchor="t">
            <a:spAutoFit/>
          </a:bodyPr>
          <a:lstStyle/>
          <a:p>
            <a:pPr algn="l">
              <a:lnSpc>
                <a:spcPct val="108000"/>
              </a:lnSpc>
              <a:spcAft>
                <a:spcPts val="300"/>
              </a:spcAft>
              <a:defRPr sz="1900" b="0">
                <a:solidFill>
                  <a:srgbClr val="A8B8AC"/>
                </a:solidFill>
                <a:latin typeface="Arial"/>
              </a:defRPr>
            </a:pPr>
            <a:r>
              <a:t>Mirabad and Yakkasaroy</a:t>
            </a:r>
          </a:p>
          <a:p>
            <a:pPr algn="l">
              <a:lnSpc>
                <a:spcPct val="108000"/>
              </a:lnSpc>
              <a:spcAft>
                <a:spcPts val="300"/>
              </a:spcAft>
              <a:defRPr sz="1900" b="0">
                <a:solidFill>
                  <a:srgbClr val="A8B8AC"/>
                </a:solidFill>
                <a:latin typeface="Arial"/>
              </a:defRPr>
            </a:pPr>
            <a:r>
              <a:t>30 starter loops</a:t>
            </a:r>
          </a:p>
          <a:p>
            <a:pPr algn="l">
              <a:lnSpc>
                <a:spcPct val="108000"/>
              </a:lnSpc>
              <a:spcAft>
                <a:spcPts val="300"/>
              </a:spcAft>
              <a:defRPr sz="1900" b="0">
                <a:solidFill>
                  <a:srgbClr val="A8B8AC"/>
                </a:solidFill>
                <a:latin typeface="Arial"/>
              </a:defRPr>
            </a:pPr>
            <a:r>
              <a:t>Audit before expansion</a:t>
            </a:r>
          </a:p>
        </p:txBody>
      </p:sp>
      <p:sp>
        <p:nvSpPr>
          <p:cNvPr id="11" name="Map canvas"/>
          <p:cNvSpPr/>
          <p:nvPr/>
        </p:nvSpPr>
        <p:spPr>
          <a:xfrm>
            <a:off x="4297680" y="2240280"/>
            <a:ext cx="7223760" cy="3520440"/>
          </a:xfrm>
          <a:prstGeom prst="roundRect">
            <a:avLst>
              <a:gd name="adj" fmla="val 9000"/>
            </a:avLst>
          </a:prstGeom>
          <a:solidFill>
            <a:srgbClr val="142C30"/>
          </a:solidFill>
          <a:ln w="12700">
            <a:solidFill>
              <a:srgbClr val="355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ad_v_1"/>
          <p:cNvSpPr/>
          <p:nvPr/>
        </p:nvSpPr>
        <p:spPr>
          <a:xfrm>
            <a:off x="5366997" y="2350008"/>
            <a:ext cx="322197" cy="3154680"/>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ad_v_2"/>
          <p:cNvSpPr/>
          <p:nvPr/>
        </p:nvSpPr>
        <p:spPr>
          <a:xfrm>
            <a:off x="7538331" y="2350008"/>
            <a:ext cx="322197" cy="3154680"/>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ad_v_3"/>
          <p:cNvSpPr/>
          <p:nvPr/>
        </p:nvSpPr>
        <p:spPr>
          <a:xfrm>
            <a:off x="9779709" y="2350008"/>
            <a:ext cx="322197" cy="3154680"/>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ad_h_1"/>
          <p:cNvSpPr/>
          <p:nvPr/>
        </p:nvSpPr>
        <p:spPr>
          <a:xfrm>
            <a:off x="4407408" y="2714373"/>
            <a:ext cx="7004304" cy="21767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ad_h_2"/>
          <p:cNvSpPr/>
          <p:nvPr/>
        </p:nvSpPr>
        <p:spPr>
          <a:xfrm>
            <a:off x="4407408" y="3786964"/>
            <a:ext cx="7004304" cy="21767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ad_h_3"/>
          <p:cNvSpPr/>
          <p:nvPr/>
        </p:nvSpPr>
        <p:spPr>
          <a:xfrm>
            <a:off x="4407408" y="4828009"/>
            <a:ext cx="7004304" cy="21767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ark_01"/>
          <p:cNvSpPr/>
          <p:nvPr/>
        </p:nvSpPr>
        <p:spPr>
          <a:xfrm>
            <a:off x="4512472" y="4100855"/>
            <a:ext cx="665408" cy="630936"/>
          </a:xfrm>
          <a:prstGeom prst="rect">
            <a:avLst/>
          </a:prstGeom>
          <a:solidFill>
            <a:srgbClr val="235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hadow building_01"/>
          <p:cNvSpPr/>
          <p:nvPr/>
        </p:nvSpPr>
        <p:spPr>
          <a:xfrm>
            <a:off x="5983376" y="2979571"/>
            <a:ext cx="1155710" cy="616535"/>
          </a:xfrm>
          <a:custGeom>
            <a:avLst/>
            <a:gdLst/>
            <a:ahLst/>
            <a:cxnLst/>
            <a:rect l="l" t="t" r="r" b="b"/>
            <a:pathLst>
              <a:path w="1155710" h="616535">
                <a:moveTo>
                  <a:pt x="0" y="0"/>
                </a:moveTo>
                <a:lnTo>
                  <a:pt x="1155710" y="0"/>
                </a:lnTo>
                <a:lnTo>
                  <a:pt x="1155710" y="616535"/>
                </a:lnTo>
                <a:lnTo>
                  <a:pt x="0" y="616535"/>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hadow building_02"/>
          <p:cNvSpPr/>
          <p:nvPr/>
        </p:nvSpPr>
        <p:spPr>
          <a:xfrm>
            <a:off x="8154710" y="2999632"/>
            <a:ext cx="1190732" cy="580701"/>
          </a:xfrm>
          <a:custGeom>
            <a:avLst/>
            <a:gdLst/>
            <a:ahLst/>
            <a:cxnLst/>
            <a:rect l="l" t="t" r="r" b="b"/>
            <a:pathLst>
              <a:path w="1190732" h="580701">
                <a:moveTo>
                  <a:pt x="0" y="0"/>
                </a:moveTo>
                <a:lnTo>
                  <a:pt x="1190732" y="0"/>
                </a:lnTo>
                <a:lnTo>
                  <a:pt x="1190732" y="580701"/>
                </a:lnTo>
                <a:lnTo>
                  <a:pt x="0" y="580701"/>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hadow building_03"/>
          <p:cNvSpPr/>
          <p:nvPr/>
        </p:nvSpPr>
        <p:spPr>
          <a:xfrm>
            <a:off x="5983376" y="4065535"/>
            <a:ext cx="1155710" cy="587389"/>
          </a:xfrm>
          <a:custGeom>
            <a:avLst/>
            <a:gdLst/>
            <a:ahLst/>
            <a:cxnLst/>
            <a:rect l="l" t="t" r="r" b="b"/>
            <a:pathLst>
              <a:path w="1155710" h="587389">
                <a:moveTo>
                  <a:pt x="0" y="0"/>
                </a:moveTo>
                <a:lnTo>
                  <a:pt x="1155710" y="0"/>
                </a:lnTo>
                <a:lnTo>
                  <a:pt x="1155710" y="587389"/>
                </a:lnTo>
                <a:lnTo>
                  <a:pt x="0" y="587389"/>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hadow building_04"/>
          <p:cNvSpPr/>
          <p:nvPr/>
        </p:nvSpPr>
        <p:spPr>
          <a:xfrm>
            <a:off x="8154710" y="4038790"/>
            <a:ext cx="1190732" cy="614134"/>
          </a:xfrm>
          <a:custGeom>
            <a:avLst/>
            <a:gdLst/>
            <a:ahLst/>
            <a:cxnLst/>
            <a:rect l="l" t="t" r="r" b="b"/>
            <a:pathLst>
              <a:path w="1190732" h="614134">
                <a:moveTo>
                  <a:pt x="0" y="0"/>
                </a:moveTo>
                <a:lnTo>
                  <a:pt x="1190732" y="0"/>
                </a:lnTo>
                <a:lnTo>
                  <a:pt x="1190732" y="614134"/>
                </a:lnTo>
                <a:lnTo>
                  <a:pt x="0" y="614134"/>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hadow building_05"/>
          <p:cNvSpPr/>
          <p:nvPr/>
        </p:nvSpPr>
        <p:spPr>
          <a:xfrm>
            <a:off x="10361066" y="3002033"/>
            <a:ext cx="735452" cy="594073"/>
          </a:xfrm>
          <a:custGeom>
            <a:avLst/>
            <a:gdLst/>
            <a:ahLst/>
            <a:cxnLst/>
            <a:rect l="l" t="t" r="r" b="b"/>
            <a:pathLst>
              <a:path w="735452" h="594073">
                <a:moveTo>
                  <a:pt x="0" y="0"/>
                </a:moveTo>
                <a:lnTo>
                  <a:pt x="735452" y="0"/>
                </a:lnTo>
                <a:lnTo>
                  <a:pt x="735452" y="594073"/>
                </a:lnTo>
                <a:lnTo>
                  <a:pt x="0" y="594073"/>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hadow building_06"/>
          <p:cNvSpPr/>
          <p:nvPr/>
        </p:nvSpPr>
        <p:spPr>
          <a:xfrm>
            <a:off x="10361066" y="4087996"/>
            <a:ext cx="735452" cy="564928"/>
          </a:xfrm>
          <a:custGeom>
            <a:avLst/>
            <a:gdLst/>
            <a:ahLst/>
            <a:cxnLst/>
            <a:rect l="l" t="t" r="r" b="b"/>
            <a:pathLst>
              <a:path w="735452" h="564928">
                <a:moveTo>
                  <a:pt x="0" y="0"/>
                </a:moveTo>
                <a:lnTo>
                  <a:pt x="735452" y="0"/>
                </a:lnTo>
                <a:lnTo>
                  <a:pt x="735452" y="564928"/>
                </a:lnTo>
                <a:lnTo>
                  <a:pt x="0" y="564928"/>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hadow building_07"/>
          <p:cNvSpPr/>
          <p:nvPr/>
        </p:nvSpPr>
        <p:spPr>
          <a:xfrm>
            <a:off x="4582515" y="3025434"/>
            <a:ext cx="525323" cy="586446"/>
          </a:xfrm>
          <a:custGeom>
            <a:avLst/>
            <a:gdLst/>
            <a:ahLst/>
            <a:cxnLst/>
            <a:rect l="l" t="t" r="r" b="b"/>
            <a:pathLst>
              <a:path w="525323" h="586446">
                <a:moveTo>
                  <a:pt x="0" y="0"/>
                </a:moveTo>
                <a:lnTo>
                  <a:pt x="525323" y="0"/>
                </a:lnTo>
                <a:lnTo>
                  <a:pt x="525323" y="586446"/>
                </a:lnTo>
                <a:lnTo>
                  <a:pt x="0" y="586446"/>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uilding_01"/>
          <p:cNvSpPr/>
          <p:nvPr/>
        </p:nvSpPr>
        <p:spPr>
          <a:xfrm>
            <a:off x="5983376" y="3059811"/>
            <a:ext cx="1155710" cy="536295"/>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building_01 roof 1"/>
          <p:cNvCxnSpPr/>
          <p:nvPr/>
        </p:nvCxnSpPr>
        <p:spPr>
          <a:xfrm>
            <a:off x="6095445" y="3122904"/>
            <a:ext cx="931572"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8" name="!!building_02"/>
          <p:cNvSpPr/>
          <p:nvPr/>
        </p:nvSpPr>
        <p:spPr>
          <a:xfrm>
            <a:off x="8154710" y="3059811"/>
            <a:ext cx="1190731" cy="520522"/>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building_02 roof 1"/>
          <p:cNvCxnSpPr/>
          <p:nvPr/>
        </p:nvCxnSpPr>
        <p:spPr>
          <a:xfrm>
            <a:off x="8266779" y="3122904"/>
            <a:ext cx="966594"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0" name="!!building_03"/>
          <p:cNvSpPr/>
          <p:nvPr/>
        </p:nvSpPr>
        <p:spPr>
          <a:xfrm>
            <a:off x="5983376" y="4132402"/>
            <a:ext cx="1155710" cy="520522"/>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building_03 roof 1"/>
          <p:cNvCxnSpPr/>
          <p:nvPr/>
        </p:nvCxnSpPr>
        <p:spPr>
          <a:xfrm>
            <a:off x="6095445" y="4195495"/>
            <a:ext cx="931572"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2" name="!!building_04"/>
          <p:cNvSpPr/>
          <p:nvPr/>
        </p:nvSpPr>
        <p:spPr>
          <a:xfrm>
            <a:off x="8154710" y="4132402"/>
            <a:ext cx="1190731" cy="520522"/>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building_04 roof 1"/>
          <p:cNvCxnSpPr/>
          <p:nvPr/>
        </p:nvCxnSpPr>
        <p:spPr>
          <a:xfrm>
            <a:off x="8266779" y="4195495"/>
            <a:ext cx="966594"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4" name="!!building_05"/>
          <p:cNvSpPr/>
          <p:nvPr/>
        </p:nvSpPr>
        <p:spPr>
          <a:xfrm>
            <a:off x="10361066" y="3075584"/>
            <a:ext cx="735451" cy="520522"/>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building_05 roof 1"/>
          <p:cNvCxnSpPr/>
          <p:nvPr/>
        </p:nvCxnSpPr>
        <p:spPr>
          <a:xfrm>
            <a:off x="10473135" y="3138678"/>
            <a:ext cx="511314"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6" name="!!building_06"/>
          <p:cNvSpPr/>
          <p:nvPr/>
        </p:nvSpPr>
        <p:spPr>
          <a:xfrm>
            <a:off x="10361066" y="4148175"/>
            <a:ext cx="735451" cy="504748"/>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building_06 roof 1"/>
          <p:cNvCxnSpPr/>
          <p:nvPr/>
        </p:nvCxnSpPr>
        <p:spPr>
          <a:xfrm>
            <a:off x="10473135" y="4211269"/>
            <a:ext cx="511314"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8" name="!!building_07"/>
          <p:cNvSpPr/>
          <p:nvPr/>
        </p:nvSpPr>
        <p:spPr>
          <a:xfrm>
            <a:off x="4582515" y="3075584"/>
            <a:ext cx="525322" cy="536295"/>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building_07 roof 1"/>
          <p:cNvCxnSpPr/>
          <p:nvPr/>
        </p:nvCxnSpPr>
        <p:spPr>
          <a:xfrm>
            <a:off x="4694584" y="3138678"/>
            <a:ext cx="301185"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40" name="Text 39"/>
          <p:cNvSpPr txBox="1"/>
          <p:nvPr/>
        </p:nvSpPr>
        <p:spPr>
          <a:xfrm>
            <a:off x="4434840" y="5532120"/>
            <a:ext cx="6949440" cy="173736"/>
          </a:xfrm>
          <a:prstGeom prst="rect">
            <a:avLst/>
          </a:prstGeom>
          <a:noFill/>
        </p:spPr>
        <p:txBody>
          <a:bodyPr wrap="square" lIns="13716" rIns="13716" tIns="13716" bIns="13716" anchor="t">
            <a:spAutoFit/>
          </a:bodyPr>
          <a:lstStyle/>
          <a:p>
            <a:pPr algn="l">
              <a:lnSpc>
                <a:spcPct val="108000"/>
              </a:lnSpc>
              <a:spcAft>
                <a:spcPts val="300"/>
              </a:spcAft>
              <a:defRPr sz="900" b="1">
                <a:solidFill>
                  <a:srgbClr val="A8B8AC"/>
                </a:solidFill>
                <a:latin typeface="Arial"/>
              </a:defRPr>
            </a:pPr>
            <a:r>
              <a:t>ILLUSTRATIVE SCHEME · ASSUMED SUN ANGLES</a:t>
            </a:r>
          </a:p>
        </p:txBody>
      </p:sp>
      <p:sp>
        <p:nvSpPr>
          <p:cNvPr id="41" name="Text 40"/>
          <p:cNvSpPr txBox="1"/>
          <p:nvPr/>
        </p:nvSpPr>
        <p:spPr>
          <a:xfrm>
            <a:off x="11137392" y="2359152"/>
            <a:ext cx="228600" cy="274320"/>
          </a:xfrm>
          <a:prstGeom prst="rect">
            <a:avLst/>
          </a:prstGeom>
          <a:noFill/>
        </p:spPr>
        <p:txBody>
          <a:bodyPr wrap="square" lIns="13716" rIns="13716" tIns="13716" bIns="13716" anchor="t">
            <a:spAutoFit/>
          </a:bodyPr>
          <a:lstStyle/>
          <a:p>
            <a:pPr algn="l">
              <a:lnSpc>
                <a:spcPct val="108000"/>
              </a:lnSpc>
              <a:spcAft>
                <a:spcPts val="300"/>
              </a:spcAft>
              <a:defRPr sz="1100" b="1">
                <a:solidFill>
                  <a:srgbClr val="F2F5EE"/>
                </a:solidFill>
                <a:latin typeface="Arial"/>
              </a:defRPr>
            </a:pPr>
            <a:r>
              <a:t>N</a:t>
            </a:r>
          </a:p>
        </p:txBody>
      </p:sp>
      <p:sp>
        <p:nvSpPr>
          <p:cNvPr id="42" name="Panel 41"/>
          <p:cNvSpPr/>
          <p:nvPr/>
        </p:nvSpPr>
        <p:spPr>
          <a:xfrm>
            <a:off x="4572000" y="5870448"/>
            <a:ext cx="6035040" cy="292608"/>
          </a:xfrm>
          <a:prstGeom prst="roundRect">
            <a:avLst>
              <a:gd name="adj" fmla="val 9000"/>
            </a:avLst>
          </a:prstGeom>
          <a:solidFill>
            <a:srgbClr val="22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 42"/>
          <p:cNvSpPr txBox="1"/>
          <p:nvPr/>
        </p:nvSpPr>
        <p:spPr>
          <a:xfrm>
            <a:off x="4663440" y="5907024"/>
            <a:ext cx="5852159" cy="219456"/>
          </a:xfrm>
          <a:prstGeom prst="rect">
            <a:avLst/>
          </a:prstGeom>
          <a:noFill/>
        </p:spPr>
        <p:txBody>
          <a:bodyPr wrap="square" lIns="13716" rIns="13716" tIns="13716" bIns="13716" anchor="t">
            <a:spAutoFit/>
          </a:bodyPr>
          <a:lstStyle/>
          <a:p>
            <a:pPr algn="l">
              <a:lnSpc>
                <a:spcPct val="108000"/>
              </a:lnSpc>
              <a:spcAft>
                <a:spcPts val="300"/>
              </a:spcAft>
              <a:defRPr sz="1000" b="1">
                <a:solidFill>
                  <a:srgbClr val="79DCAF"/>
                </a:solidFill>
                <a:latin typeface="Arial"/>
              </a:defRPr>
            </a:pPr>
            <a:r>
              <a:t>PROPOSED AREA · SCHEMATIC STREET GEOMETRY</a:t>
            </a:r>
          </a:p>
        </p:txBody>
      </p:sp>
      <p:sp>
        <p:nvSpPr>
          <p:cNvPr id="44"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 · Overture Buildings</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BUSINESS</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Different users need different walking choices</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Choose one clear job for each segment</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06</a:t>
            </a:r>
          </a:p>
        </p:txBody>
      </p:sp>
      <p:sp>
        <p:nvSpPr>
          <p:cNvPr id="8" name="Panel 7"/>
          <p:cNvSpPr/>
          <p:nvPr/>
        </p:nvSpPr>
        <p:spPr>
          <a:xfrm>
            <a:off x="594360" y="2331720"/>
            <a:ext cx="3657600" cy="157276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777240" y="2542032"/>
            <a:ext cx="32918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Walkers</a:t>
            </a:r>
          </a:p>
        </p:txBody>
      </p:sp>
      <p:sp>
        <p:nvSpPr>
          <p:cNvPr id="10" name="Text 9"/>
          <p:cNvSpPr txBox="1"/>
          <p:nvPr/>
        </p:nvSpPr>
        <p:spPr>
          <a:xfrm>
            <a:off x="777240" y="3099815"/>
            <a:ext cx="3291840" cy="694944"/>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Repeatable shaded loops</a:t>
            </a:r>
          </a:p>
        </p:txBody>
      </p:sp>
      <p:sp>
        <p:nvSpPr>
          <p:cNvPr id="11" name="Panel 10"/>
          <p:cNvSpPr/>
          <p:nvPr/>
        </p:nvSpPr>
        <p:spPr>
          <a:xfrm>
            <a:off x="4453128" y="2331720"/>
            <a:ext cx="3657600" cy="157276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4636008" y="2542032"/>
            <a:ext cx="32918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Families</a:t>
            </a:r>
          </a:p>
        </p:txBody>
      </p:sp>
      <p:sp>
        <p:nvSpPr>
          <p:cNvPr id="13" name="Text 12"/>
          <p:cNvSpPr txBox="1"/>
          <p:nvPr/>
        </p:nvSpPr>
        <p:spPr>
          <a:xfrm>
            <a:off x="4636008" y="3099815"/>
            <a:ext cx="3291840" cy="694944"/>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Current access information</a:t>
            </a:r>
          </a:p>
        </p:txBody>
      </p:sp>
      <p:sp>
        <p:nvSpPr>
          <p:cNvPr id="14" name="Panel 13"/>
          <p:cNvSpPr/>
          <p:nvPr/>
        </p:nvSpPr>
        <p:spPr>
          <a:xfrm>
            <a:off x="8311896" y="2331720"/>
            <a:ext cx="3657600" cy="157276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8494776" y="2542032"/>
            <a:ext cx="32918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Groups</a:t>
            </a:r>
          </a:p>
        </p:txBody>
      </p:sp>
      <p:sp>
        <p:nvSpPr>
          <p:cNvPr id="16" name="Text 15"/>
          <p:cNvSpPr txBox="1"/>
          <p:nvPr/>
        </p:nvSpPr>
        <p:spPr>
          <a:xfrm>
            <a:off x="8494776" y="3099815"/>
            <a:ext cx="3291840" cy="694944"/>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Compare options together</a:t>
            </a:r>
          </a:p>
        </p:txBody>
      </p:sp>
      <p:sp>
        <p:nvSpPr>
          <p:cNvPr id="17" name="Panel 16"/>
          <p:cNvSpPr/>
          <p:nvPr/>
        </p:nvSpPr>
        <p:spPr>
          <a:xfrm>
            <a:off x="594360" y="4114800"/>
            <a:ext cx="3657600" cy="157276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777240" y="4325112"/>
            <a:ext cx="32918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Creators</a:t>
            </a:r>
          </a:p>
        </p:txBody>
      </p:sp>
      <p:sp>
        <p:nvSpPr>
          <p:cNvPr id="19" name="Text 18"/>
          <p:cNvSpPr txBox="1"/>
          <p:nvPr/>
        </p:nvSpPr>
        <p:spPr>
          <a:xfrm>
            <a:off x="777240" y="4882896"/>
            <a:ext cx="3291840" cy="694943"/>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Report changes and barriers</a:t>
            </a:r>
          </a:p>
        </p:txBody>
      </p:sp>
      <p:sp>
        <p:nvSpPr>
          <p:cNvPr id="20" name="Panel 19"/>
          <p:cNvSpPr/>
          <p:nvPr/>
        </p:nvSpPr>
        <p:spPr>
          <a:xfrm>
            <a:off x="4453128" y="4114800"/>
            <a:ext cx="3657600" cy="157276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20"/>
          <p:cNvSpPr txBox="1"/>
          <p:nvPr/>
        </p:nvSpPr>
        <p:spPr>
          <a:xfrm>
            <a:off x="4636008" y="4325112"/>
            <a:ext cx="32918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Cafes</a:t>
            </a:r>
          </a:p>
        </p:txBody>
      </p:sp>
      <p:sp>
        <p:nvSpPr>
          <p:cNvPr id="22" name="Text 21"/>
          <p:cNvSpPr txBox="1"/>
          <p:nvPr/>
        </p:nvSpPr>
        <p:spPr>
          <a:xfrm>
            <a:off x="4636008" y="4882896"/>
            <a:ext cx="3291840" cy="694943"/>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Relevant and measurable visits</a:t>
            </a:r>
          </a:p>
        </p:txBody>
      </p:sp>
      <p:sp>
        <p:nvSpPr>
          <p:cNvPr id="23" name="Panel 22"/>
          <p:cNvSpPr/>
          <p:nvPr/>
        </p:nvSpPr>
        <p:spPr>
          <a:xfrm>
            <a:off x="8311896" y="4114800"/>
            <a:ext cx="3657600" cy="157276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23"/>
          <p:cNvSpPr txBox="1"/>
          <p:nvPr/>
        </p:nvSpPr>
        <p:spPr>
          <a:xfrm>
            <a:off x="8494776" y="4325112"/>
            <a:ext cx="32918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Alternatives to benchmark</a:t>
            </a:r>
          </a:p>
        </p:txBody>
      </p:sp>
      <p:sp>
        <p:nvSpPr>
          <p:cNvPr id="25" name="Text 24"/>
          <p:cNvSpPr txBox="1"/>
          <p:nvPr/>
        </p:nvSpPr>
        <p:spPr>
          <a:xfrm>
            <a:off x="8494776" y="4882896"/>
            <a:ext cx="3291840" cy="694943"/>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General map apps and walking communities</a:t>
            </a:r>
          </a:p>
        </p:txBody>
      </p:sp>
      <p:sp>
        <p:nvSpPr>
          <p:cNvPr id="26"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 · Bovée and Thill 2020</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80" fill="hold"/>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80" fill="hold"/>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280" fill="hold"/>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280" fill="hold"/>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280" fill="hold"/>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280" fill="hold"/>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280" fill="hold"/>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280" fill="hold"/>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280" fill="hold"/>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280" fill="hold"/>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280" fill="hold"/>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2" grpId="0" build="allAtOnce" animBg="1"/>
      <p:bldP spid="13" grpId="0" build="allAtOnce" animBg="1"/>
      <p:bldP spid="14" grpId="0" build="allAtOnce" animBg="1"/>
      <p:bldP spid="15" grpId="0" build="allAtOnce" animBg="1"/>
      <p:bldP spid="16" grpId="0" build="allAtOnce" animBg="1"/>
      <p:bldP spid="17" grpId="0" build="allAtOnce" animBg="1"/>
      <p:bldP spid="18" grpId="0" build="allAtOnce" animBg="1"/>
      <p:bldP spid="19" grpId="0" build="allAtOnce" animBg="1"/>
      <p:bldP spid="20" grpId="0" build="allAtOnce" animBg="1"/>
      <p:bldP spid="21" grpId="0" build="allAtOnce" animBg="1"/>
      <p:bldP spid="22" grpId="0" build="allAtOnce"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BUSINESS</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A route people can inspect before they walk</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The interface makes the reason for a recommendation visible</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07</a:t>
            </a:r>
          </a:p>
        </p:txBody>
      </p:sp>
      <p:sp>
        <p:nvSpPr>
          <p:cNvPr id="8" name="Map canvas"/>
          <p:cNvSpPr/>
          <p:nvPr/>
        </p:nvSpPr>
        <p:spPr>
          <a:xfrm>
            <a:off x="566928" y="2240280"/>
            <a:ext cx="6949440" cy="3794760"/>
          </a:xfrm>
          <a:prstGeom prst="roundRect">
            <a:avLst>
              <a:gd name="adj" fmla="val 9000"/>
            </a:avLst>
          </a:prstGeom>
          <a:solidFill>
            <a:srgbClr val="142C30"/>
          </a:solidFill>
          <a:ln w="12700">
            <a:solidFill>
              <a:srgbClr val="355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ad_v_1"/>
          <p:cNvSpPr/>
          <p:nvPr/>
        </p:nvSpPr>
        <p:spPr>
          <a:xfrm>
            <a:off x="1598663" y="2350008"/>
            <a:ext cx="309579" cy="3429000"/>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ad_v_2"/>
          <p:cNvSpPr/>
          <p:nvPr/>
        </p:nvSpPr>
        <p:spPr>
          <a:xfrm>
            <a:off x="3684958" y="2350008"/>
            <a:ext cx="309579" cy="3429000"/>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ad_v_3"/>
          <p:cNvSpPr/>
          <p:nvPr/>
        </p:nvSpPr>
        <p:spPr>
          <a:xfrm>
            <a:off x="5838553" y="2350008"/>
            <a:ext cx="309579" cy="3429000"/>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ad_h_1"/>
          <p:cNvSpPr/>
          <p:nvPr/>
        </p:nvSpPr>
        <p:spPr>
          <a:xfrm>
            <a:off x="676656" y="2746057"/>
            <a:ext cx="6729983" cy="236601"/>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ad_h_2"/>
          <p:cNvSpPr/>
          <p:nvPr/>
        </p:nvSpPr>
        <p:spPr>
          <a:xfrm>
            <a:off x="676656" y="3911917"/>
            <a:ext cx="6729983" cy="236601"/>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ad_h_3"/>
          <p:cNvSpPr/>
          <p:nvPr/>
        </p:nvSpPr>
        <p:spPr>
          <a:xfrm>
            <a:off x="676656" y="5043487"/>
            <a:ext cx="6729983" cy="236601"/>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rk_01"/>
          <p:cNvSpPr/>
          <p:nvPr/>
        </p:nvSpPr>
        <p:spPr>
          <a:xfrm>
            <a:off x="777605" y="4253103"/>
            <a:ext cx="639348" cy="685800"/>
          </a:xfrm>
          <a:prstGeom prst="rect">
            <a:avLst/>
          </a:prstGeom>
          <a:solidFill>
            <a:srgbClr val="235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hadow building_01"/>
          <p:cNvSpPr/>
          <p:nvPr/>
        </p:nvSpPr>
        <p:spPr>
          <a:xfrm>
            <a:off x="2190902" y="2945776"/>
            <a:ext cx="1742278" cy="758687"/>
          </a:xfrm>
          <a:custGeom>
            <a:avLst/>
            <a:gdLst/>
            <a:ahLst/>
            <a:cxnLst/>
            <a:rect l="l" t="t" r="r" b="b"/>
            <a:pathLst>
              <a:path w="1742278" h="758687">
                <a:moveTo>
                  <a:pt x="0" y="175757"/>
                </a:moveTo>
                <a:lnTo>
                  <a:pt x="631831" y="0"/>
                </a:lnTo>
                <a:lnTo>
                  <a:pt x="1742278" y="0"/>
                </a:lnTo>
                <a:lnTo>
                  <a:pt x="1742278" y="582930"/>
                </a:lnTo>
                <a:lnTo>
                  <a:pt x="1110447" y="758687"/>
                </a:lnTo>
                <a:lnTo>
                  <a:pt x="0" y="758687"/>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hadow building_02"/>
          <p:cNvSpPr/>
          <p:nvPr/>
        </p:nvSpPr>
        <p:spPr>
          <a:xfrm>
            <a:off x="4277197" y="2989715"/>
            <a:ext cx="1617969" cy="697603"/>
          </a:xfrm>
          <a:custGeom>
            <a:avLst/>
            <a:gdLst/>
            <a:ahLst/>
            <a:cxnLst/>
            <a:rect l="l" t="t" r="r" b="b"/>
            <a:pathLst>
              <a:path w="1617969" h="697603">
                <a:moveTo>
                  <a:pt x="0" y="131818"/>
                </a:moveTo>
                <a:lnTo>
                  <a:pt x="473872" y="0"/>
                </a:lnTo>
                <a:lnTo>
                  <a:pt x="1617969" y="0"/>
                </a:lnTo>
                <a:lnTo>
                  <a:pt x="1617969" y="565785"/>
                </a:lnTo>
                <a:lnTo>
                  <a:pt x="1144097" y="697603"/>
                </a:lnTo>
                <a:lnTo>
                  <a:pt x="0" y="697603"/>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hadow building_03"/>
          <p:cNvSpPr/>
          <p:nvPr/>
        </p:nvSpPr>
        <p:spPr>
          <a:xfrm>
            <a:off x="2190902" y="4140930"/>
            <a:ext cx="1636974" cy="712248"/>
          </a:xfrm>
          <a:custGeom>
            <a:avLst/>
            <a:gdLst/>
            <a:ahLst/>
            <a:cxnLst/>
            <a:rect l="l" t="t" r="r" b="b"/>
            <a:pathLst>
              <a:path w="1636974" h="712248">
                <a:moveTo>
                  <a:pt x="0" y="146463"/>
                </a:moveTo>
                <a:lnTo>
                  <a:pt x="526527" y="0"/>
                </a:lnTo>
                <a:lnTo>
                  <a:pt x="1636974" y="0"/>
                </a:lnTo>
                <a:lnTo>
                  <a:pt x="1636974" y="565785"/>
                </a:lnTo>
                <a:lnTo>
                  <a:pt x="1110447" y="712248"/>
                </a:lnTo>
                <a:lnTo>
                  <a:pt x="0" y="712248"/>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hadow building_04"/>
          <p:cNvSpPr/>
          <p:nvPr/>
        </p:nvSpPr>
        <p:spPr>
          <a:xfrm>
            <a:off x="4277197" y="4082342"/>
            <a:ext cx="1881232" cy="770836"/>
          </a:xfrm>
          <a:custGeom>
            <a:avLst/>
            <a:gdLst/>
            <a:ahLst/>
            <a:cxnLst/>
            <a:rect l="l" t="t" r="r" b="b"/>
            <a:pathLst>
              <a:path w="1881232" h="770836">
                <a:moveTo>
                  <a:pt x="0" y="205051"/>
                </a:moveTo>
                <a:lnTo>
                  <a:pt x="737135" y="0"/>
                </a:lnTo>
                <a:lnTo>
                  <a:pt x="1881232" y="0"/>
                </a:lnTo>
                <a:lnTo>
                  <a:pt x="1881232" y="565785"/>
                </a:lnTo>
                <a:lnTo>
                  <a:pt x="1144097" y="770836"/>
                </a:lnTo>
                <a:lnTo>
                  <a:pt x="0" y="770836"/>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hadow building_05"/>
          <p:cNvSpPr/>
          <p:nvPr/>
        </p:nvSpPr>
        <p:spPr>
          <a:xfrm>
            <a:off x="6397142" y="2977566"/>
            <a:ext cx="1009498" cy="726897"/>
          </a:xfrm>
          <a:custGeom>
            <a:avLst/>
            <a:gdLst/>
            <a:ahLst/>
            <a:cxnLst/>
            <a:rect l="l" t="t" r="r" b="b"/>
            <a:pathLst>
              <a:path w="1009498" h="726897">
                <a:moveTo>
                  <a:pt x="0" y="161112"/>
                </a:moveTo>
                <a:lnTo>
                  <a:pt x="579176" y="0"/>
                </a:lnTo>
                <a:lnTo>
                  <a:pt x="1009498" y="0"/>
                </a:lnTo>
                <a:lnTo>
                  <a:pt x="1009498" y="642653"/>
                </a:lnTo>
                <a:lnTo>
                  <a:pt x="706648" y="726897"/>
                </a:lnTo>
                <a:lnTo>
                  <a:pt x="0" y="726897"/>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hadow building_06"/>
          <p:cNvSpPr/>
          <p:nvPr/>
        </p:nvSpPr>
        <p:spPr>
          <a:xfrm>
            <a:off x="6397142" y="4172720"/>
            <a:ext cx="1009498" cy="680458"/>
          </a:xfrm>
          <a:custGeom>
            <a:avLst/>
            <a:gdLst/>
            <a:ahLst/>
            <a:cxnLst/>
            <a:rect l="l" t="t" r="r" b="b"/>
            <a:pathLst>
              <a:path w="1009498" h="680458">
                <a:moveTo>
                  <a:pt x="0" y="131818"/>
                </a:moveTo>
                <a:lnTo>
                  <a:pt x="473872" y="0"/>
                </a:lnTo>
                <a:lnTo>
                  <a:pt x="1009498" y="0"/>
                </a:lnTo>
                <a:lnTo>
                  <a:pt x="1009498" y="596214"/>
                </a:lnTo>
                <a:lnTo>
                  <a:pt x="706648" y="680458"/>
                </a:lnTo>
                <a:lnTo>
                  <a:pt x="0" y="680458"/>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hadow building_07"/>
          <p:cNvSpPr/>
          <p:nvPr/>
        </p:nvSpPr>
        <p:spPr>
          <a:xfrm>
            <a:off x="844905" y="3028829"/>
            <a:ext cx="899644" cy="692779"/>
          </a:xfrm>
          <a:custGeom>
            <a:avLst/>
            <a:gdLst/>
            <a:ahLst/>
            <a:cxnLst/>
            <a:rect l="l" t="t" r="r" b="b"/>
            <a:pathLst>
              <a:path w="899644" h="692779">
                <a:moveTo>
                  <a:pt x="0" y="109849"/>
                </a:moveTo>
                <a:lnTo>
                  <a:pt x="394895" y="0"/>
                </a:lnTo>
                <a:lnTo>
                  <a:pt x="899644" y="0"/>
                </a:lnTo>
                <a:lnTo>
                  <a:pt x="899644" y="582930"/>
                </a:lnTo>
                <a:lnTo>
                  <a:pt x="504749" y="692779"/>
                </a:lnTo>
                <a:lnTo>
                  <a:pt x="0" y="692779"/>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ing_01"/>
          <p:cNvSpPr/>
          <p:nvPr/>
        </p:nvSpPr>
        <p:spPr>
          <a:xfrm>
            <a:off x="2190902" y="3121533"/>
            <a:ext cx="1110447" cy="582930"/>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building_01 roof 1"/>
          <p:cNvCxnSpPr/>
          <p:nvPr/>
        </p:nvCxnSpPr>
        <p:spPr>
          <a:xfrm>
            <a:off x="2298582" y="3190113"/>
            <a:ext cx="895088"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5" name="!!building_02"/>
          <p:cNvSpPr/>
          <p:nvPr/>
        </p:nvSpPr>
        <p:spPr>
          <a:xfrm>
            <a:off x="4277197" y="3121533"/>
            <a:ext cx="1144097" cy="565785"/>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building_02 roof 1"/>
          <p:cNvCxnSpPr/>
          <p:nvPr/>
        </p:nvCxnSpPr>
        <p:spPr>
          <a:xfrm>
            <a:off x="4384877" y="3190113"/>
            <a:ext cx="928737"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7" name="!!building_03"/>
          <p:cNvSpPr/>
          <p:nvPr/>
        </p:nvSpPr>
        <p:spPr>
          <a:xfrm>
            <a:off x="2190902" y="4287393"/>
            <a:ext cx="1110447" cy="565785"/>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building_03 roof 1"/>
          <p:cNvCxnSpPr/>
          <p:nvPr/>
        </p:nvCxnSpPr>
        <p:spPr>
          <a:xfrm>
            <a:off x="2298582" y="4355973"/>
            <a:ext cx="895088"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9" name="!!building_04"/>
          <p:cNvSpPr/>
          <p:nvPr/>
        </p:nvSpPr>
        <p:spPr>
          <a:xfrm>
            <a:off x="4277197" y="4287393"/>
            <a:ext cx="1144097" cy="565785"/>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building_04 roof 1"/>
          <p:cNvCxnSpPr/>
          <p:nvPr/>
        </p:nvCxnSpPr>
        <p:spPr>
          <a:xfrm>
            <a:off x="4384877" y="4355973"/>
            <a:ext cx="928737"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1" name="!!building_05"/>
          <p:cNvSpPr/>
          <p:nvPr/>
        </p:nvSpPr>
        <p:spPr>
          <a:xfrm>
            <a:off x="6397142" y="3138678"/>
            <a:ext cx="706648" cy="565785"/>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building_05 roof 1"/>
          <p:cNvCxnSpPr/>
          <p:nvPr/>
        </p:nvCxnSpPr>
        <p:spPr>
          <a:xfrm>
            <a:off x="6504822" y="3207258"/>
            <a:ext cx="491288"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3" name="!!building_06"/>
          <p:cNvSpPr/>
          <p:nvPr/>
        </p:nvSpPr>
        <p:spPr>
          <a:xfrm>
            <a:off x="6397142" y="4304538"/>
            <a:ext cx="706648" cy="548640"/>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building_06 roof 1"/>
          <p:cNvCxnSpPr/>
          <p:nvPr/>
        </p:nvCxnSpPr>
        <p:spPr>
          <a:xfrm>
            <a:off x="6504822" y="4373118"/>
            <a:ext cx="491288"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5" name="!!building_07"/>
          <p:cNvSpPr/>
          <p:nvPr/>
        </p:nvSpPr>
        <p:spPr>
          <a:xfrm>
            <a:off x="844905" y="3138678"/>
            <a:ext cx="504748" cy="582930"/>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building_07 roof 1"/>
          <p:cNvCxnSpPr/>
          <p:nvPr/>
        </p:nvCxnSpPr>
        <p:spPr>
          <a:xfrm>
            <a:off x="952585" y="3207258"/>
            <a:ext cx="289389"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cxnSp>
        <p:nvCxnSpPr>
          <p:cNvPr id="37" name="route_standard 1"/>
          <p:cNvCxnSpPr/>
          <p:nvPr/>
        </p:nvCxnSpPr>
        <p:spPr>
          <a:xfrm flipH="1" flipV="1">
            <a:off x="1672693" y="5100066"/>
            <a:ext cx="80760" cy="61722"/>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38" name="route_standard 2"/>
          <p:cNvCxnSpPr/>
          <p:nvPr/>
        </p:nvCxnSpPr>
        <p:spPr>
          <a:xfrm flipV="1">
            <a:off x="1672693" y="2802636"/>
            <a:ext cx="0" cy="229743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39" name="route_standard 3"/>
          <p:cNvCxnSpPr/>
          <p:nvPr/>
        </p:nvCxnSpPr>
        <p:spPr>
          <a:xfrm>
            <a:off x="1672693" y="2802636"/>
            <a:ext cx="4401410" cy="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0" name="route_standard 4"/>
          <p:cNvCxnSpPr/>
          <p:nvPr/>
        </p:nvCxnSpPr>
        <p:spPr>
          <a:xfrm>
            <a:off x="6074103" y="2802636"/>
            <a:ext cx="0" cy="2420874"/>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1" name="route_standard 5"/>
          <p:cNvCxnSpPr/>
          <p:nvPr/>
        </p:nvCxnSpPr>
        <p:spPr>
          <a:xfrm flipH="1">
            <a:off x="1834213" y="5223510"/>
            <a:ext cx="4239890" cy="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2" name="route_standard 6"/>
          <p:cNvCxnSpPr/>
          <p:nvPr/>
        </p:nvCxnSpPr>
        <p:spPr>
          <a:xfrm flipH="1" flipV="1">
            <a:off x="1753453" y="5161788"/>
            <a:ext cx="80760" cy="61722"/>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3" name="route_alternative 1"/>
          <p:cNvCxnSpPr/>
          <p:nvPr/>
        </p:nvCxnSpPr>
        <p:spPr>
          <a:xfrm flipV="1">
            <a:off x="1753453" y="5100066"/>
            <a:ext cx="80760" cy="61722"/>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4" name="route_alternative 2"/>
          <p:cNvCxnSpPr/>
          <p:nvPr/>
        </p:nvCxnSpPr>
        <p:spPr>
          <a:xfrm flipV="1">
            <a:off x="1834213" y="4081653"/>
            <a:ext cx="0" cy="1018413"/>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5" name="route_alternative 3"/>
          <p:cNvCxnSpPr/>
          <p:nvPr/>
        </p:nvCxnSpPr>
        <p:spPr>
          <a:xfrm>
            <a:off x="1834213" y="4081653"/>
            <a:ext cx="2119945"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6" name="route_alternative 4"/>
          <p:cNvCxnSpPr/>
          <p:nvPr/>
        </p:nvCxnSpPr>
        <p:spPr>
          <a:xfrm flipV="1">
            <a:off x="3954158" y="2926080"/>
            <a:ext cx="0" cy="1155573"/>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7" name="route_alternative 5"/>
          <p:cNvCxnSpPr/>
          <p:nvPr/>
        </p:nvCxnSpPr>
        <p:spPr>
          <a:xfrm>
            <a:off x="3954158" y="2926080"/>
            <a:ext cx="1958425"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8" name="route_alternative 6"/>
          <p:cNvCxnSpPr/>
          <p:nvPr/>
        </p:nvCxnSpPr>
        <p:spPr>
          <a:xfrm>
            <a:off x="5912583" y="2926080"/>
            <a:ext cx="0" cy="2173986"/>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9" name="route_alternative 7"/>
          <p:cNvCxnSpPr/>
          <p:nvPr/>
        </p:nvCxnSpPr>
        <p:spPr>
          <a:xfrm flipH="1">
            <a:off x="1834213" y="5100066"/>
            <a:ext cx="4078370"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50" name="route_alternative 8"/>
          <p:cNvCxnSpPr/>
          <p:nvPr/>
        </p:nvCxnSpPr>
        <p:spPr>
          <a:xfrm flipH="1">
            <a:off x="1753453" y="5100066"/>
            <a:ext cx="80760" cy="61722"/>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sp>
        <p:nvSpPr>
          <p:cNvPr id="51" name="Start point"/>
          <p:cNvSpPr/>
          <p:nvPr/>
        </p:nvSpPr>
        <p:spPr>
          <a:xfrm>
            <a:off x="1662013" y="5070348"/>
            <a:ext cx="182880" cy="182880"/>
          </a:xfrm>
          <a:prstGeom prst="ellipse">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tart centre"/>
          <p:cNvSpPr/>
          <p:nvPr/>
        </p:nvSpPr>
        <p:spPr>
          <a:xfrm>
            <a:off x="1707733" y="5116068"/>
            <a:ext cx="91440" cy="91440"/>
          </a:xfrm>
          <a:prstGeom prst="ellipse">
            <a:avLst/>
          </a:prstGeom>
          <a:solidFill>
            <a:srgbClr val="79DC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hoto point"/>
          <p:cNvSpPr/>
          <p:nvPr/>
        </p:nvSpPr>
        <p:spPr>
          <a:xfrm>
            <a:off x="3844430" y="3971925"/>
            <a:ext cx="219456" cy="219456"/>
          </a:xfrm>
          <a:prstGeom prst="ellipse">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 53"/>
          <p:cNvSpPr txBox="1"/>
          <p:nvPr/>
        </p:nvSpPr>
        <p:spPr>
          <a:xfrm>
            <a:off x="4091318" y="3962781"/>
            <a:ext cx="1371600" cy="365760"/>
          </a:xfrm>
          <a:prstGeom prst="rect">
            <a:avLst/>
          </a:prstGeom>
          <a:noFill/>
        </p:spPr>
        <p:txBody>
          <a:bodyPr wrap="square" lIns="13716" rIns="13716" tIns="13716" bIns="13716" anchor="t">
            <a:spAutoFit/>
          </a:bodyPr>
          <a:lstStyle/>
          <a:p>
            <a:pPr algn="l">
              <a:lnSpc>
                <a:spcPct val="108000"/>
              </a:lnSpc>
              <a:spcAft>
                <a:spcPts val="300"/>
              </a:spcAft>
              <a:defRPr sz="1200" b="1">
                <a:solidFill>
                  <a:srgbClr val="F2F5EE"/>
                </a:solidFill>
                <a:latin typeface="Arial"/>
              </a:defRPr>
            </a:pPr>
            <a:r>
              <a:t>Access note</a:t>
            </a:r>
          </a:p>
        </p:txBody>
      </p:sp>
      <p:sp>
        <p:nvSpPr>
          <p:cNvPr id="55" name="Text 54"/>
          <p:cNvSpPr txBox="1"/>
          <p:nvPr/>
        </p:nvSpPr>
        <p:spPr>
          <a:xfrm>
            <a:off x="704088" y="5806440"/>
            <a:ext cx="6675120" cy="173736"/>
          </a:xfrm>
          <a:prstGeom prst="rect">
            <a:avLst/>
          </a:prstGeom>
          <a:noFill/>
        </p:spPr>
        <p:txBody>
          <a:bodyPr wrap="square" lIns="13716" rIns="13716" tIns="13716" bIns="13716" anchor="t">
            <a:spAutoFit/>
          </a:bodyPr>
          <a:lstStyle/>
          <a:p>
            <a:pPr algn="l">
              <a:lnSpc>
                <a:spcPct val="108000"/>
              </a:lnSpc>
              <a:spcAft>
                <a:spcPts val="300"/>
              </a:spcAft>
              <a:defRPr sz="900" b="1">
                <a:solidFill>
                  <a:srgbClr val="A8B8AC"/>
                </a:solidFill>
                <a:latin typeface="Arial"/>
              </a:defRPr>
            </a:pPr>
            <a:r>
              <a:t>ILLUSTRATIVE SCHEME · ASSUMED SUN ANGLES</a:t>
            </a:r>
          </a:p>
        </p:txBody>
      </p:sp>
      <p:sp>
        <p:nvSpPr>
          <p:cNvPr id="56" name="Text 55"/>
          <p:cNvSpPr txBox="1"/>
          <p:nvPr/>
        </p:nvSpPr>
        <p:spPr>
          <a:xfrm>
            <a:off x="7132319" y="2359152"/>
            <a:ext cx="228600" cy="274320"/>
          </a:xfrm>
          <a:prstGeom prst="rect">
            <a:avLst/>
          </a:prstGeom>
          <a:noFill/>
        </p:spPr>
        <p:txBody>
          <a:bodyPr wrap="square" lIns="13716" rIns="13716" tIns="13716" bIns="13716" anchor="t">
            <a:spAutoFit/>
          </a:bodyPr>
          <a:lstStyle/>
          <a:p>
            <a:pPr algn="l">
              <a:lnSpc>
                <a:spcPct val="108000"/>
              </a:lnSpc>
              <a:spcAft>
                <a:spcPts val="300"/>
              </a:spcAft>
              <a:defRPr sz="1100" b="1">
                <a:solidFill>
                  <a:srgbClr val="F2F5EE"/>
                </a:solidFill>
                <a:latin typeface="Arial"/>
              </a:defRPr>
            </a:pPr>
            <a:r>
              <a:t>N</a:t>
            </a:r>
          </a:p>
        </p:txBody>
      </p:sp>
      <p:sp>
        <p:nvSpPr>
          <p:cNvPr id="57" name="Panel 56"/>
          <p:cNvSpPr/>
          <p:nvPr/>
        </p:nvSpPr>
        <p:spPr>
          <a:xfrm>
            <a:off x="7772400" y="2240280"/>
            <a:ext cx="3776472" cy="3794760"/>
          </a:xfrm>
          <a:prstGeom prst="roundRect">
            <a:avLst>
              <a:gd name="adj" fmla="val 9000"/>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anel 57"/>
          <p:cNvSpPr/>
          <p:nvPr/>
        </p:nvSpPr>
        <p:spPr>
          <a:xfrm>
            <a:off x="8001000" y="2487168"/>
            <a:ext cx="1828800" cy="292608"/>
          </a:xfrm>
          <a:prstGeom prst="roundRect">
            <a:avLst>
              <a:gd name="adj" fmla="val 9000"/>
            </a:avLst>
          </a:prstGeom>
          <a:solidFill>
            <a:srgbClr val="267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 58"/>
          <p:cNvSpPr txBox="1"/>
          <p:nvPr/>
        </p:nvSpPr>
        <p:spPr>
          <a:xfrm>
            <a:off x="8092440" y="2523744"/>
            <a:ext cx="1645920" cy="219456"/>
          </a:xfrm>
          <a:prstGeom prst="rect">
            <a:avLst/>
          </a:prstGeom>
          <a:noFill/>
        </p:spPr>
        <p:txBody>
          <a:bodyPr wrap="square" lIns="13716" rIns="13716" tIns="13716" bIns="13716" anchor="t">
            <a:spAutoFit/>
          </a:bodyPr>
          <a:lstStyle/>
          <a:p>
            <a:pPr algn="l">
              <a:lnSpc>
                <a:spcPct val="108000"/>
              </a:lnSpc>
              <a:spcAft>
                <a:spcPts val="300"/>
              </a:spcAft>
              <a:defRPr sz="1200" b="1">
                <a:solidFill>
                  <a:srgbClr val="F2F5EE"/>
                </a:solidFill>
                <a:latin typeface="Arial"/>
              </a:defRPr>
            </a:pPr>
            <a:r>
              <a:t>CONCEPT</a:t>
            </a:r>
          </a:p>
        </p:txBody>
      </p:sp>
      <p:sp>
        <p:nvSpPr>
          <p:cNvPr id="60" name="Text 59"/>
          <p:cNvSpPr txBox="1"/>
          <p:nvPr/>
        </p:nvSpPr>
        <p:spPr>
          <a:xfrm>
            <a:off x="8010144" y="3008376"/>
            <a:ext cx="3291840" cy="594360"/>
          </a:xfrm>
          <a:prstGeom prst="rect">
            <a:avLst/>
          </a:prstGeom>
          <a:noFill/>
        </p:spPr>
        <p:txBody>
          <a:bodyPr wrap="square" lIns="13716" rIns="13716" tIns="13716" bIns="13716" anchor="t">
            <a:spAutoFit/>
          </a:bodyPr>
          <a:lstStyle/>
          <a:p>
            <a:pPr algn="l">
              <a:lnSpc>
                <a:spcPct val="108000"/>
              </a:lnSpc>
              <a:spcAft>
                <a:spcPts val="300"/>
              </a:spcAft>
              <a:defRPr sz="2400" b="1">
                <a:solidFill>
                  <a:srgbClr val="14251B"/>
                </a:solidFill>
                <a:latin typeface="Arial"/>
              </a:defRPr>
            </a:pPr>
            <a:r>
              <a:t>Central walking loop</a:t>
            </a:r>
          </a:p>
        </p:txBody>
      </p:sp>
      <p:sp>
        <p:nvSpPr>
          <p:cNvPr id="61" name="Text 60"/>
          <p:cNvSpPr txBox="1"/>
          <p:nvPr/>
        </p:nvSpPr>
        <p:spPr>
          <a:xfrm>
            <a:off x="8010144" y="3749039"/>
            <a:ext cx="3291840" cy="1371600"/>
          </a:xfrm>
          <a:prstGeom prst="rect">
            <a:avLst/>
          </a:prstGeom>
          <a:noFill/>
        </p:spPr>
        <p:txBody>
          <a:bodyPr wrap="square" lIns="13716" rIns="13716" tIns="13716" bIns="13716" anchor="t">
            <a:spAutoFit/>
          </a:bodyPr>
          <a:lstStyle/>
          <a:p>
            <a:pPr algn="l">
              <a:lnSpc>
                <a:spcPct val="108000"/>
              </a:lnSpc>
              <a:spcAft>
                <a:spcPts val="300"/>
              </a:spcAft>
              <a:defRPr sz="2200" b="0">
                <a:solidFill>
                  <a:srgbClr val="14251B"/>
                </a:solidFill>
                <a:latin typeface="Arial"/>
              </a:defRPr>
            </a:pPr>
            <a:r>
              <a:t>Choose the time</a:t>
            </a:r>
          </a:p>
          <a:p>
            <a:pPr algn="l">
              <a:lnSpc>
                <a:spcPct val="108000"/>
              </a:lnSpc>
              <a:spcAft>
                <a:spcPts val="300"/>
              </a:spcAft>
              <a:defRPr sz="2200" b="0">
                <a:solidFill>
                  <a:srgbClr val="14251B"/>
                </a:solidFill>
                <a:latin typeface="Arial"/>
              </a:defRPr>
            </a:pPr>
            <a:r>
              <a:t>Compare the route</a:t>
            </a:r>
          </a:p>
          <a:p>
            <a:pPr algn="l">
              <a:lnSpc>
                <a:spcPct val="108000"/>
              </a:lnSpc>
              <a:spcAft>
                <a:spcPts val="300"/>
              </a:spcAft>
              <a:defRPr sz="2200" b="0">
                <a:solidFill>
                  <a:srgbClr val="14251B"/>
                </a:solidFill>
                <a:latin typeface="Arial"/>
              </a:defRPr>
            </a:pPr>
            <a:r>
              <a:t>Inspect access notes</a:t>
            </a:r>
          </a:p>
        </p:txBody>
      </p:sp>
      <p:sp>
        <p:nvSpPr>
          <p:cNvPr id="62" name="Button Explore shade example">
            <a:hlinkClick action="ppaction://hlinksldjump" r:id="rId3"/>
          </p:cNvPr>
          <p:cNvSpPr/>
          <p:nvPr/>
        </p:nvSpPr>
        <p:spPr>
          <a:xfrm>
            <a:off x="8010144" y="5340096"/>
            <a:ext cx="3291840" cy="393192"/>
          </a:xfrm>
          <a:prstGeom prst="roundRect">
            <a:avLst>
              <a:gd name="adj" fmla="val 9000"/>
            </a:avLst>
          </a:prstGeom>
          <a:solidFill>
            <a:srgbClr val="267353"/>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utton label Explore shade example">
            <a:hlinkClick action="ppaction://hlinksldjump" r:id="rId3"/>
          </p:cNvPr>
          <p:cNvSpPr txBox="1"/>
          <p:nvPr/>
        </p:nvSpPr>
        <p:spPr>
          <a:xfrm>
            <a:off x="8119871" y="5413248"/>
            <a:ext cx="30723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Explore shade example</a:t>
            </a:r>
          </a:p>
        </p:txBody>
      </p:sp>
      <p:sp>
        <p:nvSpPr>
          <p:cNvPr id="64" name="Source reference">
            <a:hlinkClick action="ppaction://hlinksldjump" r:id="rId4"/>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280" fill="hold"/>
                                        <p:tgtEl>
                                          <p:spTgt spid="4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280" fill="hold"/>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280" fill="hold"/>
                                        <p:tgtEl>
                                          <p:spTgt spid="4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280" fill="hold"/>
                                        <p:tgtEl>
                                          <p:spTgt spid="4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280" fill="hold"/>
                                        <p:tgtEl>
                                          <p:spTgt spid="4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280" fill="hold"/>
                                        <p:tgtEl>
                                          <p:spTgt spid="4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280" fill="hold"/>
                                        <p:tgtEl>
                                          <p:spTgt spid="4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280" fill="hold"/>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uild="allAtOnce" animBg="1"/>
      <p:bldP spid="44" grpId="0" build="allAtOnce" animBg="1"/>
      <p:bldP spid="45" grpId="0" build="allAtOnce" animBg="1"/>
      <p:bldP spid="46" grpId="0" build="allAtOnce" animBg="1"/>
      <p:bldP spid="47" grpId="0" build="allAtOnce" animBg="1"/>
      <p:bldP spid="48" grpId="0" build="allAtOnce" animBg="1"/>
      <p:bldP spid="49" grpId="0" build="allAtOnce" animBg="1"/>
      <p:bldP spid="50" grpId="0" build="allAtOnce"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PRODUCT</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Time changes the shade on the same street</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Building geometry supports a different route at a different hour</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08</a:t>
            </a:r>
          </a:p>
        </p:txBody>
      </p:sp>
      <p:sp>
        <p:nvSpPr>
          <p:cNvPr id="8" name="Panel 7"/>
          <p:cNvSpPr/>
          <p:nvPr/>
        </p:nvSpPr>
        <p:spPr>
          <a:xfrm>
            <a:off x="576072" y="2194560"/>
            <a:ext cx="1051560" cy="292608"/>
          </a:xfrm>
          <a:prstGeom prst="roundRect">
            <a:avLst>
              <a:gd name="adj" fmla="val 9000"/>
            </a:avLst>
          </a:prstGeom>
          <a:solidFill>
            <a:srgbClr val="22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667512" y="2231136"/>
            <a:ext cx="868680" cy="219456"/>
          </a:xfrm>
          <a:prstGeom prst="rect">
            <a:avLst/>
          </a:prstGeom>
          <a:noFill/>
        </p:spPr>
        <p:txBody>
          <a:bodyPr wrap="square" lIns="13716" rIns="13716" tIns="13716" bIns="13716" anchor="t">
            <a:spAutoFit/>
          </a:bodyPr>
          <a:lstStyle/>
          <a:p>
            <a:pPr algn="l">
              <a:lnSpc>
                <a:spcPct val="108000"/>
              </a:lnSpc>
              <a:spcAft>
                <a:spcPts val="300"/>
              </a:spcAft>
              <a:defRPr sz="1300" b="1">
                <a:solidFill>
                  <a:srgbClr val="79DCAF"/>
                </a:solidFill>
                <a:latin typeface="Arial"/>
              </a:defRPr>
            </a:pPr>
            <a:r>
              <a:t>09.00</a:t>
            </a:r>
          </a:p>
        </p:txBody>
      </p:sp>
      <p:sp>
        <p:nvSpPr>
          <p:cNvPr id="10" name="Map canvas"/>
          <p:cNvSpPr/>
          <p:nvPr/>
        </p:nvSpPr>
        <p:spPr>
          <a:xfrm>
            <a:off x="576072" y="2688336"/>
            <a:ext cx="3712463" cy="2542032"/>
          </a:xfrm>
          <a:prstGeom prst="roundRect">
            <a:avLst>
              <a:gd name="adj" fmla="val 9000"/>
            </a:avLst>
          </a:prstGeom>
          <a:solidFill>
            <a:srgbClr val="142C30"/>
          </a:solidFill>
          <a:ln w="12700">
            <a:solidFill>
              <a:srgbClr val="355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ad_v_1"/>
          <p:cNvSpPr/>
          <p:nvPr/>
        </p:nvSpPr>
        <p:spPr>
          <a:xfrm>
            <a:off x="1164342" y="2798064"/>
            <a:ext cx="160678" cy="217627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ad_v_2"/>
          <p:cNvSpPr/>
          <p:nvPr/>
        </p:nvSpPr>
        <p:spPr>
          <a:xfrm>
            <a:off x="2247174" y="2798064"/>
            <a:ext cx="160678" cy="217627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ad_v_3"/>
          <p:cNvSpPr/>
          <p:nvPr/>
        </p:nvSpPr>
        <p:spPr>
          <a:xfrm>
            <a:off x="3364937" y="2798064"/>
            <a:ext cx="160678" cy="217627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ad_h_1"/>
          <p:cNvSpPr/>
          <p:nvPr/>
        </p:nvSpPr>
        <p:spPr>
          <a:xfrm>
            <a:off x="685800" y="3049423"/>
            <a:ext cx="3493007" cy="15016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ad_h_2"/>
          <p:cNvSpPr/>
          <p:nvPr/>
        </p:nvSpPr>
        <p:spPr>
          <a:xfrm>
            <a:off x="685800" y="3789355"/>
            <a:ext cx="3493007" cy="15016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ad_h_3"/>
          <p:cNvSpPr/>
          <p:nvPr/>
        </p:nvSpPr>
        <p:spPr>
          <a:xfrm>
            <a:off x="685800" y="4507525"/>
            <a:ext cx="3493007" cy="15016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rk_01"/>
          <p:cNvSpPr/>
          <p:nvPr/>
        </p:nvSpPr>
        <p:spPr>
          <a:xfrm>
            <a:off x="738195" y="4005894"/>
            <a:ext cx="331835" cy="435254"/>
          </a:xfrm>
          <a:prstGeom prst="rect">
            <a:avLst/>
          </a:prstGeom>
          <a:solidFill>
            <a:srgbClr val="235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hadow building_01"/>
          <p:cNvSpPr/>
          <p:nvPr/>
        </p:nvSpPr>
        <p:spPr>
          <a:xfrm>
            <a:off x="1215762" y="3200659"/>
            <a:ext cx="832311" cy="457032"/>
          </a:xfrm>
          <a:custGeom>
            <a:avLst/>
            <a:gdLst/>
            <a:ahLst/>
            <a:cxnLst/>
            <a:rect l="l" t="t" r="r" b="b"/>
            <a:pathLst>
              <a:path w="832311" h="457032">
                <a:moveTo>
                  <a:pt x="0" y="0"/>
                </a:moveTo>
                <a:lnTo>
                  <a:pt x="576346" y="0"/>
                </a:lnTo>
                <a:lnTo>
                  <a:pt x="832311" y="87066"/>
                </a:lnTo>
                <a:lnTo>
                  <a:pt x="832311" y="457032"/>
                </a:lnTo>
                <a:lnTo>
                  <a:pt x="255964" y="457032"/>
                </a:lnTo>
                <a:lnTo>
                  <a:pt x="0" y="369966"/>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hadow building_02"/>
          <p:cNvSpPr/>
          <p:nvPr/>
        </p:nvSpPr>
        <p:spPr>
          <a:xfrm>
            <a:off x="2362587" y="3222426"/>
            <a:ext cx="785783" cy="424384"/>
          </a:xfrm>
          <a:custGeom>
            <a:avLst/>
            <a:gdLst/>
            <a:ahLst/>
            <a:cxnLst/>
            <a:rect l="l" t="t" r="r" b="b"/>
            <a:pathLst>
              <a:path w="785783" h="424384">
                <a:moveTo>
                  <a:pt x="0" y="0"/>
                </a:moveTo>
                <a:lnTo>
                  <a:pt x="593811" y="0"/>
                </a:lnTo>
                <a:lnTo>
                  <a:pt x="785783" y="65299"/>
                </a:lnTo>
                <a:lnTo>
                  <a:pt x="785783" y="424384"/>
                </a:lnTo>
                <a:lnTo>
                  <a:pt x="191972" y="424384"/>
                </a:lnTo>
                <a:lnTo>
                  <a:pt x="0" y="359085"/>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hadow building_03"/>
          <p:cNvSpPr/>
          <p:nvPr/>
        </p:nvSpPr>
        <p:spPr>
          <a:xfrm>
            <a:off x="1258422" y="3955102"/>
            <a:ext cx="789651" cy="431640"/>
          </a:xfrm>
          <a:custGeom>
            <a:avLst/>
            <a:gdLst/>
            <a:ahLst/>
            <a:cxnLst/>
            <a:rect l="l" t="t" r="r" b="b"/>
            <a:pathLst>
              <a:path w="789651" h="431640">
                <a:moveTo>
                  <a:pt x="0" y="0"/>
                </a:moveTo>
                <a:lnTo>
                  <a:pt x="576347" y="0"/>
                </a:lnTo>
                <a:lnTo>
                  <a:pt x="789651" y="72555"/>
                </a:lnTo>
                <a:lnTo>
                  <a:pt x="789651" y="431640"/>
                </a:lnTo>
                <a:lnTo>
                  <a:pt x="213304" y="431640"/>
                </a:lnTo>
                <a:lnTo>
                  <a:pt x="0" y="359085"/>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hadow building_04"/>
          <p:cNvSpPr/>
          <p:nvPr/>
        </p:nvSpPr>
        <p:spPr>
          <a:xfrm>
            <a:off x="2255935" y="3926080"/>
            <a:ext cx="892435" cy="460662"/>
          </a:xfrm>
          <a:custGeom>
            <a:avLst/>
            <a:gdLst/>
            <a:ahLst/>
            <a:cxnLst/>
            <a:rect l="l" t="t" r="r" b="b"/>
            <a:pathLst>
              <a:path w="892435" h="460662">
                <a:moveTo>
                  <a:pt x="0" y="0"/>
                </a:moveTo>
                <a:lnTo>
                  <a:pt x="593811" y="0"/>
                </a:lnTo>
                <a:lnTo>
                  <a:pt x="892435" y="101577"/>
                </a:lnTo>
                <a:lnTo>
                  <a:pt x="892435" y="460662"/>
                </a:lnTo>
                <a:lnTo>
                  <a:pt x="298624" y="460662"/>
                </a:lnTo>
                <a:lnTo>
                  <a:pt x="0" y="359085"/>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hadow building_05"/>
          <p:cNvSpPr/>
          <p:nvPr/>
        </p:nvSpPr>
        <p:spPr>
          <a:xfrm>
            <a:off x="3420220" y="3218796"/>
            <a:ext cx="601402" cy="438895"/>
          </a:xfrm>
          <a:custGeom>
            <a:avLst/>
            <a:gdLst/>
            <a:ahLst/>
            <a:cxnLst/>
            <a:rect l="l" t="t" r="r" b="b"/>
            <a:pathLst>
              <a:path w="601402" h="438895">
                <a:moveTo>
                  <a:pt x="0" y="0"/>
                </a:moveTo>
                <a:lnTo>
                  <a:pt x="366766" y="0"/>
                </a:lnTo>
                <a:lnTo>
                  <a:pt x="601402" y="79810"/>
                </a:lnTo>
                <a:lnTo>
                  <a:pt x="601402" y="438895"/>
                </a:lnTo>
                <a:lnTo>
                  <a:pt x="234636" y="438895"/>
                </a:lnTo>
                <a:lnTo>
                  <a:pt x="0" y="359085"/>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hadow building_06"/>
          <p:cNvSpPr/>
          <p:nvPr/>
        </p:nvSpPr>
        <p:spPr>
          <a:xfrm>
            <a:off x="3462884" y="3973239"/>
            <a:ext cx="558738" cy="413503"/>
          </a:xfrm>
          <a:custGeom>
            <a:avLst/>
            <a:gdLst/>
            <a:ahLst/>
            <a:cxnLst/>
            <a:rect l="l" t="t" r="r" b="b"/>
            <a:pathLst>
              <a:path w="558738" h="413503">
                <a:moveTo>
                  <a:pt x="0" y="0"/>
                </a:moveTo>
                <a:lnTo>
                  <a:pt x="366766" y="0"/>
                </a:lnTo>
                <a:lnTo>
                  <a:pt x="558738" y="65300"/>
                </a:lnTo>
                <a:lnTo>
                  <a:pt x="558738" y="413503"/>
                </a:lnTo>
                <a:lnTo>
                  <a:pt x="191972" y="413503"/>
                </a:lnTo>
                <a:lnTo>
                  <a:pt x="0" y="348204"/>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hadow building_07"/>
          <p:cNvSpPr/>
          <p:nvPr/>
        </p:nvSpPr>
        <p:spPr>
          <a:xfrm>
            <a:off x="685800" y="3244191"/>
            <a:ext cx="349300" cy="424381"/>
          </a:xfrm>
          <a:custGeom>
            <a:avLst/>
            <a:gdLst/>
            <a:ahLst/>
            <a:cxnLst/>
            <a:rect l="l" t="t" r="r" b="b"/>
            <a:pathLst>
              <a:path w="349300" h="424381">
                <a:moveTo>
                  <a:pt x="0" y="0"/>
                </a:moveTo>
                <a:lnTo>
                  <a:pt x="189324" y="0"/>
                </a:lnTo>
                <a:lnTo>
                  <a:pt x="349300" y="54415"/>
                </a:lnTo>
                <a:lnTo>
                  <a:pt x="349300" y="424381"/>
                </a:lnTo>
                <a:lnTo>
                  <a:pt x="87325" y="424381"/>
                </a:lnTo>
                <a:lnTo>
                  <a:pt x="0" y="394677"/>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ilding_01"/>
          <p:cNvSpPr/>
          <p:nvPr/>
        </p:nvSpPr>
        <p:spPr>
          <a:xfrm>
            <a:off x="1471726" y="3287725"/>
            <a:ext cx="576346" cy="36996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building_01 roof 1"/>
          <p:cNvCxnSpPr/>
          <p:nvPr/>
        </p:nvCxnSpPr>
        <p:spPr>
          <a:xfrm>
            <a:off x="1527614" y="3331250"/>
            <a:ext cx="46457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7" name="!!building_02"/>
          <p:cNvSpPr/>
          <p:nvPr/>
        </p:nvSpPr>
        <p:spPr>
          <a:xfrm>
            <a:off x="2554559" y="3287725"/>
            <a:ext cx="593811" cy="359084"/>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building_02 roof 1"/>
          <p:cNvCxnSpPr/>
          <p:nvPr/>
        </p:nvCxnSpPr>
        <p:spPr>
          <a:xfrm>
            <a:off x="2610447" y="3331250"/>
            <a:ext cx="482035"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9" name="!!building_03"/>
          <p:cNvSpPr/>
          <p:nvPr/>
        </p:nvSpPr>
        <p:spPr>
          <a:xfrm>
            <a:off x="1471726" y="4027657"/>
            <a:ext cx="576346" cy="359084"/>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building_03 roof 1"/>
          <p:cNvCxnSpPr/>
          <p:nvPr/>
        </p:nvCxnSpPr>
        <p:spPr>
          <a:xfrm>
            <a:off x="1527614" y="4071183"/>
            <a:ext cx="46457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1" name="!!building_04"/>
          <p:cNvSpPr/>
          <p:nvPr/>
        </p:nvSpPr>
        <p:spPr>
          <a:xfrm>
            <a:off x="2554559" y="4027657"/>
            <a:ext cx="593811" cy="359084"/>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building_04 roof 1"/>
          <p:cNvCxnSpPr/>
          <p:nvPr/>
        </p:nvCxnSpPr>
        <p:spPr>
          <a:xfrm>
            <a:off x="2610447" y="4071183"/>
            <a:ext cx="482035"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3" name="!!building_05"/>
          <p:cNvSpPr/>
          <p:nvPr/>
        </p:nvSpPr>
        <p:spPr>
          <a:xfrm>
            <a:off x="3654856" y="3298606"/>
            <a:ext cx="366765" cy="359084"/>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building_05 roof 1"/>
          <p:cNvCxnSpPr/>
          <p:nvPr/>
        </p:nvCxnSpPr>
        <p:spPr>
          <a:xfrm>
            <a:off x="3710744" y="3342132"/>
            <a:ext cx="25499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5" name="!!building_06"/>
          <p:cNvSpPr/>
          <p:nvPr/>
        </p:nvSpPr>
        <p:spPr>
          <a:xfrm>
            <a:off x="3654856" y="4038539"/>
            <a:ext cx="366765" cy="348203"/>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building_06 roof 1"/>
          <p:cNvCxnSpPr/>
          <p:nvPr/>
        </p:nvCxnSpPr>
        <p:spPr>
          <a:xfrm>
            <a:off x="3710744" y="4082064"/>
            <a:ext cx="25499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7" name="!!building_07"/>
          <p:cNvSpPr/>
          <p:nvPr/>
        </p:nvSpPr>
        <p:spPr>
          <a:xfrm>
            <a:off x="773125" y="3298606"/>
            <a:ext cx="261975" cy="36996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building_07 roof 1"/>
          <p:cNvCxnSpPr/>
          <p:nvPr/>
        </p:nvCxnSpPr>
        <p:spPr>
          <a:xfrm>
            <a:off x="829013" y="3342132"/>
            <a:ext cx="150199"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9" name="Text 38"/>
          <p:cNvSpPr txBox="1"/>
          <p:nvPr/>
        </p:nvSpPr>
        <p:spPr>
          <a:xfrm>
            <a:off x="713232" y="5001768"/>
            <a:ext cx="3438144" cy="173736"/>
          </a:xfrm>
          <a:prstGeom prst="rect">
            <a:avLst/>
          </a:prstGeom>
          <a:noFill/>
        </p:spPr>
        <p:txBody>
          <a:bodyPr wrap="square" lIns="13716" rIns="13716" tIns="13716" bIns="13716" anchor="t">
            <a:spAutoFit/>
          </a:bodyPr>
          <a:lstStyle/>
          <a:p>
            <a:pPr algn="l">
              <a:lnSpc>
                <a:spcPct val="108000"/>
              </a:lnSpc>
              <a:spcAft>
                <a:spcPts val="300"/>
              </a:spcAft>
              <a:defRPr sz="900" b="1">
                <a:solidFill>
                  <a:srgbClr val="A8B8AC"/>
                </a:solidFill>
                <a:latin typeface="Arial"/>
              </a:defRPr>
            </a:pPr>
            <a:r>
              <a:t>ILLUSTRATIVE SCHEME · ASSUMED SUN ANGLES</a:t>
            </a:r>
          </a:p>
        </p:txBody>
      </p:sp>
      <p:sp>
        <p:nvSpPr>
          <p:cNvPr id="40" name="Text 39"/>
          <p:cNvSpPr txBox="1"/>
          <p:nvPr/>
        </p:nvSpPr>
        <p:spPr>
          <a:xfrm>
            <a:off x="3904487" y="2807208"/>
            <a:ext cx="228600" cy="274320"/>
          </a:xfrm>
          <a:prstGeom prst="rect">
            <a:avLst/>
          </a:prstGeom>
          <a:noFill/>
        </p:spPr>
        <p:txBody>
          <a:bodyPr wrap="square" lIns="13716" rIns="13716" tIns="13716" bIns="13716" anchor="t">
            <a:spAutoFit/>
          </a:bodyPr>
          <a:lstStyle/>
          <a:p>
            <a:pPr algn="l">
              <a:lnSpc>
                <a:spcPct val="108000"/>
              </a:lnSpc>
              <a:spcAft>
                <a:spcPts val="300"/>
              </a:spcAft>
              <a:defRPr sz="1100" b="1">
                <a:solidFill>
                  <a:srgbClr val="F2F5EE"/>
                </a:solidFill>
                <a:latin typeface="Arial"/>
              </a:defRPr>
            </a:pPr>
            <a:r>
              <a:t>N</a:t>
            </a:r>
          </a:p>
        </p:txBody>
      </p:sp>
      <p:sp>
        <p:nvSpPr>
          <p:cNvPr id="41" name="Panel 40"/>
          <p:cNvSpPr/>
          <p:nvPr/>
        </p:nvSpPr>
        <p:spPr>
          <a:xfrm>
            <a:off x="4453128" y="2194560"/>
            <a:ext cx="1051560" cy="292608"/>
          </a:xfrm>
          <a:prstGeom prst="roundRect">
            <a:avLst>
              <a:gd name="adj" fmla="val 9000"/>
            </a:avLst>
          </a:prstGeom>
          <a:solidFill>
            <a:srgbClr val="22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 41"/>
          <p:cNvSpPr txBox="1"/>
          <p:nvPr/>
        </p:nvSpPr>
        <p:spPr>
          <a:xfrm>
            <a:off x="4544568" y="2231136"/>
            <a:ext cx="868680" cy="219456"/>
          </a:xfrm>
          <a:prstGeom prst="rect">
            <a:avLst/>
          </a:prstGeom>
          <a:noFill/>
        </p:spPr>
        <p:txBody>
          <a:bodyPr wrap="square" lIns="13716" rIns="13716" tIns="13716" bIns="13716" anchor="t">
            <a:spAutoFit/>
          </a:bodyPr>
          <a:lstStyle/>
          <a:p>
            <a:pPr algn="l">
              <a:lnSpc>
                <a:spcPct val="108000"/>
              </a:lnSpc>
              <a:spcAft>
                <a:spcPts val="300"/>
              </a:spcAft>
              <a:defRPr sz="1300" b="1">
                <a:solidFill>
                  <a:srgbClr val="79DCAF"/>
                </a:solidFill>
                <a:latin typeface="Arial"/>
              </a:defRPr>
            </a:pPr>
            <a:r>
              <a:t>13.00</a:t>
            </a:r>
          </a:p>
        </p:txBody>
      </p:sp>
      <p:sp>
        <p:nvSpPr>
          <p:cNvPr id="43" name="Map canvas"/>
          <p:cNvSpPr/>
          <p:nvPr/>
        </p:nvSpPr>
        <p:spPr>
          <a:xfrm>
            <a:off x="4453128" y="2688336"/>
            <a:ext cx="3712463" cy="2542032"/>
          </a:xfrm>
          <a:prstGeom prst="roundRect">
            <a:avLst>
              <a:gd name="adj" fmla="val 9000"/>
            </a:avLst>
          </a:prstGeom>
          <a:solidFill>
            <a:srgbClr val="142C30"/>
          </a:solidFill>
          <a:ln w="12700">
            <a:solidFill>
              <a:srgbClr val="355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ad_v_1"/>
          <p:cNvSpPr/>
          <p:nvPr/>
        </p:nvSpPr>
        <p:spPr>
          <a:xfrm>
            <a:off x="5041398" y="2798064"/>
            <a:ext cx="160678" cy="217627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ad_v_2"/>
          <p:cNvSpPr/>
          <p:nvPr/>
        </p:nvSpPr>
        <p:spPr>
          <a:xfrm>
            <a:off x="6124230" y="2798064"/>
            <a:ext cx="160678" cy="217627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ad_v_3"/>
          <p:cNvSpPr/>
          <p:nvPr/>
        </p:nvSpPr>
        <p:spPr>
          <a:xfrm>
            <a:off x="7241993" y="2798064"/>
            <a:ext cx="160678" cy="217627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ad_h_1"/>
          <p:cNvSpPr/>
          <p:nvPr/>
        </p:nvSpPr>
        <p:spPr>
          <a:xfrm>
            <a:off x="4562856" y="3049423"/>
            <a:ext cx="3493007" cy="15016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ad_h_2"/>
          <p:cNvSpPr/>
          <p:nvPr/>
        </p:nvSpPr>
        <p:spPr>
          <a:xfrm>
            <a:off x="4562856" y="3789355"/>
            <a:ext cx="3493007" cy="15016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ad_h_3"/>
          <p:cNvSpPr/>
          <p:nvPr/>
        </p:nvSpPr>
        <p:spPr>
          <a:xfrm>
            <a:off x="4562856" y="4507525"/>
            <a:ext cx="3493007" cy="15016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ark_01"/>
          <p:cNvSpPr/>
          <p:nvPr/>
        </p:nvSpPr>
        <p:spPr>
          <a:xfrm>
            <a:off x="4615251" y="4005894"/>
            <a:ext cx="331835" cy="435254"/>
          </a:xfrm>
          <a:prstGeom prst="rect">
            <a:avLst/>
          </a:prstGeom>
          <a:solidFill>
            <a:srgbClr val="235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hadow building_01"/>
          <p:cNvSpPr/>
          <p:nvPr/>
        </p:nvSpPr>
        <p:spPr>
          <a:xfrm>
            <a:off x="5348782" y="3232371"/>
            <a:ext cx="576347" cy="425320"/>
          </a:xfrm>
          <a:custGeom>
            <a:avLst/>
            <a:gdLst/>
            <a:ahLst/>
            <a:cxnLst/>
            <a:rect l="l" t="t" r="r" b="b"/>
            <a:pathLst>
              <a:path w="576347" h="425320">
                <a:moveTo>
                  <a:pt x="0" y="0"/>
                </a:moveTo>
                <a:lnTo>
                  <a:pt x="576347" y="0"/>
                </a:lnTo>
                <a:lnTo>
                  <a:pt x="576347" y="425320"/>
                </a:lnTo>
                <a:lnTo>
                  <a:pt x="0" y="425320"/>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hadow building_02"/>
          <p:cNvSpPr/>
          <p:nvPr/>
        </p:nvSpPr>
        <p:spPr>
          <a:xfrm>
            <a:off x="6431615" y="3246210"/>
            <a:ext cx="593811" cy="400600"/>
          </a:xfrm>
          <a:custGeom>
            <a:avLst/>
            <a:gdLst/>
            <a:ahLst/>
            <a:cxnLst/>
            <a:rect l="l" t="t" r="r" b="b"/>
            <a:pathLst>
              <a:path w="593811" h="400600">
                <a:moveTo>
                  <a:pt x="0" y="0"/>
                </a:moveTo>
                <a:lnTo>
                  <a:pt x="593811" y="0"/>
                </a:lnTo>
                <a:lnTo>
                  <a:pt x="593811" y="400600"/>
                </a:lnTo>
                <a:lnTo>
                  <a:pt x="0" y="400600"/>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Shadow building_03"/>
          <p:cNvSpPr/>
          <p:nvPr/>
        </p:nvSpPr>
        <p:spPr>
          <a:xfrm>
            <a:off x="5348782" y="3981529"/>
            <a:ext cx="576347" cy="405213"/>
          </a:xfrm>
          <a:custGeom>
            <a:avLst/>
            <a:gdLst/>
            <a:ahLst/>
            <a:cxnLst/>
            <a:rect l="l" t="t" r="r" b="b"/>
            <a:pathLst>
              <a:path w="576347" h="405213">
                <a:moveTo>
                  <a:pt x="0" y="0"/>
                </a:moveTo>
                <a:lnTo>
                  <a:pt x="576347" y="0"/>
                </a:lnTo>
                <a:lnTo>
                  <a:pt x="576347" y="405213"/>
                </a:lnTo>
                <a:lnTo>
                  <a:pt x="0" y="405213"/>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hadow building_04"/>
          <p:cNvSpPr/>
          <p:nvPr/>
        </p:nvSpPr>
        <p:spPr>
          <a:xfrm>
            <a:off x="6431615" y="3963078"/>
            <a:ext cx="593811" cy="423664"/>
          </a:xfrm>
          <a:custGeom>
            <a:avLst/>
            <a:gdLst/>
            <a:ahLst/>
            <a:cxnLst/>
            <a:rect l="l" t="t" r="r" b="b"/>
            <a:pathLst>
              <a:path w="593811" h="423664">
                <a:moveTo>
                  <a:pt x="0" y="0"/>
                </a:moveTo>
                <a:lnTo>
                  <a:pt x="593811" y="0"/>
                </a:lnTo>
                <a:lnTo>
                  <a:pt x="593811" y="423664"/>
                </a:lnTo>
                <a:lnTo>
                  <a:pt x="0" y="423664"/>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Shadow building_05"/>
          <p:cNvSpPr/>
          <p:nvPr/>
        </p:nvSpPr>
        <p:spPr>
          <a:xfrm>
            <a:off x="7531912" y="3247866"/>
            <a:ext cx="366766" cy="409825"/>
          </a:xfrm>
          <a:custGeom>
            <a:avLst/>
            <a:gdLst/>
            <a:ahLst/>
            <a:cxnLst/>
            <a:rect l="l" t="t" r="r" b="b"/>
            <a:pathLst>
              <a:path w="366766" h="409825">
                <a:moveTo>
                  <a:pt x="0" y="0"/>
                </a:moveTo>
                <a:lnTo>
                  <a:pt x="366766" y="0"/>
                </a:lnTo>
                <a:lnTo>
                  <a:pt x="366766" y="409825"/>
                </a:lnTo>
                <a:lnTo>
                  <a:pt x="0" y="409825"/>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hadow building_06"/>
          <p:cNvSpPr/>
          <p:nvPr/>
        </p:nvSpPr>
        <p:spPr>
          <a:xfrm>
            <a:off x="7531912" y="3997024"/>
            <a:ext cx="366766" cy="389718"/>
          </a:xfrm>
          <a:custGeom>
            <a:avLst/>
            <a:gdLst/>
            <a:ahLst/>
            <a:cxnLst/>
            <a:rect l="l" t="t" r="r" b="b"/>
            <a:pathLst>
              <a:path w="366766" h="389718">
                <a:moveTo>
                  <a:pt x="0" y="0"/>
                </a:moveTo>
                <a:lnTo>
                  <a:pt x="366766" y="0"/>
                </a:lnTo>
                <a:lnTo>
                  <a:pt x="366766" y="389718"/>
                </a:lnTo>
                <a:lnTo>
                  <a:pt x="0" y="389718"/>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hadow building_07"/>
          <p:cNvSpPr/>
          <p:nvPr/>
        </p:nvSpPr>
        <p:spPr>
          <a:xfrm>
            <a:off x="4650181" y="3264010"/>
            <a:ext cx="261975" cy="404562"/>
          </a:xfrm>
          <a:custGeom>
            <a:avLst/>
            <a:gdLst/>
            <a:ahLst/>
            <a:cxnLst/>
            <a:rect l="l" t="t" r="r" b="b"/>
            <a:pathLst>
              <a:path w="261975" h="404562">
                <a:moveTo>
                  <a:pt x="0" y="0"/>
                </a:moveTo>
                <a:lnTo>
                  <a:pt x="261975" y="0"/>
                </a:lnTo>
                <a:lnTo>
                  <a:pt x="261975" y="404562"/>
                </a:lnTo>
                <a:lnTo>
                  <a:pt x="0" y="404562"/>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uilding_01"/>
          <p:cNvSpPr/>
          <p:nvPr/>
        </p:nvSpPr>
        <p:spPr>
          <a:xfrm>
            <a:off x="5348782" y="3287725"/>
            <a:ext cx="576346" cy="36996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building_01 roof 1"/>
          <p:cNvCxnSpPr/>
          <p:nvPr/>
        </p:nvCxnSpPr>
        <p:spPr>
          <a:xfrm>
            <a:off x="5404670" y="3331250"/>
            <a:ext cx="46457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60" name="!!building_02"/>
          <p:cNvSpPr/>
          <p:nvPr/>
        </p:nvSpPr>
        <p:spPr>
          <a:xfrm>
            <a:off x="6431615" y="3287725"/>
            <a:ext cx="593811" cy="359084"/>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building_02 roof 1"/>
          <p:cNvCxnSpPr/>
          <p:nvPr/>
        </p:nvCxnSpPr>
        <p:spPr>
          <a:xfrm>
            <a:off x="6487503" y="3331250"/>
            <a:ext cx="482035"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62" name="!!building_03"/>
          <p:cNvSpPr/>
          <p:nvPr/>
        </p:nvSpPr>
        <p:spPr>
          <a:xfrm>
            <a:off x="5348782" y="4027657"/>
            <a:ext cx="576346" cy="359084"/>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building_03 roof 1"/>
          <p:cNvCxnSpPr/>
          <p:nvPr/>
        </p:nvCxnSpPr>
        <p:spPr>
          <a:xfrm>
            <a:off x="5404670" y="4071183"/>
            <a:ext cx="46457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64" name="!!building_04"/>
          <p:cNvSpPr/>
          <p:nvPr/>
        </p:nvSpPr>
        <p:spPr>
          <a:xfrm>
            <a:off x="6431615" y="4027657"/>
            <a:ext cx="593811" cy="359084"/>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building_04 roof 1"/>
          <p:cNvCxnSpPr/>
          <p:nvPr/>
        </p:nvCxnSpPr>
        <p:spPr>
          <a:xfrm>
            <a:off x="6487503" y="4071183"/>
            <a:ext cx="482035"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66" name="!!building_05"/>
          <p:cNvSpPr/>
          <p:nvPr/>
        </p:nvSpPr>
        <p:spPr>
          <a:xfrm>
            <a:off x="7531912" y="3298606"/>
            <a:ext cx="366765" cy="359084"/>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building_05 roof 1"/>
          <p:cNvCxnSpPr/>
          <p:nvPr/>
        </p:nvCxnSpPr>
        <p:spPr>
          <a:xfrm>
            <a:off x="7587800" y="3342132"/>
            <a:ext cx="25499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68" name="!!building_06"/>
          <p:cNvSpPr/>
          <p:nvPr/>
        </p:nvSpPr>
        <p:spPr>
          <a:xfrm>
            <a:off x="7531912" y="4038539"/>
            <a:ext cx="366765" cy="348203"/>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building_06 roof 1"/>
          <p:cNvCxnSpPr/>
          <p:nvPr/>
        </p:nvCxnSpPr>
        <p:spPr>
          <a:xfrm>
            <a:off x="7587800" y="4082064"/>
            <a:ext cx="25499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70" name="!!building_07"/>
          <p:cNvSpPr/>
          <p:nvPr/>
        </p:nvSpPr>
        <p:spPr>
          <a:xfrm>
            <a:off x="4650181" y="3298606"/>
            <a:ext cx="261975" cy="36996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building_07 roof 1"/>
          <p:cNvCxnSpPr/>
          <p:nvPr/>
        </p:nvCxnSpPr>
        <p:spPr>
          <a:xfrm>
            <a:off x="4706069" y="3342132"/>
            <a:ext cx="150199"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72" name="Text 71"/>
          <p:cNvSpPr txBox="1"/>
          <p:nvPr/>
        </p:nvSpPr>
        <p:spPr>
          <a:xfrm>
            <a:off x="4590288" y="5001768"/>
            <a:ext cx="3438144" cy="173736"/>
          </a:xfrm>
          <a:prstGeom prst="rect">
            <a:avLst/>
          </a:prstGeom>
          <a:noFill/>
        </p:spPr>
        <p:txBody>
          <a:bodyPr wrap="square" lIns="13716" rIns="13716" tIns="13716" bIns="13716" anchor="t">
            <a:spAutoFit/>
          </a:bodyPr>
          <a:lstStyle/>
          <a:p>
            <a:pPr algn="l">
              <a:lnSpc>
                <a:spcPct val="108000"/>
              </a:lnSpc>
              <a:spcAft>
                <a:spcPts val="300"/>
              </a:spcAft>
              <a:defRPr sz="900" b="1">
                <a:solidFill>
                  <a:srgbClr val="A8B8AC"/>
                </a:solidFill>
                <a:latin typeface="Arial"/>
              </a:defRPr>
            </a:pPr>
            <a:r>
              <a:t>ILLUSTRATIVE SCHEME · ASSUMED SUN ANGLES</a:t>
            </a:r>
          </a:p>
        </p:txBody>
      </p:sp>
      <p:sp>
        <p:nvSpPr>
          <p:cNvPr id="73" name="Text 72"/>
          <p:cNvSpPr txBox="1"/>
          <p:nvPr/>
        </p:nvSpPr>
        <p:spPr>
          <a:xfrm>
            <a:off x="7781544" y="2807208"/>
            <a:ext cx="228600" cy="274320"/>
          </a:xfrm>
          <a:prstGeom prst="rect">
            <a:avLst/>
          </a:prstGeom>
          <a:noFill/>
        </p:spPr>
        <p:txBody>
          <a:bodyPr wrap="square" lIns="13716" rIns="13716" tIns="13716" bIns="13716" anchor="t">
            <a:spAutoFit/>
          </a:bodyPr>
          <a:lstStyle/>
          <a:p>
            <a:pPr algn="l">
              <a:lnSpc>
                <a:spcPct val="108000"/>
              </a:lnSpc>
              <a:spcAft>
                <a:spcPts val="300"/>
              </a:spcAft>
              <a:defRPr sz="1100" b="1">
                <a:solidFill>
                  <a:srgbClr val="F2F5EE"/>
                </a:solidFill>
                <a:latin typeface="Arial"/>
              </a:defRPr>
            </a:pPr>
            <a:r>
              <a:t>N</a:t>
            </a:r>
          </a:p>
        </p:txBody>
      </p:sp>
      <p:sp>
        <p:nvSpPr>
          <p:cNvPr id="74" name="Panel 73"/>
          <p:cNvSpPr/>
          <p:nvPr/>
        </p:nvSpPr>
        <p:spPr>
          <a:xfrm>
            <a:off x="8330184" y="2194560"/>
            <a:ext cx="1051560" cy="292608"/>
          </a:xfrm>
          <a:prstGeom prst="roundRect">
            <a:avLst>
              <a:gd name="adj" fmla="val 9000"/>
            </a:avLst>
          </a:prstGeom>
          <a:solidFill>
            <a:srgbClr val="22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 74"/>
          <p:cNvSpPr txBox="1"/>
          <p:nvPr/>
        </p:nvSpPr>
        <p:spPr>
          <a:xfrm>
            <a:off x="8421624" y="2231136"/>
            <a:ext cx="868680" cy="219456"/>
          </a:xfrm>
          <a:prstGeom prst="rect">
            <a:avLst/>
          </a:prstGeom>
          <a:noFill/>
        </p:spPr>
        <p:txBody>
          <a:bodyPr wrap="square" lIns="13716" rIns="13716" tIns="13716" bIns="13716" anchor="t">
            <a:spAutoFit/>
          </a:bodyPr>
          <a:lstStyle/>
          <a:p>
            <a:pPr algn="l">
              <a:lnSpc>
                <a:spcPct val="108000"/>
              </a:lnSpc>
              <a:spcAft>
                <a:spcPts val="300"/>
              </a:spcAft>
              <a:defRPr sz="1300" b="1">
                <a:solidFill>
                  <a:srgbClr val="79DCAF"/>
                </a:solidFill>
                <a:latin typeface="Arial"/>
              </a:defRPr>
            </a:pPr>
            <a:r>
              <a:t>17.00</a:t>
            </a:r>
          </a:p>
        </p:txBody>
      </p:sp>
      <p:sp>
        <p:nvSpPr>
          <p:cNvPr id="76" name="Map canvas"/>
          <p:cNvSpPr/>
          <p:nvPr/>
        </p:nvSpPr>
        <p:spPr>
          <a:xfrm>
            <a:off x="8330184" y="2688336"/>
            <a:ext cx="3712463" cy="2542032"/>
          </a:xfrm>
          <a:prstGeom prst="roundRect">
            <a:avLst>
              <a:gd name="adj" fmla="val 9000"/>
            </a:avLst>
          </a:prstGeom>
          <a:solidFill>
            <a:srgbClr val="142C30"/>
          </a:solidFill>
          <a:ln w="12700">
            <a:solidFill>
              <a:srgbClr val="355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ad_v_1"/>
          <p:cNvSpPr/>
          <p:nvPr/>
        </p:nvSpPr>
        <p:spPr>
          <a:xfrm>
            <a:off x="8918454" y="2798064"/>
            <a:ext cx="160678" cy="217627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ad_v_2"/>
          <p:cNvSpPr/>
          <p:nvPr/>
        </p:nvSpPr>
        <p:spPr>
          <a:xfrm>
            <a:off x="10001286" y="2798064"/>
            <a:ext cx="160678" cy="217627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ad_v_3"/>
          <p:cNvSpPr/>
          <p:nvPr/>
        </p:nvSpPr>
        <p:spPr>
          <a:xfrm>
            <a:off x="11119049" y="2798064"/>
            <a:ext cx="160678" cy="217627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ad_h_1"/>
          <p:cNvSpPr/>
          <p:nvPr/>
        </p:nvSpPr>
        <p:spPr>
          <a:xfrm>
            <a:off x="8439912" y="3049423"/>
            <a:ext cx="3493007" cy="15016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ad_h_2"/>
          <p:cNvSpPr/>
          <p:nvPr/>
        </p:nvSpPr>
        <p:spPr>
          <a:xfrm>
            <a:off x="8439912" y="3789355"/>
            <a:ext cx="3493007" cy="15016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ad_h_3"/>
          <p:cNvSpPr/>
          <p:nvPr/>
        </p:nvSpPr>
        <p:spPr>
          <a:xfrm>
            <a:off x="8439912" y="4507525"/>
            <a:ext cx="3493007" cy="15016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ark_01"/>
          <p:cNvSpPr/>
          <p:nvPr/>
        </p:nvSpPr>
        <p:spPr>
          <a:xfrm>
            <a:off x="8492307" y="4005894"/>
            <a:ext cx="331835" cy="435254"/>
          </a:xfrm>
          <a:prstGeom prst="rect">
            <a:avLst/>
          </a:prstGeom>
          <a:solidFill>
            <a:srgbClr val="235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hadow building_01"/>
          <p:cNvSpPr/>
          <p:nvPr/>
        </p:nvSpPr>
        <p:spPr>
          <a:xfrm>
            <a:off x="9225838" y="3176178"/>
            <a:ext cx="904281" cy="481513"/>
          </a:xfrm>
          <a:custGeom>
            <a:avLst/>
            <a:gdLst/>
            <a:ahLst/>
            <a:cxnLst/>
            <a:rect l="l" t="t" r="r" b="b"/>
            <a:pathLst>
              <a:path w="904281" h="481513">
                <a:moveTo>
                  <a:pt x="0" y="111547"/>
                </a:moveTo>
                <a:lnTo>
                  <a:pt x="327934" y="0"/>
                </a:lnTo>
                <a:lnTo>
                  <a:pt x="904281" y="0"/>
                </a:lnTo>
                <a:lnTo>
                  <a:pt x="904281" y="369966"/>
                </a:lnTo>
                <a:lnTo>
                  <a:pt x="576347" y="481513"/>
                </a:lnTo>
                <a:lnTo>
                  <a:pt x="0" y="481513"/>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Shadow building_02"/>
          <p:cNvSpPr/>
          <p:nvPr/>
        </p:nvSpPr>
        <p:spPr>
          <a:xfrm>
            <a:off x="10308671" y="3204064"/>
            <a:ext cx="839761" cy="442746"/>
          </a:xfrm>
          <a:custGeom>
            <a:avLst/>
            <a:gdLst/>
            <a:ahLst/>
            <a:cxnLst/>
            <a:rect l="l" t="t" r="r" b="b"/>
            <a:pathLst>
              <a:path w="839761" h="442746">
                <a:moveTo>
                  <a:pt x="0" y="83661"/>
                </a:moveTo>
                <a:lnTo>
                  <a:pt x="245949" y="0"/>
                </a:lnTo>
                <a:lnTo>
                  <a:pt x="839761" y="0"/>
                </a:lnTo>
                <a:lnTo>
                  <a:pt x="839761" y="359085"/>
                </a:lnTo>
                <a:lnTo>
                  <a:pt x="593811" y="442746"/>
                </a:lnTo>
                <a:lnTo>
                  <a:pt x="0" y="442746"/>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hadow building_03"/>
          <p:cNvSpPr/>
          <p:nvPr/>
        </p:nvSpPr>
        <p:spPr>
          <a:xfrm>
            <a:off x="9225838" y="3934702"/>
            <a:ext cx="849626" cy="452040"/>
          </a:xfrm>
          <a:custGeom>
            <a:avLst/>
            <a:gdLst/>
            <a:ahLst/>
            <a:cxnLst/>
            <a:rect l="l" t="t" r="r" b="b"/>
            <a:pathLst>
              <a:path w="849626" h="452040">
                <a:moveTo>
                  <a:pt x="0" y="92955"/>
                </a:moveTo>
                <a:lnTo>
                  <a:pt x="273279" y="0"/>
                </a:lnTo>
                <a:lnTo>
                  <a:pt x="849626" y="0"/>
                </a:lnTo>
                <a:lnTo>
                  <a:pt x="849626" y="359085"/>
                </a:lnTo>
                <a:lnTo>
                  <a:pt x="576347" y="452040"/>
                </a:lnTo>
                <a:lnTo>
                  <a:pt x="0" y="452040"/>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Shadow building_04"/>
          <p:cNvSpPr/>
          <p:nvPr/>
        </p:nvSpPr>
        <p:spPr>
          <a:xfrm>
            <a:off x="10308671" y="3897518"/>
            <a:ext cx="976400" cy="489224"/>
          </a:xfrm>
          <a:custGeom>
            <a:avLst/>
            <a:gdLst/>
            <a:ahLst/>
            <a:cxnLst/>
            <a:rect l="l" t="t" r="r" b="b"/>
            <a:pathLst>
              <a:path w="976400" h="489224">
                <a:moveTo>
                  <a:pt x="0" y="130139"/>
                </a:moveTo>
                <a:lnTo>
                  <a:pt x="382589" y="0"/>
                </a:lnTo>
                <a:lnTo>
                  <a:pt x="976400" y="0"/>
                </a:lnTo>
                <a:lnTo>
                  <a:pt x="976400" y="359085"/>
                </a:lnTo>
                <a:lnTo>
                  <a:pt x="593811" y="489224"/>
                </a:lnTo>
                <a:lnTo>
                  <a:pt x="0" y="489224"/>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hadow building_05"/>
          <p:cNvSpPr/>
          <p:nvPr/>
        </p:nvSpPr>
        <p:spPr>
          <a:xfrm>
            <a:off x="11408968" y="3196354"/>
            <a:ext cx="523952" cy="461337"/>
          </a:xfrm>
          <a:custGeom>
            <a:avLst/>
            <a:gdLst/>
            <a:ahLst/>
            <a:cxnLst/>
            <a:rect l="l" t="t" r="r" b="b"/>
            <a:pathLst>
              <a:path w="523952" h="461337">
                <a:moveTo>
                  <a:pt x="0" y="102252"/>
                </a:moveTo>
                <a:lnTo>
                  <a:pt x="300605" y="0"/>
                </a:lnTo>
                <a:lnTo>
                  <a:pt x="523952" y="0"/>
                </a:lnTo>
                <a:lnTo>
                  <a:pt x="523952" y="407870"/>
                </a:lnTo>
                <a:lnTo>
                  <a:pt x="366766" y="461337"/>
                </a:lnTo>
                <a:lnTo>
                  <a:pt x="0" y="461337"/>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Shadow building_06"/>
          <p:cNvSpPr/>
          <p:nvPr/>
        </p:nvSpPr>
        <p:spPr>
          <a:xfrm>
            <a:off x="11408968" y="3954878"/>
            <a:ext cx="523952" cy="431864"/>
          </a:xfrm>
          <a:custGeom>
            <a:avLst/>
            <a:gdLst/>
            <a:ahLst/>
            <a:cxnLst/>
            <a:rect l="l" t="t" r="r" b="b"/>
            <a:pathLst>
              <a:path w="523952" h="431864">
                <a:moveTo>
                  <a:pt x="0" y="83661"/>
                </a:moveTo>
                <a:lnTo>
                  <a:pt x="245950" y="0"/>
                </a:lnTo>
                <a:lnTo>
                  <a:pt x="523952" y="0"/>
                </a:lnTo>
                <a:lnTo>
                  <a:pt x="523952" y="378397"/>
                </a:lnTo>
                <a:lnTo>
                  <a:pt x="366766" y="431864"/>
                </a:lnTo>
                <a:lnTo>
                  <a:pt x="0" y="431864"/>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hadow building_07"/>
          <p:cNvSpPr/>
          <p:nvPr/>
        </p:nvSpPr>
        <p:spPr>
          <a:xfrm>
            <a:off x="8527237" y="3228889"/>
            <a:ext cx="466935" cy="439683"/>
          </a:xfrm>
          <a:custGeom>
            <a:avLst/>
            <a:gdLst/>
            <a:ahLst/>
            <a:cxnLst/>
            <a:rect l="l" t="t" r="r" b="b"/>
            <a:pathLst>
              <a:path w="466935" h="439683">
                <a:moveTo>
                  <a:pt x="0" y="69717"/>
                </a:moveTo>
                <a:lnTo>
                  <a:pt x="204959" y="0"/>
                </a:lnTo>
                <a:lnTo>
                  <a:pt x="466935" y="0"/>
                </a:lnTo>
                <a:lnTo>
                  <a:pt x="466935" y="369966"/>
                </a:lnTo>
                <a:lnTo>
                  <a:pt x="261975" y="439683"/>
                </a:lnTo>
                <a:lnTo>
                  <a:pt x="0" y="439683"/>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building_01"/>
          <p:cNvSpPr/>
          <p:nvPr/>
        </p:nvSpPr>
        <p:spPr>
          <a:xfrm>
            <a:off x="9225838" y="3287725"/>
            <a:ext cx="576346" cy="36996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2" name="building_01 roof 1"/>
          <p:cNvCxnSpPr/>
          <p:nvPr/>
        </p:nvCxnSpPr>
        <p:spPr>
          <a:xfrm>
            <a:off x="9281726" y="3331250"/>
            <a:ext cx="46457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93" name="!!building_02"/>
          <p:cNvSpPr/>
          <p:nvPr/>
        </p:nvSpPr>
        <p:spPr>
          <a:xfrm>
            <a:off x="10308671" y="3287725"/>
            <a:ext cx="593811" cy="359084"/>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4" name="building_02 roof 1"/>
          <p:cNvCxnSpPr/>
          <p:nvPr/>
        </p:nvCxnSpPr>
        <p:spPr>
          <a:xfrm>
            <a:off x="10364559" y="3331250"/>
            <a:ext cx="482035"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95" name="!!building_03"/>
          <p:cNvSpPr/>
          <p:nvPr/>
        </p:nvSpPr>
        <p:spPr>
          <a:xfrm>
            <a:off x="9225838" y="4027657"/>
            <a:ext cx="576346" cy="359084"/>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6" name="building_03 roof 1"/>
          <p:cNvCxnSpPr/>
          <p:nvPr/>
        </p:nvCxnSpPr>
        <p:spPr>
          <a:xfrm>
            <a:off x="9281726" y="4071183"/>
            <a:ext cx="46457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97" name="!!building_04"/>
          <p:cNvSpPr/>
          <p:nvPr/>
        </p:nvSpPr>
        <p:spPr>
          <a:xfrm>
            <a:off x="10308671" y="4027657"/>
            <a:ext cx="593811" cy="359084"/>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8" name="building_04 roof 1"/>
          <p:cNvCxnSpPr/>
          <p:nvPr/>
        </p:nvCxnSpPr>
        <p:spPr>
          <a:xfrm>
            <a:off x="10364559" y="4071183"/>
            <a:ext cx="482035"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99" name="!!building_05"/>
          <p:cNvSpPr/>
          <p:nvPr/>
        </p:nvSpPr>
        <p:spPr>
          <a:xfrm>
            <a:off x="11408968" y="3298606"/>
            <a:ext cx="366765" cy="359084"/>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0" name="building_05 roof 1"/>
          <p:cNvCxnSpPr/>
          <p:nvPr/>
        </p:nvCxnSpPr>
        <p:spPr>
          <a:xfrm>
            <a:off x="11464856" y="3342132"/>
            <a:ext cx="25499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101" name="!!building_06"/>
          <p:cNvSpPr/>
          <p:nvPr/>
        </p:nvSpPr>
        <p:spPr>
          <a:xfrm>
            <a:off x="11408968" y="4038539"/>
            <a:ext cx="366765" cy="348203"/>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2" name="building_06 roof 1"/>
          <p:cNvCxnSpPr/>
          <p:nvPr/>
        </p:nvCxnSpPr>
        <p:spPr>
          <a:xfrm>
            <a:off x="11464856" y="4082064"/>
            <a:ext cx="25499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103" name="!!building_07"/>
          <p:cNvSpPr/>
          <p:nvPr/>
        </p:nvSpPr>
        <p:spPr>
          <a:xfrm>
            <a:off x="8527237" y="3298606"/>
            <a:ext cx="261975" cy="36996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4" name="building_07 roof 1"/>
          <p:cNvCxnSpPr/>
          <p:nvPr/>
        </p:nvCxnSpPr>
        <p:spPr>
          <a:xfrm>
            <a:off x="8583125" y="3342132"/>
            <a:ext cx="150199"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105" name="Text 104"/>
          <p:cNvSpPr txBox="1"/>
          <p:nvPr/>
        </p:nvSpPr>
        <p:spPr>
          <a:xfrm>
            <a:off x="8467344" y="5001768"/>
            <a:ext cx="3438144" cy="173736"/>
          </a:xfrm>
          <a:prstGeom prst="rect">
            <a:avLst/>
          </a:prstGeom>
          <a:noFill/>
        </p:spPr>
        <p:txBody>
          <a:bodyPr wrap="square" lIns="13716" rIns="13716" tIns="13716" bIns="13716" anchor="t">
            <a:spAutoFit/>
          </a:bodyPr>
          <a:lstStyle/>
          <a:p>
            <a:pPr algn="l">
              <a:lnSpc>
                <a:spcPct val="108000"/>
              </a:lnSpc>
              <a:spcAft>
                <a:spcPts val="300"/>
              </a:spcAft>
              <a:defRPr sz="900" b="1">
                <a:solidFill>
                  <a:srgbClr val="A8B8AC"/>
                </a:solidFill>
                <a:latin typeface="Arial"/>
              </a:defRPr>
            </a:pPr>
            <a:r>
              <a:t>ILLUSTRATIVE SCHEME · ASSUMED SUN ANGLES</a:t>
            </a:r>
          </a:p>
        </p:txBody>
      </p:sp>
      <p:sp>
        <p:nvSpPr>
          <p:cNvPr id="106" name="Text 105"/>
          <p:cNvSpPr txBox="1"/>
          <p:nvPr/>
        </p:nvSpPr>
        <p:spPr>
          <a:xfrm>
            <a:off x="11658600" y="2807208"/>
            <a:ext cx="228600" cy="274320"/>
          </a:xfrm>
          <a:prstGeom prst="rect">
            <a:avLst/>
          </a:prstGeom>
          <a:noFill/>
        </p:spPr>
        <p:txBody>
          <a:bodyPr wrap="square" lIns="13716" rIns="13716" tIns="13716" bIns="13716" anchor="t">
            <a:spAutoFit/>
          </a:bodyPr>
          <a:lstStyle/>
          <a:p>
            <a:pPr algn="l">
              <a:lnSpc>
                <a:spcPct val="108000"/>
              </a:lnSpc>
              <a:spcAft>
                <a:spcPts val="300"/>
              </a:spcAft>
              <a:defRPr sz="1100" b="1">
                <a:solidFill>
                  <a:srgbClr val="F2F5EE"/>
                </a:solidFill>
                <a:latin typeface="Arial"/>
              </a:defRPr>
            </a:pPr>
            <a:r>
              <a:t>N</a:t>
            </a:r>
          </a:p>
        </p:txBody>
      </p:sp>
      <p:sp>
        <p:nvSpPr>
          <p:cNvPr id="107" name="Text 106"/>
          <p:cNvSpPr txBox="1"/>
          <p:nvPr/>
        </p:nvSpPr>
        <p:spPr>
          <a:xfrm>
            <a:off x="640080" y="5532120"/>
            <a:ext cx="7406640" cy="384048"/>
          </a:xfrm>
          <a:prstGeom prst="rect">
            <a:avLst/>
          </a:prstGeom>
          <a:noFill/>
        </p:spPr>
        <p:txBody>
          <a:bodyPr wrap="square" lIns="13716" rIns="13716" tIns="13716" bIns="13716" anchor="t">
            <a:spAutoFit/>
          </a:bodyPr>
          <a:lstStyle/>
          <a:p>
            <a:pPr algn="l">
              <a:lnSpc>
                <a:spcPct val="108000"/>
              </a:lnSpc>
              <a:spcAft>
                <a:spcPts val="300"/>
              </a:spcAft>
              <a:defRPr sz="2200" b="1">
                <a:solidFill>
                  <a:srgbClr val="F2F5EE"/>
                </a:solidFill>
                <a:latin typeface="Arial"/>
              </a:defRPr>
            </a:pPr>
            <a:r>
              <a:t>Same geometry · different assumed solar positions</a:t>
            </a:r>
          </a:p>
        </p:txBody>
      </p:sp>
      <p:sp>
        <p:nvSpPr>
          <p:cNvPr id="108" name="Button 3D view">
            <a:hlinkClick action="ppaction://hlinksldjump" r:id="rId3"/>
          </p:cNvPr>
          <p:cNvSpPr/>
          <p:nvPr/>
        </p:nvSpPr>
        <p:spPr>
          <a:xfrm>
            <a:off x="8549640" y="5522976"/>
            <a:ext cx="132588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Button label 3D view">
            <a:hlinkClick action="ppaction://hlinksldjump" r:id="rId3"/>
          </p:cNvPr>
          <p:cNvSpPr txBox="1"/>
          <p:nvPr/>
        </p:nvSpPr>
        <p:spPr>
          <a:xfrm>
            <a:off x="8659367" y="5596128"/>
            <a:ext cx="110642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3D view</a:t>
            </a:r>
          </a:p>
        </p:txBody>
      </p:sp>
      <p:sp>
        <p:nvSpPr>
          <p:cNvPr id="110" name="Button Choose time">
            <a:hlinkClick action="ppaction://hlinksldjump" r:id="rId4"/>
          </p:cNvPr>
          <p:cNvSpPr/>
          <p:nvPr/>
        </p:nvSpPr>
        <p:spPr>
          <a:xfrm>
            <a:off x="10040112" y="5522976"/>
            <a:ext cx="150876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Button label Choose time">
            <a:hlinkClick action="ppaction://hlinksldjump" r:id="rId4"/>
          </p:cNvPr>
          <p:cNvSpPr txBox="1"/>
          <p:nvPr/>
        </p:nvSpPr>
        <p:spPr>
          <a:xfrm>
            <a:off x="10149840" y="5596128"/>
            <a:ext cx="128930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Choose time</a:t>
            </a:r>
          </a:p>
        </p:txBody>
      </p:sp>
      <p:sp>
        <p:nvSpPr>
          <p:cNvPr id="112" name="Source reference">
            <a:hlinkClick action="ppaction://hlinksldjump" r:id="rId5"/>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Overture Buildings · CoolWalks · Soya planning model</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80" fill="hold"/>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80" fill="hold"/>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80" fill="hold"/>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280" fill="hold"/>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80" fill="hold"/>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280" fill="hold"/>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280" fill="hold"/>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280" fill="hold"/>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280" fill="hold"/>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280" fill="hold"/>
                                        <p:tgtEl>
                                          <p:spTgt spid="1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280" fill="hold"/>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280" fill="hold"/>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280" fill="hold"/>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280" fill="hold"/>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280" fill="hold"/>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280" fill="hold"/>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280" fill="hold"/>
                                        <p:tgtEl>
                                          <p:spTgt spid="2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280" fill="hold"/>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280" fill="hold"/>
                                        <p:tgtEl>
                                          <p:spTgt spid="2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280" fill="hold"/>
                                        <p:tgtEl>
                                          <p:spTgt spid="2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280" fill="hold"/>
                                        <p:tgtEl>
                                          <p:spTgt spid="3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280" fill="hold"/>
                                        <p:tgtEl>
                                          <p:spTgt spid="3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280" fill="hold"/>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280" fill="hold"/>
                                        <p:tgtEl>
                                          <p:spTgt spid="3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280" fill="hold"/>
                                        <p:tgtEl>
                                          <p:spTgt spid="3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fade">
                                      <p:cBhvr>
                                        <p:cTn id="82" dur="280" fill="hold"/>
                                        <p:tgtEl>
                                          <p:spTgt spid="35"/>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fade">
                                      <p:cBhvr>
                                        <p:cTn id="85" dur="280" fill="hold"/>
                                        <p:tgtEl>
                                          <p:spTgt spid="3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280" fill="hold"/>
                                        <p:tgtEl>
                                          <p:spTgt spid="3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280" fill="hold"/>
                                        <p:tgtEl>
                                          <p:spTgt spid="38"/>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fade">
                                      <p:cBhvr>
                                        <p:cTn id="94" dur="280" fill="hold"/>
                                        <p:tgtEl>
                                          <p:spTgt spid="3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280" fill="hold"/>
                                        <p:tgtEl>
                                          <p:spTgt spid="4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fade">
                                      <p:cBhvr>
                                        <p:cTn id="100" dur="280" fill="hold"/>
                                        <p:tgtEl>
                                          <p:spTgt spid="4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3" dur="280" fill="hold"/>
                                        <p:tgtEl>
                                          <p:spTgt spid="4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6"/>
                                        </p:tgtEl>
                                        <p:attrNameLst>
                                          <p:attrName>style.visibility</p:attrName>
                                        </p:attrNameLst>
                                      </p:cBhvr>
                                      <p:to>
                                        <p:strVal val="visible"/>
                                      </p:to>
                                    </p:set>
                                    <p:animEffect transition="in" filter="fade">
                                      <p:cBhvr>
                                        <p:cTn id="106" dur="280" fill="hold"/>
                                        <p:tgtEl>
                                          <p:spTgt spid="4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7"/>
                                        </p:tgtEl>
                                        <p:attrNameLst>
                                          <p:attrName>style.visibility</p:attrName>
                                        </p:attrNameLst>
                                      </p:cBhvr>
                                      <p:to>
                                        <p:strVal val="visible"/>
                                      </p:to>
                                    </p:set>
                                    <p:animEffect transition="in" filter="fade">
                                      <p:cBhvr>
                                        <p:cTn id="109" dur="280" fill="hold"/>
                                        <p:tgtEl>
                                          <p:spTgt spid="4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fade">
                                      <p:cBhvr>
                                        <p:cTn id="112" dur="280" fill="hold"/>
                                        <p:tgtEl>
                                          <p:spTgt spid="4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9"/>
                                        </p:tgtEl>
                                        <p:attrNameLst>
                                          <p:attrName>style.visibility</p:attrName>
                                        </p:attrNameLst>
                                      </p:cBhvr>
                                      <p:to>
                                        <p:strVal val="visible"/>
                                      </p:to>
                                    </p:set>
                                    <p:animEffect transition="in" filter="fade">
                                      <p:cBhvr>
                                        <p:cTn id="115" dur="280" fill="hold"/>
                                        <p:tgtEl>
                                          <p:spTgt spid="49"/>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50"/>
                                        </p:tgtEl>
                                        <p:attrNameLst>
                                          <p:attrName>style.visibility</p:attrName>
                                        </p:attrNameLst>
                                      </p:cBhvr>
                                      <p:to>
                                        <p:strVal val="visible"/>
                                      </p:to>
                                    </p:set>
                                    <p:animEffect transition="in" filter="fade">
                                      <p:cBhvr>
                                        <p:cTn id="118" dur="280" fill="hold"/>
                                        <p:tgtEl>
                                          <p:spTgt spid="50"/>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51"/>
                                        </p:tgtEl>
                                        <p:attrNameLst>
                                          <p:attrName>style.visibility</p:attrName>
                                        </p:attrNameLst>
                                      </p:cBhvr>
                                      <p:to>
                                        <p:strVal val="visible"/>
                                      </p:to>
                                    </p:set>
                                    <p:animEffect transition="in" filter="fade">
                                      <p:cBhvr>
                                        <p:cTn id="121" dur="280" fill="hold"/>
                                        <p:tgtEl>
                                          <p:spTgt spid="51"/>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52"/>
                                        </p:tgtEl>
                                        <p:attrNameLst>
                                          <p:attrName>style.visibility</p:attrName>
                                        </p:attrNameLst>
                                      </p:cBhvr>
                                      <p:to>
                                        <p:strVal val="visible"/>
                                      </p:to>
                                    </p:set>
                                    <p:animEffect transition="in" filter="fade">
                                      <p:cBhvr>
                                        <p:cTn id="124" dur="280" fill="hold"/>
                                        <p:tgtEl>
                                          <p:spTgt spid="52"/>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53"/>
                                        </p:tgtEl>
                                        <p:attrNameLst>
                                          <p:attrName>style.visibility</p:attrName>
                                        </p:attrNameLst>
                                      </p:cBhvr>
                                      <p:to>
                                        <p:strVal val="visible"/>
                                      </p:to>
                                    </p:set>
                                    <p:animEffect transition="in" filter="fade">
                                      <p:cBhvr>
                                        <p:cTn id="127" dur="280" fill="hold"/>
                                        <p:tgtEl>
                                          <p:spTgt spid="53"/>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54"/>
                                        </p:tgtEl>
                                        <p:attrNameLst>
                                          <p:attrName>style.visibility</p:attrName>
                                        </p:attrNameLst>
                                      </p:cBhvr>
                                      <p:to>
                                        <p:strVal val="visible"/>
                                      </p:to>
                                    </p:set>
                                    <p:animEffect transition="in" filter="fade">
                                      <p:cBhvr>
                                        <p:cTn id="130" dur="280" fill="hold"/>
                                        <p:tgtEl>
                                          <p:spTgt spid="54"/>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55"/>
                                        </p:tgtEl>
                                        <p:attrNameLst>
                                          <p:attrName>style.visibility</p:attrName>
                                        </p:attrNameLst>
                                      </p:cBhvr>
                                      <p:to>
                                        <p:strVal val="visible"/>
                                      </p:to>
                                    </p:set>
                                    <p:animEffect transition="in" filter="fade">
                                      <p:cBhvr>
                                        <p:cTn id="133" dur="280" fill="hold"/>
                                        <p:tgtEl>
                                          <p:spTgt spid="55"/>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56"/>
                                        </p:tgtEl>
                                        <p:attrNameLst>
                                          <p:attrName>style.visibility</p:attrName>
                                        </p:attrNameLst>
                                      </p:cBhvr>
                                      <p:to>
                                        <p:strVal val="visible"/>
                                      </p:to>
                                    </p:set>
                                    <p:animEffect transition="in" filter="fade">
                                      <p:cBhvr>
                                        <p:cTn id="136" dur="280" fill="hold"/>
                                        <p:tgtEl>
                                          <p:spTgt spid="56"/>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7"/>
                                        </p:tgtEl>
                                        <p:attrNameLst>
                                          <p:attrName>style.visibility</p:attrName>
                                        </p:attrNameLst>
                                      </p:cBhvr>
                                      <p:to>
                                        <p:strVal val="visible"/>
                                      </p:to>
                                    </p:set>
                                    <p:animEffect transition="in" filter="fade">
                                      <p:cBhvr>
                                        <p:cTn id="139" dur="280" fill="hold"/>
                                        <p:tgtEl>
                                          <p:spTgt spid="57"/>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8"/>
                                        </p:tgtEl>
                                        <p:attrNameLst>
                                          <p:attrName>style.visibility</p:attrName>
                                        </p:attrNameLst>
                                      </p:cBhvr>
                                      <p:to>
                                        <p:strVal val="visible"/>
                                      </p:to>
                                    </p:set>
                                    <p:animEffect transition="in" filter="fade">
                                      <p:cBhvr>
                                        <p:cTn id="142" dur="280" fill="hold"/>
                                        <p:tgtEl>
                                          <p:spTgt spid="58"/>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9"/>
                                        </p:tgtEl>
                                        <p:attrNameLst>
                                          <p:attrName>style.visibility</p:attrName>
                                        </p:attrNameLst>
                                      </p:cBhvr>
                                      <p:to>
                                        <p:strVal val="visible"/>
                                      </p:to>
                                    </p:set>
                                    <p:animEffect transition="in" filter="fade">
                                      <p:cBhvr>
                                        <p:cTn id="145" dur="280" fill="hold"/>
                                        <p:tgtEl>
                                          <p:spTgt spid="59"/>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60"/>
                                        </p:tgtEl>
                                        <p:attrNameLst>
                                          <p:attrName>style.visibility</p:attrName>
                                        </p:attrNameLst>
                                      </p:cBhvr>
                                      <p:to>
                                        <p:strVal val="visible"/>
                                      </p:to>
                                    </p:set>
                                    <p:animEffect transition="in" filter="fade">
                                      <p:cBhvr>
                                        <p:cTn id="148" dur="280" fill="hold"/>
                                        <p:tgtEl>
                                          <p:spTgt spid="60"/>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61"/>
                                        </p:tgtEl>
                                        <p:attrNameLst>
                                          <p:attrName>style.visibility</p:attrName>
                                        </p:attrNameLst>
                                      </p:cBhvr>
                                      <p:to>
                                        <p:strVal val="visible"/>
                                      </p:to>
                                    </p:set>
                                    <p:animEffect transition="in" filter="fade">
                                      <p:cBhvr>
                                        <p:cTn id="151" dur="280" fill="hold"/>
                                        <p:tgtEl>
                                          <p:spTgt spid="61"/>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62"/>
                                        </p:tgtEl>
                                        <p:attrNameLst>
                                          <p:attrName>style.visibility</p:attrName>
                                        </p:attrNameLst>
                                      </p:cBhvr>
                                      <p:to>
                                        <p:strVal val="visible"/>
                                      </p:to>
                                    </p:set>
                                    <p:animEffect transition="in" filter="fade">
                                      <p:cBhvr>
                                        <p:cTn id="154" dur="280" fill="hold"/>
                                        <p:tgtEl>
                                          <p:spTgt spid="62"/>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63"/>
                                        </p:tgtEl>
                                        <p:attrNameLst>
                                          <p:attrName>style.visibility</p:attrName>
                                        </p:attrNameLst>
                                      </p:cBhvr>
                                      <p:to>
                                        <p:strVal val="visible"/>
                                      </p:to>
                                    </p:set>
                                    <p:animEffect transition="in" filter="fade">
                                      <p:cBhvr>
                                        <p:cTn id="157" dur="280" fill="hold"/>
                                        <p:tgtEl>
                                          <p:spTgt spid="63"/>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64"/>
                                        </p:tgtEl>
                                        <p:attrNameLst>
                                          <p:attrName>style.visibility</p:attrName>
                                        </p:attrNameLst>
                                      </p:cBhvr>
                                      <p:to>
                                        <p:strVal val="visible"/>
                                      </p:to>
                                    </p:set>
                                    <p:animEffect transition="in" filter="fade">
                                      <p:cBhvr>
                                        <p:cTn id="160" dur="280" fill="hold"/>
                                        <p:tgtEl>
                                          <p:spTgt spid="64"/>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5"/>
                                        </p:tgtEl>
                                        <p:attrNameLst>
                                          <p:attrName>style.visibility</p:attrName>
                                        </p:attrNameLst>
                                      </p:cBhvr>
                                      <p:to>
                                        <p:strVal val="visible"/>
                                      </p:to>
                                    </p:set>
                                    <p:animEffect transition="in" filter="fade">
                                      <p:cBhvr>
                                        <p:cTn id="163" dur="280" fill="hold"/>
                                        <p:tgtEl>
                                          <p:spTgt spid="65"/>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66"/>
                                        </p:tgtEl>
                                        <p:attrNameLst>
                                          <p:attrName>style.visibility</p:attrName>
                                        </p:attrNameLst>
                                      </p:cBhvr>
                                      <p:to>
                                        <p:strVal val="visible"/>
                                      </p:to>
                                    </p:set>
                                    <p:animEffect transition="in" filter="fade">
                                      <p:cBhvr>
                                        <p:cTn id="166" dur="280" fill="hold"/>
                                        <p:tgtEl>
                                          <p:spTgt spid="66"/>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7"/>
                                        </p:tgtEl>
                                        <p:attrNameLst>
                                          <p:attrName>style.visibility</p:attrName>
                                        </p:attrNameLst>
                                      </p:cBhvr>
                                      <p:to>
                                        <p:strVal val="visible"/>
                                      </p:to>
                                    </p:set>
                                    <p:animEffect transition="in" filter="fade">
                                      <p:cBhvr>
                                        <p:cTn id="169" dur="280" fill="hold"/>
                                        <p:tgtEl>
                                          <p:spTgt spid="67"/>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8"/>
                                        </p:tgtEl>
                                        <p:attrNameLst>
                                          <p:attrName>style.visibility</p:attrName>
                                        </p:attrNameLst>
                                      </p:cBhvr>
                                      <p:to>
                                        <p:strVal val="visible"/>
                                      </p:to>
                                    </p:set>
                                    <p:animEffect transition="in" filter="fade">
                                      <p:cBhvr>
                                        <p:cTn id="172" dur="280" fill="hold"/>
                                        <p:tgtEl>
                                          <p:spTgt spid="68"/>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9"/>
                                        </p:tgtEl>
                                        <p:attrNameLst>
                                          <p:attrName>style.visibility</p:attrName>
                                        </p:attrNameLst>
                                      </p:cBhvr>
                                      <p:to>
                                        <p:strVal val="visible"/>
                                      </p:to>
                                    </p:set>
                                    <p:animEffect transition="in" filter="fade">
                                      <p:cBhvr>
                                        <p:cTn id="175" dur="280" fill="hold"/>
                                        <p:tgtEl>
                                          <p:spTgt spid="69"/>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70"/>
                                        </p:tgtEl>
                                        <p:attrNameLst>
                                          <p:attrName>style.visibility</p:attrName>
                                        </p:attrNameLst>
                                      </p:cBhvr>
                                      <p:to>
                                        <p:strVal val="visible"/>
                                      </p:to>
                                    </p:set>
                                    <p:animEffect transition="in" filter="fade">
                                      <p:cBhvr>
                                        <p:cTn id="178" dur="280" fill="hold"/>
                                        <p:tgtEl>
                                          <p:spTgt spid="70"/>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71"/>
                                        </p:tgtEl>
                                        <p:attrNameLst>
                                          <p:attrName>style.visibility</p:attrName>
                                        </p:attrNameLst>
                                      </p:cBhvr>
                                      <p:to>
                                        <p:strVal val="visible"/>
                                      </p:to>
                                    </p:set>
                                    <p:animEffect transition="in" filter="fade">
                                      <p:cBhvr>
                                        <p:cTn id="181" dur="280" fill="hold"/>
                                        <p:tgtEl>
                                          <p:spTgt spid="71"/>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72"/>
                                        </p:tgtEl>
                                        <p:attrNameLst>
                                          <p:attrName>style.visibility</p:attrName>
                                        </p:attrNameLst>
                                      </p:cBhvr>
                                      <p:to>
                                        <p:strVal val="visible"/>
                                      </p:to>
                                    </p:set>
                                    <p:animEffect transition="in" filter="fade">
                                      <p:cBhvr>
                                        <p:cTn id="184" dur="280" fill="hold"/>
                                        <p:tgtEl>
                                          <p:spTgt spid="72"/>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76"/>
                                        </p:tgtEl>
                                        <p:attrNameLst>
                                          <p:attrName>style.visibility</p:attrName>
                                        </p:attrNameLst>
                                      </p:cBhvr>
                                      <p:to>
                                        <p:strVal val="visible"/>
                                      </p:to>
                                    </p:set>
                                    <p:animEffect transition="in" filter="fade">
                                      <p:cBhvr>
                                        <p:cTn id="187" dur="280" fill="hold"/>
                                        <p:tgtEl>
                                          <p:spTgt spid="76"/>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77"/>
                                        </p:tgtEl>
                                        <p:attrNameLst>
                                          <p:attrName>style.visibility</p:attrName>
                                        </p:attrNameLst>
                                      </p:cBhvr>
                                      <p:to>
                                        <p:strVal val="visible"/>
                                      </p:to>
                                    </p:set>
                                    <p:animEffect transition="in" filter="fade">
                                      <p:cBhvr>
                                        <p:cTn id="190" dur="280" fill="hold"/>
                                        <p:tgtEl>
                                          <p:spTgt spid="77"/>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78"/>
                                        </p:tgtEl>
                                        <p:attrNameLst>
                                          <p:attrName>style.visibility</p:attrName>
                                        </p:attrNameLst>
                                      </p:cBhvr>
                                      <p:to>
                                        <p:strVal val="visible"/>
                                      </p:to>
                                    </p:set>
                                    <p:animEffect transition="in" filter="fade">
                                      <p:cBhvr>
                                        <p:cTn id="193" dur="280" fill="hold"/>
                                        <p:tgtEl>
                                          <p:spTgt spid="78"/>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79"/>
                                        </p:tgtEl>
                                        <p:attrNameLst>
                                          <p:attrName>style.visibility</p:attrName>
                                        </p:attrNameLst>
                                      </p:cBhvr>
                                      <p:to>
                                        <p:strVal val="visible"/>
                                      </p:to>
                                    </p:set>
                                    <p:animEffect transition="in" filter="fade">
                                      <p:cBhvr>
                                        <p:cTn id="196" dur="280" fill="hold"/>
                                        <p:tgtEl>
                                          <p:spTgt spid="79"/>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80"/>
                                        </p:tgtEl>
                                        <p:attrNameLst>
                                          <p:attrName>style.visibility</p:attrName>
                                        </p:attrNameLst>
                                      </p:cBhvr>
                                      <p:to>
                                        <p:strVal val="visible"/>
                                      </p:to>
                                    </p:set>
                                    <p:animEffect transition="in" filter="fade">
                                      <p:cBhvr>
                                        <p:cTn id="199" dur="280" fill="hold"/>
                                        <p:tgtEl>
                                          <p:spTgt spid="80"/>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81"/>
                                        </p:tgtEl>
                                        <p:attrNameLst>
                                          <p:attrName>style.visibility</p:attrName>
                                        </p:attrNameLst>
                                      </p:cBhvr>
                                      <p:to>
                                        <p:strVal val="visible"/>
                                      </p:to>
                                    </p:set>
                                    <p:animEffect transition="in" filter="fade">
                                      <p:cBhvr>
                                        <p:cTn id="202" dur="280" fill="hold"/>
                                        <p:tgtEl>
                                          <p:spTgt spid="81"/>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82"/>
                                        </p:tgtEl>
                                        <p:attrNameLst>
                                          <p:attrName>style.visibility</p:attrName>
                                        </p:attrNameLst>
                                      </p:cBhvr>
                                      <p:to>
                                        <p:strVal val="visible"/>
                                      </p:to>
                                    </p:set>
                                    <p:animEffect transition="in" filter="fade">
                                      <p:cBhvr>
                                        <p:cTn id="205" dur="280" fill="hold"/>
                                        <p:tgtEl>
                                          <p:spTgt spid="82"/>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83"/>
                                        </p:tgtEl>
                                        <p:attrNameLst>
                                          <p:attrName>style.visibility</p:attrName>
                                        </p:attrNameLst>
                                      </p:cBhvr>
                                      <p:to>
                                        <p:strVal val="visible"/>
                                      </p:to>
                                    </p:set>
                                    <p:animEffect transition="in" filter="fade">
                                      <p:cBhvr>
                                        <p:cTn id="208" dur="280" fill="hold"/>
                                        <p:tgtEl>
                                          <p:spTgt spid="83"/>
                                        </p:tgtEl>
                                      </p:cBhvr>
                                    </p:animEffect>
                                  </p:childTnLst>
                                </p:cTn>
                              </p:par>
                              <p:par>
                                <p:cTn id="209" presetID="10" presetClass="entr" presetSubtype="0" fill="hold" grpId="0" nodeType="withEffect">
                                  <p:stCondLst>
                                    <p:cond delay="0"/>
                                  </p:stCondLst>
                                  <p:childTnLst>
                                    <p:set>
                                      <p:cBhvr>
                                        <p:cTn id="210" dur="1" fill="hold">
                                          <p:stCondLst>
                                            <p:cond delay="0"/>
                                          </p:stCondLst>
                                        </p:cTn>
                                        <p:tgtEl>
                                          <p:spTgt spid="84"/>
                                        </p:tgtEl>
                                        <p:attrNameLst>
                                          <p:attrName>style.visibility</p:attrName>
                                        </p:attrNameLst>
                                      </p:cBhvr>
                                      <p:to>
                                        <p:strVal val="visible"/>
                                      </p:to>
                                    </p:set>
                                    <p:animEffect transition="in" filter="fade">
                                      <p:cBhvr>
                                        <p:cTn id="211" dur="280" fill="hold"/>
                                        <p:tgtEl>
                                          <p:spTgt spid="84"/>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85"/>
                                        </p:tgtEl>
                                        <p:attrNameLst>
                                          <p:attrName>style.visibility</p:attrName>
                                        </p:attrNameLst>
                                      </p:cBhvr>
                                      <p:to>
                                        <p:strVal val="visible"/>
                                      </p:to>
                                    </p:set>
                                    <p:animEffect transition="in" filter="fade">
                                      <p:cBhvr>
                                        <p:cTn id="214" dur="280" fill="hold"/>
                                        <p:tgtEl>
                                          <p:spTgt spid="85"/>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86"/>
                                        </p:tgtEl>
                                        <p:attrNameLst>
                                          <p:attrName>style.visibility</p:attrName>
                                        </p:attrNameLst>
                                      </p:cBhvr>
                                      <p:to>
                                        <p:strVal val="visible"/>
                                      </p:to>
                                    </p:set>
                                    <p:animEffect transition="in" filter="fade">
                                      <p:cBhvr>
                                        <p:cTn id="217" dur="280" fill="hold"/>
                                        <p:tgtEl>
                                          <p:spTgt spid="86"/>
                                        </p:tgtEl>
                                      </p:cBhvr>
                                    </p:animEffect>
                                  </p:childTnLst>
                                </p:cTn>
                              </p:par>
                              <p:par>
                                <p:cTn id="218" presetID="10" presetClass="entr" presetSubtype="0" fill="hold" grpId="0" nodeType="withEffect">
                                  <p:stCondLst>
                                    <p:cond delay="0"/>
                                  </p:stCondLst>
                                  <p:childTnLst>
                                    <p:set>
                                      <p:cBhvr>
                                        <p:cTn id="219" dur="1" fill="hold">
                                          <p:stCondLst>
                                            <p:cond delay="0"/>
                                          </p:stCondLst>
                                        </p:cTn>
                                        <p:tgtEl>
                                          <p:spTgt spid="87"/>
                                        </p:tgtEl>
                                        <p:attrNameLst>
                                          <p:attrName>style.visibility</p:attrName>
                                        </p:attrNameLst>
                                      </p:cBhvr>
                                      <p:to>
                                        <p:strVal val="visible"/>
                                      </p:to>
                                    </p:set>
                                    <p:animEffect transition="in" filter="fade">
                                      <p:cBhvr>
                                        <p:cTn id="220" dur="280" fill="hold"/>
                                        <p:tgtEl>
                                          <p:spTgt spid="87"/>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88"/>
                                        </p:tgtEl>
                                        <p:attrNameLst>
                                          <p:attrName>style.visibility</p:attrName>
                                        </p:attrNameLst>
                                      </p:cBhvr>
                                      <p:to>
                                        <p:strVal val="visible"/>
                                      </p:to>
                                    </p:set>
                                    <p:animEffect transition="in" filter="fade">
                                      <p:cBhvr>
                                        <p:cTn id="223" dur="280" fill="hold"/>
                                        <p:tgtEl>
                                          <p:spTgt spid="88"/>
                                        </p:tgtEl>
                                      </p:cBhvr>
                                    </p:animEffect>
                                  </p:childTnLst>
                                </p:cTn>
                              </p:par>
                              <p:par>
                                <p:cTn id="224" presetID="10" presetClass="entr" presetSubtype="0" fill="hold" grpId="0" nodeType="withEffect">
                                  <p:stCondLst>
                                    <p:cond delay="0"/>
                                  </p:stCondLst>
                                  <p:childTnLst>
                                    <p:set>
                                      <p:cBhvr>
                                        <p:cTn id="225" dur="1" fill="hold">
                                          <p:stCondLst>
                                            <p:cond delay="0"/>
                                          </p:stCondLst>
                                        </p:cTn>
                                        <p:tgtEl>
                                          <p:spTgt spid="89"/>
                                        </p:tgtEl>
                                        <p:attrNameLst>
                                          <p:attrName>style.visibility</p:attrName>
                                        </p:attrNameLst>
                                      </p:cBhvr>
                                      <p:to>
                                        <p:strVal val="visible"/>
                                      </p:to>
                                    </p:set>
                                    <p:animEffect transition="in" filter="fade">
                                      <p:cBhvr>
                                        <p:cTn id="226" dur="280" fill="hold"/>
                                        <p:tgtEl>
                                          <p:spTgt spid="89"/>
                                        </p:tgtEl>
                                      </p:cBhvr>
                                    </p:animEffect>
                                  </p:childTnLst>
                                </p:cTn>
                              </p:par>
                              <p:par>
                                <p:cTn id="227" presetID="10" presetClass="entr" presetSubtype="0" fill="hold" grpId="0" nodeType="withEffect">
                                  <p:stCondLst>
                                    <p:cond delay="0"/>
                                  </p:stCondLst>
                                  <p:childTnLst>
                                    <p:set>
                                      <p:cBhvr>
                                        <p:cTn id="228" dur="1" fill="hold">
                                          <p:stCondLst>
                                            <p:cond delay="0"/>
                                          </p:stCondLst>
                                        </p:cTn>
                                        <p:tgtEl>
                                          <p:spTgt spid="90"/>
                                        </p:tgtEl>
                                        <p:attrNameLst>
                                          <p:attrName>style.visibility</p:attrName>
                                        </p:attrNameLst>
                                      </p:cBhvr>
                                      <p:to>
                                        <p:strVal val="visible"/>
                                      </p:to>
                                    </p:set>
                                    <p:animEffect transition="in" filter="fade">
                                      <p:cBhvr>
                                        <p:cTn id="229" dur="280" fill="hold"/>
                                        <p:tgtEl>
                                          <p:spTgt spid="90"/>
                                        </p:tgtEl>
                                      </p:cBhvr>
                                    </p:animEffect>
                                  </p:childTnLst>
                                </p:cTn>
                              </p:par>
                              <p:par>
                                <p:cTn id="230" presetID="10" presetClass="entr" presetSubtype="0" fill="hold" grpId="0" nodeType="withEffect">
                                  <p:stCondLst>
                                    <p:cond delay="0"/>
                                  </p:stCondLst>
                                  <p:childTnLst>
                                    <p:set>
                                      <p:cBhvr>
                                        <p:cTn id="231" dur="1" fill="hold">
                                          <p:stCondLst>
                                            <p:cond delay="0"/>
                                          </p:stCondLst>
                                        </p:cTn>
                                        <p:tgtEl>
                                          <p:spTgt spid="91"/>
                                        </p:tgtEl>
                                        <p:attrNameLst>
                                          <p:attrName>style.visibility</p:attrName>
                                        </p:attrNameLst>
                                      </p:cBhvr>
                                      <p:to>
                                        <p:strVal val="visible"/>
                                      </p:to>
                                    </p:set>
                                    <p:animEffect transition="in" filter="fade">
                                      <p:cBhvr>
                                        <p:cTn id="232" dur="280" fill="hold"/>
                                        <p:tgtEl>
                                          <p:spTgt spid="91"/>
                                        </p:tgtEl>
                                      </p:cBhvr>
                                    </p:animEffect>
                                  </p:childTnLst>
                                </p:cTn>
                              </p:par>
                              <p:par>
                                <p:cTn id="233" presetID="10" presetClass="entr" presetSubtype="0" fill="hold" grpId="0" nodeType="withEffect">
                                  <p:stCondLst>
                                    <p:cond delay="0"/>
                                  </p:stCondLst>
                                  <p:childTnLst>
                                    <p:set>
                                      <p:cBhvr>
                                        <p:cTn id="234" dur="1" fill="hold">
                                          <p:stCondLst>
                                            <p:cond delay="0"/>
                                          </p:stCondLst>
                                        </p:cTn>
                                        <p:tgtEl>
                                          <p:spTgt spid="92"/>
                                        </p:tgtEl>
                                        <p:attrNameLst>
                                          <p:attrName>style.visibility</p:attrName>
                                        </p:attrNameLst>
                                      </p:cBhvr>
                                      <p:to>
                                        <p:strVal val="visible"/>
                                      </p:to>
                                    </p:set>
                                    <p:animEffect transition="in" filter="fade">
                                      <p:cBhvr>
                                        <p:cTn id="235" dur="280" fill="hold"/>
                                        <p:tgtEl>
                                          <p:spTgt spid="92"/>
                                        </p:tgtEl>
                                      </p:cBhvr>
                                    </p:animEffect>
                                  </p:childTnLst>
                                </p:cTn>
                              </p:par>
                              <p:par>
                                <p:cTn id="236" presetID="10" presetClass="entr" presetSubtype="0" fill="hold" grpId="0" nodeType="withEffect">
                                  <p:stCondLst>
                                    <p:cond delay="0"/>
                                  </p:stCondLst>
                                  <p:childTnLst>
                                    <p:set>
                                      <p:cBhvr>
                                        <p:cTn id="237" dur="1" fill="hold">
                                          <p:stCondLst>
                                            <p:cond delay="0"/>
                                          </p:stCondLst>
                                        </p:cTn>
                                        <p:tgtEl>
                                          <p:spTgt spid="93"/>
                                        </p:tgtEl>
                                        <p:attrNameLst>
                                          <p:attrName>style.visibility</p:attrName>
                                        </p:attrNameLst>
                                      </p:cBhvr>
                                      <p:to>
                                        <p:strVal val="visible"/>
                                      </p:to>
                                    </p:set>
                                    <p:animEffect transition="in" filter="fade">
                                      <p:cBhvr>
                                        <p:cTn id="238" dur="280" fill="hold"/>
                                        <p:tgtEl>
                                          <p:spTgt spid="93"/>
                                        </p:tgtEl>
                                      </p:cBhvr>
                                    </p:animEffect>
                                  </p:childTnLst>
                                </p:cTn>
                              </p:par>
                              <p:par>
                                <p:cTn id="239" presetID="10" presetClass="entr" presetSubtype="0" fill="hold" grpId="0" nodeType="withEffect">
                                  <p:stCondLst>
                                    <p:cond delay="0"/>
                                  </p:stCondLst>
                                  <p:childTnLst>
                                    <p:set>
                                      <p:cBhvr>
                                        <p:cTn id="240" dur="1" fill="hold">
                                          <p:stCondLst>
                                            <p:cond delay="0"/>
                                          </p:stCondLst>
                                        </p:cTn>
                                        <p:tgtEl>
                                          <p:spTgt spid="94"/>
                                        </p:tgtEl>
                                        <p:attrNameLst>
                                          <p:attrName>style.visibility</p:attrName>
                                        </p:attrNameLst>
                                      </p:cBhvr>
                                      <p:to>
                                        <p:strVal val="visible"/>
                                      </p:to>
                                    </p:set>
                                    <p:animEffect transition="in" filter="fade">
                                      <p:cBhvr>
                                        <p:cTn id="241" dur="280" fill="hold"/>
                                        <p:tgtEl>
                                          <p:spTgt spid="94"/>
                                        </p:tgtEl>
                                      </p:cBhvr>
                                    </p:animEffect>
                                  </p:childTnLst>
                                </p:cTn>
                              </p:par>
                              <p:par>
                                <p:cTn id="242" presetID="10" presetClass="entr" presetSubtype="0" fill="hold" grpId="0" nodeType="withEffect">
                                  <p:stCondLst>
                                    <p:cond delay="0"/>
                                  </p:stCondLst>
                                  <p:childTnLst>
                                    <p:set>
                                      <p:cBhvr>
                                        <p:cTn id="243" dur="1" fill="hold">
                                          <p:stCondLst>
                                            <p:cond delay="0"/>
                                          </p:stCondLst>
                                        </p:cTn>
                                        <p:tgtEl>
                                          <p:spTgt spid="95"/>
                                        </p:tgtEl>
                                        <p:attrNameLst>
                                          <p:attrName>style.visibility</p:attrName>
                                        </p:attrNameLst>
                                      </p:cBhvr>
                                      <p:to>
                                        <p:strVal val="visible"/>
                                      </p:to>
                                    </p:set>
                                    <p:animEffect transition="in" filter="fade">
                                      <p:cBhvr>
                                        <p:cTn id="244" dur="280" fill="hold"/>
                                        <p:tgtEl>
                                          <p:spTgt spid="95"/>
                                        </p:tgtEl>
                                      </p:cBhvr>
                                    </p:animEffect>
                                  </p:childTnLst>
                                </p:cTn>
                              </p:par>
                              <p:par>
                                <p:cTn id="245" presetID="10" presetClass="entr" presetSubtype="0" fill="hold" grpId="0" nodeType="withEffect">
                                  <p:stCondLst>
                                    <p:cond delay="0"/>
                                  </p:stCondLst>
                                  <p:childTnLst>
                                    <p:set>
                                      <p:cBhvr>
                                        <p:cTn id="246" dur="1" fill="hold">
                                          <p:stCondLst>
                                            <p:cond delay="0"/>
                                          </p:stCondLst>
                                        </p:cTn>
                                        <p:tgtEl>
                                          <p:spTgt spid="96"/>
                                        </p:tgtEl>
                                        <p:attrNameLst>
                                          <p:attrName>style.visibility</p:attrName>
                                        </p:attrNameLst>
                                      </p:cBhvr>
                                      <p:to>
                                        <p:strVal val="visible"/>
                                      </p:to>
                                    </p:set>
                                    <p:animEffect transition="in" filter="fade">
                                      <p:cBhvr>
                                        <p:cTn id="247" dur="280" fill="hold"/>
                                        <p:tgtEl>
                                          <p:spTgt spid="96"/>
                                        </p:tgtEl>
                                      </p:cBhvr>
                                    </p:animEffect>
                                  </p:childTnLst>
                                </p:cTn>
                              </p:par>
                              <p:par>
                                <p:cTn id="248" presetID="10" presetClass="entr" presetSubtype="0" fill="hold" grpId="0" nodeType="withEffect">
                                  <p:stCondLst>
                                    <p:cond delay="0"/>
                                  </p:stCondLst>
                                  <p:childTnLst>
                                    <p:set>
                                      <p:cBhvr>
                                        <p:cTn id="249" dur="1" fill="hold">
                                          <p:stCondLst>
                                            <p:cond delay="0"/>
                                          </p:stCondLst>
                                        </p:cTn>
                                        <p:tgtEl>
                                          <p:spTgt spid="97"/>
                                        </p:tgtEl>
                                        <p:attrNameLst>
                                          <p:attrName>style.visibility</p:attrName>
                                        </p:attrNameLst>
                                      </p:cBhvr>
                                      <p:to>
                                        <p:strVal val="visible"/>
                                      </p:to>
                                    </p:set>
                                    <p:animEffect transition="in" filter="fade">
                                      <p:cBhvr>
                                        <p:cTn id="250" dur="280" fill="hold"/>
                                        <p:tgtEl>
                                          <p:spTgt spid="97"/>
                                        </p:tgtEl>
                                      </p:cBhvr>
                                    </p:animEffect>
                                  </p:childTnLst>
                                </p:cTn>
                              </p:par>
                              <p:par>
                                <p:cTn id="251" presetID="10" presetClass="entr" presetSubtype="0" fill="hold" grpId="0" nodeType="withEffect">
                                  <p:stCondLst>
                                    <p:cond delay="0"/>
                                  </p:stCondLst>
                                  <p:childTnLst>
                                    <p:set>
                                      <p:cBhvr>
                                        <p:cTn id="252" dur="1" fill="hold">
                                          <p:stCondLst>
                                            <p:cond delay="0"/>
                                          </p:stCondLst>
                                        </p:cTn>
                                        <p:tgtEl>
                                          <p:spTgt spid="98"/>
                                        </p:tgtEl>
                                        <p:attrNameLst>
                                          <p:attrName>style.visibility</p:attrName>
                                        </p:attrNameLst>
                                      </p:cBhvr>
                                      <p:to>
                                        <p:strVal val="visible"/>
                                      </p:to>
                                    </p:set>
                                    <p:animEffect transition="in" filter="fade">
                                      <p:cBhvr>
                                        <p:cTn id="253" dur="280" fill="hold"/>
                                        <p:tgtEl>
                                          <p:spTgt spid="98"/>
                                        </p:tgtEl>
                                      </p:cBhvr>
                                    </p:animEffect>
                                  </p:childTnLst>
                                </p:cTn>
                              </p:par>
                              <p:par>
                                <p:cTn id="254" presetID="10" presetClass="entr" presetSubtype="0" fill="hold" grpId="0" nodeType="withEffect">
                                  <p:stCondLst>
                                    <p:cond delay="0"/>
                                  </p:stCondLst>
                                  <p:childTnLst>
                                    <p:set>
                                      <p:cBhvr>
                                        <p:cTn id="255" dur="1" fill="hold">
                                          <p:stCondLst>
                                            <p:cond delay="0"/>
                                          </p:stCondLst>
                                        </p:cTn>
                                        <p:tgtEl>
                                          <p:spTgt spid="99"/>
                                        </p:tgtEl>
                                        <p:attrNameLst>
                                          <p:attrName>style.visibility</p:attrName>
                                        </p:attrNameLst>
                                      </p:cBhvr>
                                      <p:to>
                                        <p:strVal val="visible"/>
                                      </p:to>
                                    </p:set>
                                    <p:animEffect transition="in" filter="fade">
                                      <p:cBhvr>
                                        <p:cTn id="256" dur="280" fill="hold"/>
                                        <p:tgtEl>
                                          <p:spTgt spid="99"/>
                                        </p:tgtEl>
                                      </p:cBhvr>
                                    </p:animEffect>
                                  </p:childTnLst>
                                </p:cTn>
                              </p:par>
                              <p:par>
                                <p:cTn id="257" presetID="10" presetClass="entr" presetSubtype="0" fill="hold" grpId="0" nodeType="withEffect">
                                  <p:stCondLst>
                                    <p:cond delay="0"/>
                                  </p:stCondLst>
                                  <p:childTnLst>
                                    <p:set>
                                      <p:cBhvr>
                                        <p:cTn id="258" dur="1" fill="hold">
                                          <p:stCondLst>
                                            <p:cond delay="0"/>
                                          </p:stCondLst>
                                        </p:cTn>
                                        <p:tgtEl>
                                          <p:spTgt spid="100"/>
                                        </p:tgtEl>
                                        <p:attrNameLst>
                                          <p:attrName>style.visibility</p:attrName>
                                        </p:attrNameLst>
                                      </p:cBhvr>
                                      <p:to>
                                        <p:strVal val="visible"/>
                                      </p:to>
                                    </p:set>
                                    <p:animEffect transition="in" filter="fade">
                                      <p:cBhvr>
                                        <p:cTn id="259" dur="280" fill="hold"/>
                                        <p:tgtEl>
                                          <p:spTgt spid="100"/>
                                        </p:tgtEl>
                                      </p:cBhvr>
                                    </p:animEffect>
                                  </p:childTnLst>
                                </p:cTn>
                              </p:par>
                              <p:par>
                                <p:cTn id="260" presetID="10" presetClass="entr" presetSubtype="0" fill="hold" grpId="0" nodeType="withEffect">
                                  <p:stCondLst>
                                    <p:cond delay="0"/>
                                  </p:stCondLst>
                                  <p:childTnLst>
                                    <p:set>
                                      <p:cBhvr>
                                        <p:cTn id="261" dur="1" fill="hold">
                                          <p:stCondLst>
                                            <p:cond delay="0"/>
                                          </p:stCondLst>
                                        </p:cTn>
                                        <p:tgtEl>
                                          <p:spTgt spid="101"/>
                                        </p:tgtEl>
                                        <p:attrNameLst>
                                          <p:attrName>style.visibility</p:attrName>
                                        </p:attrNameLst>
                                      </p:cBhvr>
                                      <p:to>
                                        <p:strVal val="visible"/>
                                      </p:to>
                                    </p:set>
                                    <p:animEffect transition="in" filter="fade">
                                      <p:cBhvr>
                                        <p:cTn id="262" dur="280" fill="hold"/>
                                        <p:tgtEl>
                                          <p:spTgt spid="101"/>
                                        </p:tgtEl>
                                      </p:cBhvr>
                                    </p:animEffect>
                                  </p:childTnLst>
                                </p:cTn>
                              </p:par>
                              <p:par>
                                <p:cTn id="263" presetID="10" presetClass="entr" presetSubtype="0" fill="hold" grpId="0" nodeType="withEffect">
                                  <p:stCondLst>
                                    <p:cond delay="0"/>
                                  </p:stCondLst>
                                  <p:childTnLst>
                                    <p:set>
                                      <p:cBhvr>
                                        <p:cTn id="264" dur="1" fill="hold">
                                          <p:stCondLst>
                                            <p:cond delay="0"/>
                                          </p:stCondLst>
                                        </p:cTn>
                                        <p:tgtEl>
                                          <p:spTgt spid="102"/>
                                        </p:tgtEl>
                                        <p:attrNameLst>
                                          <p:attrName>style.visibility</p:attrName>
                                        </p:attrNameLst>
                                      </p:cBhvr>
                                      <p:to>
                                        <p:strVal val="visible"/>
                                      </p:to>
                                    </p:set>
                                    <p:animEffect transition="in" filter="fade">
                                      <p:cBhvr>
                                        <p:cTn id="265" dur="280" fill="hold"/>
                                        <p:tgtEl>
                                          <p:spTgt spid="102"/>
                                        </p:tgtEl>
                                      </p:cBhvr>
                                    </p:animEffect>
                                  </p:childTnLst>
                                </p:cTn>
                              </p:par>
                              <p:par>
                                <p:cTn id="266" presetID="10" presetClass="entr" presetSubtype="0" fill="hold" grpId="0" nodeType="withEffect">
                                  <p:stCondLst>
                                    <p:cond delay="0"/>
                                  </p:stCondLst>
                                  <p:childTnLst>
                                    <p:set>
                                      <p:cBhvr>
                                        <p:cTn id="267" dur="1" fill="hold">
                                          <p:stCondLst>
                                            <p:cond delay="0"/>
                                          </p:stCondLst>
                                        </p:cTn>
                                        <p:tgtEl>
                                          <p:spTgt spid="103"/>
                                        </p:tgtEl>
                                        <p:attrNameLst>
                                          <p:attrName>style.visibility</p:attrName>
                                        </p:attrNameLst>
                                      </p:cBhvr>
                                      <p:to>
                                        <p:strVal val="visible"/>
                                      </p:to>
                                    </p:set>
                                    <p:animEffect transition="in" filter="fade">
                                      <p:cBhvr>
                                        <p:cTn id="268" dur="280" fill="hold"/>
                                        <p:tgtEl>
                                          <p:spTgt spid="103"/>
                                        </p:tgtEl>
                                      </p:cBhvr>
                                    </p:animEffect>
                                  </p:childTnLst>
                                </p:cTn>
                              </p:par>
                              <p:par>
                                <p:cTn id="269" presetID="10" presetClass="entr" presetSubtype="0" fill="hold" grpId="0" nodeType="withEffect">
                                  <p:stCondLst>
                                    <p:cond delay="0"/>
                                  </p:stCondLst>
                                  <p:childTnLst>
                                    <p:set>
                                      <p:cBhvr>
                                        <p:cTn id="270" dur="1" fill="hold">
                                          <p:stCondLst>
                                            <p:cond delay="0"/>
                                          </p:stCondLst>
                                        </p:cTn>
                                        <p:tgtEl>
                                          <p:spTgt spid="104"/>
                                        </p:tgtEl>
                                        <p:attrNameLst>
                                          <p:attrName>style.visibility</p:attrName>
                                        </p:attrNameLst>
                                      </p:cBhvr>
                                      <p:to>
                                        <p:strVal val="visible"/>
                                      </p:to>
                                    </p:set>
                                    <p:animEffect transition="in" filter="fade">
                                      <p:cBhvr>
                                        <p:cTn id="271" dur="280" fill="hold"/>
                                        <p:tgtEl>
                                          <p:spTgt spid="104"/>
                                        </p:tgtEl>
                                      </p:cBhvr>
                                    </p:animEffect>
                                  </p:childTnLst>
                                </p:cTn>
                              </p:par>
                              <p:par>
                                <p:cTn id="272" presetID="10" presetClass="entr" presetSubtype="0" fill="hold" grpId="0" nodeType="withEffect">
                                  <p:stCondLst>
                                    <p:cond delay="0"/>
                                  </p:stCondLst>
                                  <p:childTnLst>
                                    <p:set>
                                      <p:cBhvr>
                                        <p:cTn id="273" dur="1" fill="hold">
                                          <p:stCondLst>
                                            <p:cond delay="0"/>
                                          </p:stCondLst>
                                        </p:cTn>
                                        <p:tgtEl>
                                          <p:spTgt spid="105"/>
                                        </p:tgtEl>
                                        <p:attrNameLst>
                                          <p:attrName>style.visibility</p:attrName>
                                        </p:attrNameLst>
                                      </p:cBhvr>
                                      <p:to>
                                        <p:strVal val="visible"/>
                                      </p:to>
                                    </p:set>
                                    <p:animEffect transition="in" filter="fade">
                                      <p:cBhvr>
                                        <p:cTn id="274" dur="280" fill="hold"/>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animBg="1"/>
      <p:bldP spid="11" grpId="0" build="allAtOnce" animBg="1"/>
      <p:bldP spid="12" grpId="0" build="allAtOnce" animBg="1"/>
      <p:bldP spid="13" grpId="0" build="allAtOnce" animBg="1"/>
      <p:bldP spid="14" grpId="0" build="allAtOnce" animBg="1"/>
      <p:bldP spid="15" grpId="0" build="allAtOnce" animBg="1"/>
      <p:bldP spid="16" grpId="0" build="allAtOnce" animBg="1"/>
      <p:bldP spid="17" grpId="0" build="allAtOnce" animBg="1"/>
      <p:bldP spid="18" grpId="0" build="allAtOnce" animBg="1"/>
      <p:bldP spid="19" grpId="0" build="allAtOnce" animBg="1"/>
      <p:bldP spid="20" grpId="0" build="allAtOnce" animBg="1"/>
      <p:bldP spid="21" grpId="0" build="allAtOnce" animBg="1"/>
      <p:bldP spid="22" grpId="0" build="allAtOnce" animBg="1"/>
      <p:bldP spid="23" grpId="0" build="allAtOnce" animBg="1"/>
      <p:bldP spid="24" grpId="0" build="allAtOnce" animBg="1"/>
      <p:bldP spid="25" grpId="0" build="allAtOnce" animBg="1"/>
      <p:bldP spid="26" grpId="0" build="allAtOnce" animBg="1"/>
      <p:bldP spid="27" grpId="0" build="allAtOnce" animBg="1"/>
      <p:bldP spid="28" grpId="0" build="allAtOnce" animBg="1"/>
      <p:bldP spid="29" grpId="0" build="allAtOnce" animBg="1"/>
      <p:bldP spid="30" grpId="0" build="allAtOnce" animBg="1"/>
      <p:bldP spid="31" grpId="0" build="allAtOnce" animBg="1"/>
      <p:bldP spid="32" grpId="0" build="allAtOnce" animBg="1"/>
      <p:bldP spid="33" grpId="0" build="allAtOnce" animBg="1"/>
      <p:bldP spid="34" grpId="0" build="allAtOnce" animBg="1"/>
      <p:bldP spid="35" grpId="0" build="allAtOnce" animBg="1"/>
      <p:bldP spid="36" grpId="0" build="allAtOnce" animBg="1"/>
      <p:bldP spid="37" grpId="0" build="allAtOnce" animBg="1"/>
      <p:bldP spid="38" grpId="0" build="allAtOnce" animBg="1"/>
      <p:bldP spid="39" grpId="0" build="allAtOnce" animBg="1"/>
      <p:bldP spid="43" grpId="0" build="allAtOnce" animBg="1"/>
      <p:bldP spid="44" grpId="0" build="allAtOnce" animBg="1"/>
      <p:bldP spid="45" grpId="0" build="allAtOnce" animBg="1"/>
      <p:bldP spid="46" grpId="0" build="allAtOnce" animBg="1"/>
      <p:bldP spid="47" grpId="0" build="allAtOnce" animBg="1"/>
      <p:bldP spid="48" grpId="0" build="allAtOnce" animBg="1"/>
      <p:bldP spid="49" grpId="0" build="allAtOnce" animBg="1"/>
      <p:bldP spid="50" grpId="0" build="allAtOnce" animBg="1"/>
      <p:bldP spid="51" grpId="0" build="allAtOnce" animBg="1"/>
      <p:bldP spid="52" grpId="0" build="allAtOnce" animBg="1"/>
      <p:bldP spid="53" grpId="0" build="allAtOnce" animBg="1"/>
      <p:bldP spid="54" grpId="0" build="allAtOnce" animBg="1"/>
      <p:bldP spid="55" grpId="0" build="allAtOnce" animBg="1"/>
      <p:bldP spid="56" grpId="0" build="allAtOnce" animBg="1"/>
      <p:bldP spid="57" grpId="0" build="allAtOnce" animBg="1"/>
      <p:bldP spid="58" grpId="0" build="allAtOnce" animBg="1"/>
      <p:bldP spid="59" grpId="0" build="allAtOnce" animBg="1"/>
      <p:bldP spid="60" grpId="0" build="allAtOnce" animBg="1"/>
      <p:bldP spid="61" grpId="0" build="allAtOnce" animBg="1"/>
      <p:bldP spid="62" grpId="0" build="allAtOnce" animBg="1"/>
      <p:bldP spid="63" grpId="0" build="allAtOnce" animBg="1"/>
      <p:bldP spid="64" grpId="0" build="allAtOnce" animBg="1"/>
      <p:bldP spid="65" grpId="0" build="allAtOnce" animBg="1"/>
      <p:bldP spid="66" grpId="0" build="allAtOnce" animBg="1"/>
      <p:bldP spid="67" grpId="0" build="allAtOnce" animBg="1"/>
      <p:bldP spid="68" grpId="0" build="allAtOnce" animBg="1"/>
      <p:bldP spid="69" grpId="0" build="allAtOnce" animBg="1"/>
      <p:bldP spid="70" grpId="0" build="allAtOnce" animBg="1"/>
      <p:bldP spid="71" grpId="0" build="allAtOnce" animBg="1"/>
      <p:bldP spid="72" grpId="0" build="allAtOnce" animBg="1"/>
      <p:bldP spid="76" grpId="0" build="allAtOnce" animBg="1"/>
      <p:bldP spid="77" grpId="0" build="allAtOnce" animBg="1"/>
      <p:bldP spid="78" grpId="0" build="allAtOnce" animBg="1"/>
      <p:bldP spid="79" grpId="0" build="allAtOnce" animBg="1"/>
      <p:bldP spid="80" grpId="0" build="allAtOnce" animBg="1"/>
      <p:bldP spid="81" grpId="0" build="allAtOnce" animBg="1"/>
      <p:bldP spid="82" grpId="0" build="allAtOnce" animBg="1"/>
      <p:bldP spid="83" grpId="0" build="allAtOnce" animBg="1"/>
      <p:bldP spid="84" grpId="0" build="allAtOnce" animBg="1"/>
      <p:bldP spid="85" grpId="0" build="allAtOnce" animBg="1"/>
      <p:bldP spid="86" grpId="0" build="allAtOnce" animBg="1"/>
      <p:bldP spid="87" grpId="0" build="allAtOnce" animBg="1"/>
      <p:bldP spid="88" grpId="0" build="allAtOnce" animBg="1"/>
      <p:bldP spid="89" grpId="0" build="allAtOnce" animBg="1"/>
      <p:bldP spid="90" grpId="0" build="allAtOnce" animBg="1"/>
      <p:bldP spid="91" grpId="0" build="allAtOnce" animBg="1"/>
      <p:bldP spid="92" grpId="0" build="allAtOnce" animBg="1"/>
      <p:bldP spid="93" grpId="0" build="allAtOnce" animBg="1"/>
      <p:bldP spid="94" grpId="0" build="allAtOnce" animBg="1"/>
      <p:bldP spid="95" grpId="0" build="allAtOnce" animBg="1"/>
      <p:bldP spid="96" grpId="0" build="allAtOnce" animBg="1"/>
      <p:bldP spid="97" grpId="0" build="allAtOnce" animBg="1"/>
      <p:bldP spid="98" grpId="0" build="allAtOnce" animBg="1"/>
      <p:bldP spid="99" grpId="0" build="allAtOnce" animBg="1"/>
      <p:bldP spid="100" grpId="0" build="allAtOnce" animBg="1"/>
      <p:bldP spid="101" grpId="0" build="allAtOnce" animBg="1"/>
      <p:bldP spid="102" grpId="0" build="allAtOnce" animBg="1"/>
      <p:bldP spid="103" grpId="0" build="allAtOnce" animBg="1"/>
      <p:bldP spid="104" grpId="0" build="allAtOnce" animBg="1"/>
      <p:bldP spid="105" grpId="0" build="allAtOnce"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PRODUCT</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Open data still needs quality control</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Licence permission and route accuracy are separate checks</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09</a:t>
            </a:r>
          </a:p>
        </p:txBody>
      </p:sp>
      <p:sp>
        <p:nvSpPr>
          <p:cNvPr id="8" name="Panel 7"/>
          <p:cNvSpPr/>
          <p:nvPr/>
        </p:nvSpPr>
        <p:spPr>
          <a:xfrm>
            <a:off x="548640" y="2560320"/>
            <a:ext cx="2628900" cy="23317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731520" y="2724912"/>
            <a:ext cx="226314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01</a:t>
            </a:r>
          </a:p>
        </p:txBody>
      </p:sp>
      <p:sp>
        <p:nvSpPr>
          <p:cNvPr id="10" name="Text 9"/>
          <p:cNvSpPr txBox="1"/>
          <p:nvPr/>
        </p:nvSpPr>
        <p:spPr>
          <a:xfrm>
            <a:off x="731520" y="3364991"/>
            <a:ext cx="22631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Source</a:t>
            </a:r>
          </a:p>
        </p:txBody>
      </p:sp>
      <p:sp>
        <p:nvSpPr>
          <p:cNvPr id="11" name="Text 10"/>
          <p:cNvSpPr txBox="1"/>
          <p:nvPr/>
        </p:nvSpPr>
        <p:spPr>
          <a:xfrm>
            <a:off x="731520" y="3922776"/>
            <a:ext cx="2263140" cy="85953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Licensed building data</a:t>
            </a:r>
          </a:p>
        </p:txBody>
      </p:sp>
      <p:sp>
        <p:nvSpPr>
          <p:cNvPr id="12" name="Text 11"/>
          <p:cNvSpPr txBox="1"/>
          <p:nvPr/>
        </p:nvSpPr>
        <p:spPr>
          <a:xfrm>
            <a:off x="3200400" y="3616451"/>
            <a:ext cx="164592" cy="274320"/>
          </a:xfrm>
          <a:prstGeom prst="rect">
            <a:avLst/>
          </a:prstGeom>
          <a:noFill/>
        </p:spPr>
        <p:txBody>
          <a:bodyPr wrap="square" lIns="13716" rIns="13716" tIns="13716" bIns="13716" anchor="t">
            <a:spAutoFit/>
          </a:bodyPr>
          <a:lstStyle/>
          <a:p>
            <a:pPr algn="l">
              <a:lnSpc>
                <a:spcPct val="108000"/>
              </a:lnSpc>
              <a:spcAft>
                <a:spcPts val="300"/>
              </a:spcAft>
              <a:defRPr sz="2200" b="1">
                <a:solidFill>
                  <a:srgbClr val="79DCAF"/>
                </a:solidFill>
                <a:latin typeface="Arial"/>
              </a:defRPr>
            </a:pPr>
            <a:r>
              <a:t>›</a:t>
            </a:r>
          </a:p>
        </p:txBody>
      </p:sp>
      <p:sp>
        <p:nvSpPr>
          <p:cNvPr id="13" name="Panel 12"/>
          <p:cNvSpPr/>
          <p:nvPr/>
        </p:nvSpPr>
        <p:spPr>
          <a:xfrm>
            <a:off x="3360420" y="2560320"/>
            <a:ext cx="2628900" cy="23317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3543300" y="2724912"/>
            <a:ext cx="226314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02</a:t>
            </a:r>
          </a:p>
        </p:txBody>
      </p:sp>
      <p:sp>
        <p:nvSpPr>
          <p:cNvPr id="15" name="Text 14"/>
          <p:cNvSpPr txBox="1"/>
          <p:nvPr/>
        </p:nvSpPr>
        <p:spPr>
          <a:xfrm>
            <a:off x="3543300" y="3364991"/>
            <a:ext cx="22631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Audit</a:t>
            </a:r>
          </a:p>
        </p:txBody>
      </p:sp>
      <p:sp>
        <p:nvSpPr>
          <p:cNvPr id="16" name="Text 15"/>
          <p:cNvSpPr txBox="1"/>
          <p:nvPr/>
        </p:nvSpPr>
        <p:spPr>
          <a:xfrm>
            <a:off x="3543300" y="3922776"/>
            <a:ext cx="2263140" cy="85953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Height and access quality</a:t>
            </a:r>
          </a:p>
        </p:txBody>
      </p:sp>
      <p:sp>
        <p:nvSpPr>
          <p:cNvPr id="17" name="Text 16"/>
          <p:cNvSpPr txBox="1"/>
          <p:nvPr/>
        </p:nvSpPr>
        <p:spPr>
          <a:xfrm>
            <a:off x="6012180" y="3616451"/>
            <a:ext cx="164592" cy="274320"/>
          </a:xfrm>
          <a:prstGeom prst="rect">
            <a:avLst/>
          </a:prstGeom>
          <a:noFill/>
        </p:spPr>
        <p:txBody>
          <a:bodyPr wrap="square" lIns="13716" rIns="13716" tIns="13716" bIns="13716" anchor="t">
            <a:spAutoFit/>
          </a:bodyPr>
          <a:lstStyle/>
          <a:p>
            <a:pPr algn="l">
              <a:lnSpc>
                <a:spcPct val="108000"/>
              </a:lnSpc>
              <a:spcAft>
                <a:spcPts val="300"/>
              </a:spcAft>
              <a:defRPr sz="2200" b="1">
                <a:solidFill>
                  <a:srgbClr val="79DCAF"/>
                </a:solidFill>
                <a:latin typeface="Arial"/>
              </a:defRPr>
            </a:pPr>
            <a:r>
              <a:t>›</a:t>
            </a:r>
          </a:p>
        </p:txBody>
      </p:sp>
      <p:sp>
        <p:nvSpPr>
          <p:cNvPr id="18" name="Panel 17"/>
          <p:cNvSpPr/>
          <p:nvPr/>
        </p:nvSpPr>
        <p:spPr>
          <a:xfrm>
            <a:off x="6172200" y="2560320"/>
            <a:ext cx="2628900" cy="23317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355080" y="2724912"/>
            <a:ext cx="226314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03</a:t>
            </a:r>
          </a:p>
        </p:txBody>
      </p:sp>
      <p:sp>
        <p:nvSpPr>
          <p:cNvPr id="20" name="Text 19"/>
          <p:cNvSpPr txBox="1"/>
          <p:nvPr/>
        </p:nvSpPr>
        <p:spPr>
          <a:xfrm>
            <a:off x="6355080" y="3364991"/>
            <a:ext cx="22631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Calculate</a:t>
            </a:r>
          </a:p>
        </p:txBody>
      </p:sp>
      <p:sp>
        <p:nvSpPr>
          <p:cNvPr id="21" name="Text 20"/>
          <p:cNvSpPr txBox="1"/>
          <p:nvPr/>
        </p:nvSpPr>
        <p:spPr>
          <a:xfrm>
            <a:off x="6355080" y="3922776"/>
            <a:ext cx="2263140" cy="85953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Geometry and detour</a:t>
            </a:r>
          </a:p>
        </p:txBody>
      </p:sp>
      <p:sp>
        <p:nvSpPr>
          <p:cNvPr id="22" name="Text 21"/>
          <p:cNvSpPr txBox="1"/>
          <p:nvPr/>
        </p:nvSpPr>
        <p:spPr>
          <a:xfrm>
            <a:off x="8823960" y="3616451"/>
            <a:ext cx="164592" cy="274320"/>
          </a:xfrm>
          <a:prstGeom prst="rect">
            <a:avLst/>
          </a:prstGeom>
          <a:noFill/>
        </p:spPr>
        <p:txBody>
          <a:bodyPr wrap="square" lIns="13716" rIns="13716" tIns="13716" bIns="13716" anchor="t">
            <a:spAutoFit/>
          </a:bodyPr>
          <a:lstStyle/>
          <a:p>
            <a:pPr algn="l">
              <a:lnSpc>
                <a:spcPct val="108000"/>
              </a:lnSpc>
              <a:spcAft>
                <a:spcPts val="300"/>
              </a:spcAft>
              <a:defRPr sz="2200" b="1">
                <a:solidFill>
                  <a:srgbClr val="79DCAF"/>
                </a:solidFill>
                <a:latin typeface="Arial"/>
              </a:defRPr>
            </a:pPr>
            <a:r>
              <a:t>›</a:t>
            </a:r>
          </a:p>
        </p:txBody>
      </p:sp>
      <p:sp>
        <p:nvSpPr>
          <p:cNvPr id="23" name="Panel 22"/>
          <p:cNvSpPr/>
          <p:nvPr/>
        </p:nvSpPr>
        <p:spPr>
          <a:xfrm>
            <a:off x="8983980" y="2560320"/>
            <a:ext cx="2628900" cy="23317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23"/>
          <p:cNvSpPr txBox="1"/>
          <p:nvPr/>
        </p:nvSpPr>
        <p:spPr>
          <a:xfrm>
            <a:off x="9166860" y="2724912"/>
            <a:ext cx="226314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04</a:t>
            </a:r>
          </a:p>
        </p:txBody>
      </p:sp>
      <p:sp>
        <p:nvSpPr>
          <p:cNvPr id="25" name="Text 24"/>
          <p:cNvSpPr txBox="1"/>
          <p:nvPr/>
        </p:nvSpPr>
        <p:spPr>
          <a:xfrm>
            <a:off x="9166860" y="3364991"/>
            <a:ext cx="22631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Publish</a:t>
            </a:r>
          </a:p>
        </p:txBody>
      </p:sp>
      <p:sp>
        <p:nvSpPr>
          <p:cNvPr id="26" name="Text 25"/>
          <p:cNvSpPr txBox="1"/>
          <p:nvPr/>
        </p:nvSpPr>
        <p:spPr>
          <a:xfrm>
            <a:off x="9166860" y="3922776"/>
            <a:ext cx="2263140" cy="85953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Dated and reviewable route</a:t>
            </a:r>
          </a:p>
        </p:txBody>
      </p:sp>
      <p:sp>
        <p:nvSpPr>
          <p:cNvPr id="27" name="Text 26"/>
          <p:cNvSpPr txBox="1"/>
          <p:nvPr/>
        </p:nvSpPr>
        <p:spPr>
          <a:xfrm>
            <a:off x="658368" y="5431536"/>
            <a:ext cx="10881360" cy="502920"/>
          </a:xfrm>
          <a:prstGeom prst="rect">
            <a:avLst/>
          </a:prstGeom>
          <a:noFill/>
        </p:spPr>
        <p:txBody>
          <a:bodyPr wrap="square" lIns="13716" rIns="13716" tIns="13716" bIns="13716" anchor="t">
            <a:spAutoFit/>
          </a:bodyPr>
          <a:lstStyle/>
          <a:p>
            <a:pPr algn="l">
              <a:lnSpc>
                <a:spcPct val="108000"/>
              </a:lnSpc>
              <a:spcAft>
                <a:spcPts val="300"/>
              </a:spcAft>
              <a:defRPr sz="2300" b="1">
                <a:solidFill>
                  <a:srgbClr val="EDC76C"/>
                </a:solidFill>
                <a:latin typeface="Arial"/>
              </a:defRPr>
            </a:pPr>
            <a:r>
              <a:t>Licence permission and data accuracy are separate release gates</a:t>
            </a:r>
          </a:p>
        </p:txBody>
      </p:sp>
      <p:sp>
        <p:nvSpPr>
          <p:cNvPr id="28"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Overture Buildings · Overture attribution · GlobalBuildingAtlas · OSM tile policy · OSM vector policy · PMTiles</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280" fill="hold"/>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280" fill="hold"/>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280" fill="hold"/>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280" fill="hold"/>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280" fill="hold"/>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280" fill="hold"/>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280" fill="hold"/>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280" fill="hold"/>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280" fill="hold"/>
                                        <p:tgtEl>
                                          <p:spTgt spid="2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280" fill="hold"/>
                                        <p:tgtEl>
                                          <p:spTgt spid="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280" fill="hold"/>
                                        <p:tgtEl>
                                          <p:spTgt spid="2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280" fill="hold"/>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3" grpId="0" build="allAtOnce" animBg="1"/>
      <p:bldP spid="14" grpId="0" build="allAtOnce" animBg="1"/>
      <p:bldP spid="15" grpId="0" build="allAtOnce" animBg="1"/>
      <p:bldP spid="16" grpId="0" build="allAtOnce" animBg="1"/>
      <p:bldP spid="18" grpId="0" build="allAtOnce" animBg="1"/>
      <p:bldP spid="19" grpId="0" build="allAtOnce" animBg="1"/>
      <p:bldP spid="20" grpId="0" build="allAtOnce" animBg="1"/>
      <p:bldP spid="21" grpId="0" build="allAtOnce" animBg="1"/>
      <p:bldP spid="23" grpId="0" build="allAtOnce" animBg="1"/>
      <p:bldP spid="24" grpId="0" build="allAtOnce" animBg="1"/>
      <p:bldP spid="25" grpId="0" build="allAtOnce" animBg="1"/>
      <p:bldP spid="26" grpId="0" build="allAtOnce"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PRODUCT</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Keep the useful core free</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Charge for additional planning convenience</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10</a:t>
            </a:r>
          </a:p>
        </p:txBody>
      </p:sp>
      <p:sp>
        <p:nvSpPr>
          <p:cNvPr id="8" name="Panel 7"/>
          <p:cNvSpPr/>
          <p:nvPr/>
        </p:nvSpPr>
        <p:spPr>
          <a:xfrm>
            <a:off x="594360" y="2359152"/>
            <a:ext cx="5532120" cy="338328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777240" y="2569464"/>
            <a:ext cx="5166359"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Free</a:t>
            </a:r>
          </a:p>
        </p:txBody>
      </p:sp>
      <p:sp>
        <p:nvSpPr>
          <p:cNvPr id="10" name="Text 9"/>
          <p:cNvSpPr txBox="1"/>
          <p:nvPr/>
        </p:nvSpPr>
        <p:spPr>
          <a:xfrm>
            <a:off x="777240" y="3127248"/>
            <a:ext cx="5166359" cy="250545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Current shade</a:t>
            </a:r>
          </a:p>
          <a:p>
            <a:pPr algn="l">
              <a:lnSpc>
                <a:spcPct val="108000"/>
              </a:lnSpc>
              <a:spcAft>
                <a:spcPts val="300"/>
              </a:spcAft>
              <a:defRPr sz="1800" b="0">
                <a:solidFill>
                  <a:srgbClr val="A8B8AC"/>
                </a:solidFill>
                <a:latin typeface="Arial"/>
              </a:defRPr>
            </a:pPr>
            <a:r>
              <a:t>Route contributions</a:t>
            </a:r>
          </a:p>
          <a:p>
            <a:pPr algn="l">
              <a:lnSpc>
                <a:spcPct val="108000"/>
              </a:lnSpc>
              <a:spcAft>
                <a:spcPts val="300"/>
              </a:spcAft>
              <a:defRPr sz="1800" b="0">
                <a:solidFill>
                  <a:srgbClr val="A8B8AC"/>
                </a:solidFill>
                <a:latin typeface="Arial"/>
              </a:defRPr>
            </a:pPr>
            <a:r>
              <a:t>Access reports and group choice</a:t>
            </a:r>
          </a:p>
        </p:txBody>
      </p:sp>
      <p:sp>
        <p:nvSpPr>
          <p:cNvPr id="11" name="Text 10"/>
          <p:cNvSpPr txBox="1"/>
          <p:nvPr/>
        </p:nvSpPr>
        <p:spPr>
          <a:xfrm>
            <a:off x="813816" y="5001768"/>
            <a:ext cx="5029200" cy="594360"/>
          </a:xfrm>
          <a:prstGeom prst="rect">
            <a:avLst/>
          </a:prstGeom>
          <a:noFill/>
        </p:spPr>
        <p:txBody>
          <a:bodyPr wrap="square" lIns="13716" rIns="13716" tIns="13716" bIns="13716" anchor="t">
            <a:spAutoFit/>
          </a:bodyPr>
          <a:lstStyle/>
          <a:p>
            <a:pPr algn="l">
              <a:lnSpc>
                <a:spcPct val="108000"/>
              </a:lnSpc>
              <a:spcAft>
                <a:spcPts val="300"/>
              </a:spcAft>
              <a:defRPr sz="2700" b="1">
                <a:solidFill>
                  <a:srgbClr val="79DCAF"/>
                </a:solidFill>
                <a:latin typeface="Arial"/>
              </a:defRPr>
            </a:pPr>
            <a:r>
              <a:t>0 UZS</a:t>
            </a:r>
          </a:p>
        </p:txBody>
      </p:sp>
      <p:sp>
        <p:nvSpPr>
          <p:cNvPr id="12" name="Panel 11"/>
          <p:cNvSpPr/>
          <p:nvPr/>
        </p:nvSpPr>
        <p:spPr>
          <a:xfrm>
            <a:off x="6419088" y="2359152"/>
            <a:ext cx="5532120" cy="3383280"/>
          </a:xfrm>
          <a:prstGeom prst="roundRect">
            <a:avLst>
              <a:gd name="adj" fmla="val 9000"/>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6601968" y="2569464"/>
            <a:ext cx="5166359"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14251B"/>
                </a:solidFill>
                <a:latin typeface="Arial"/>
              </a:defRPr>
            </a:pPr>
            <a:r>
              <a:t>Plus</a:t>
            </a:r>
          </a:p>
        </p:txBody>
      </p:sp>
      <p:sp>
        <p:nvSpPr>
          <p:cNvPr id="14" name="Text 13"/>
          <p:cNvSpPr txBox="1"/>
          <p:nvPr/>
        </p:nvSpPr>
        <p:spPr>
          <a:xfrm>
            <a:off x="6601968" y="3127248"/>
            <a:ext cx="5166359" cy="250545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14251B"/>
                </a:solidFill>
                <a:latin typeface="Arial"/>
              </a:defRPr>
            </a:pPr>
            <a:r>
              <a:t>Future departure planning</a:t>
            </a:r>
          </a:p>
          <a:p>
            <a:pPr algn="l">
              <a:lnSpc>
                <a:spcPct val="108000"/>
              </a:lnSpc>
              <a:spcAft>
                <a:spcPts val="300"/>
              </a:spcAft>
              <a:defRPr sz="1800" b="0">
                <a:solidFill>
                  <a:srgbClr val="14251B"/>
                </a:solidFill>
                <a:latin typeface="Arial"/>
              </a:defRPr>
            </a:pPr>
            <a:r>
              <a:t>Combined filters</a:t>
            </a:r>
          </a:p>
          <a:p>
            <a:pPr algn="l">
              <a:lnSpc>
                <a:spcPct val="108000"/>
              </a:lnSpc>
              <a:spcAft>
                <a:spcPts val="300"/>
              </a:spcAft>
              <a:defRPr sz="1800" b="0">
                <a:solidFill>
                  <a:srgbClr val="14251B"/>
                </a:solidFill>
                <a:latin typeface="Arial"/>
              </a:defRPr>
            </a:pPr>
            <a:r>
              <a:t>No advertising</a:t>
            </a:r>
          </a:p>
        </p:txBody>
      </p:sp>
      <p:sp>
        <p:nvSpPr>
          <p:cNvPr id="15" name="Text 14"/>
          <p:cNvSpPr txBox="1"/>
          <p:nvPr/>
        </p:nvSpPr>
        <p:spPr>
          <a:xfrm>
            <a:off x="6638544" y="5001768"/>
            <a:ext cx="5029200" cy="594360"/>
          </a:xfrm>
          <a:prstGeom prst="rect">
            <a:avLst/>
          </a:prstGeom>
          <a:noFill/>
        </p:spPr>
        <p:txBody>
          <a:bodyPr wrap="square" lIns="13716" rIns="13716" tIns="13716" bIns="13716" anchor="t">
            <a:spAutoFit/>
          </a:bodyPr>
          <a:lstStyle/>
          <a:p>
            <a:pPr algn="l">
              <a:lnSpc>
                <a:spcPct val="108000"/>
              </a:lnSpc>
              <a:spcAft>
                <a:spcPts val="300"/>
              </a:spcAft>
              <a:defRPr sz="2700" b="1">
                <a:solidFill>
                  <a:srgbClr val="267353"/>
                </a:solidFill>
                <a:latin typeface="Arial"/>
              </a:defRPr>
            </a:pPr>
            <a:r>
              <a:t>38 450 UZS / month</a:t>
            </a:r>
          </a:p>
        </p:txBody>
      </p:sp>
      <p:sp>
        <p:nvSpPr>
          <p:cNvPr id="16"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80" fill="hold"/>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280" fill="hold"/>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80" fill="hold"/>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280" fill="hold"/>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2" grpId="0" build="allAtOnce" animBg="1"/>
      <p:bldP spid="13" grpId="0" build="allAtOnce" animBg="1"/>
      <p:bldP spid="14" grpId="0" build="allAtOnce" animBg="1"/>
      <p:bldP spid="15" grpId="0" build="allAtOnce"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PRODUCT</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Reward useful information without buying trust</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Reputation and bonus points perform different jobs</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11</a:t>
            </a:r>
          </a:p>
        </p:txBody>
      </p:sp>
      <p:sp>
        <p:nvSpPr>
          <p:cNvPr id="8" name="Panel 7"/>
          <p:cNvSpPr/>
          <p:nvPr/>
        </p:nvSpPr>
        <p:spPr>
          <a:xfrm>
            <a:off x="640080" y="2468880"/>
            <a:ext cx="5120640" cy="201168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822959" y="2633472"/>
            <a:ext cx="4754879"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TRUST</a:t>
            </a:r>
          </a:p>
        </p:txBody>
      </p:sp>
      <p:sp>
        <p:nvSpPr>
          <p:cNvPr id="10" name="Text 9"/>
          <p:cNvSpPr txBox="1"/>
          <p:nvPr/>
        </p:nvSpPr>
        <p:spPr>
          <a:xfrm>
            <a:off x="822959" y="3273552"/>
            <a:ext cx="4754879"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Reputation</a:t>
            </a:r>
          </a:p>
        </p:txBody>
      </p:sp>
      <p:sp>
        <p:nvSpPr>
          <p:cNvPr id="11" name="Text 10"/>
          <p:cNvSpPr txBox="1"/>
          <p:nvPr/>
        </p:nvSpPr>
        <p:spPr>
          <a:xfrm>
            <a:off x="822959" y="3831336"/>
            <a:ext cx="4754879" cy="53949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Permanent record of reliability</a:t>
            </a:r>
          </a:p>
        </p:txBody>
      </p:sp>
      <p:sp>
        <p:nvSpPr>
          <p:cNvPr id="12" name="Panel 11"/>
          <p:cNvSpPr/>
          <p:nvPr/>
        </p:nvSpPr>
        <p:spPr>
          <a:xfrm>
            <a:off x="6400800" y="2468880"/>
            <a:ext cx="5120640" cy="2011680"/>
          </a:xfrm>
          <a:prstGeom prst="roundRect">
            <a:avLst>
              <a:gd name="adj" fmla="val 9000"/>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6583680" y="2633472"/>
            <a:ext cx="4754879"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267353"/>
                </a:solidFill>
                <a:latin typeface="Arial"/>
              </a:defRPr>
            </a:pPr>
            <a:r>
              <a:t>REWARD</a:t>
            </a:r>
          </a:p>
        </p:txBody>
      </p:sp>
      <p:sp>
        <p:nvSpPr>
          <p:cNvPr id="14" name="Text 13"/>
          <p:cNvSpPr txBox="1"/>
          <p:nvPr/>
        </p:nvSpPr>
        <p:spPr>
          <a:xfrm>
            <a:off x="6583680" y="3273552"/>
            <a:ext cx="4754879"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14251B"/>
                </a:solidFill>
                <a:latin typeface="Arial"/>
              </a:defRPr>
            </a:pPr>
            <a:r>
              <a:t>Bonus points</a:t>
            </a:r>
          </a:p>
        </p:txBody>
      </p:sp>
      <p:sp>
        <p:nvSpPr>
          <p:cNvPr id="15" name="Text 14"/>
          <p:cNvSpPr txBox="1"/>
          <p:nvPr/>
        </p:nvSpPr>
        <p:spPr>
          <a:xfrm>
            <a:off x="6583680" y="3831336"/>
            <a:ext cx="4754879" cy="53949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14251B"/>
                </a:solidFill>
                <a:latin typeface="Arial"/>
              </a:defRPr>
            </a:pPr>
            <a:r>
              <a:t>Spendable reward for useful input</a:t>
            </a:r>
          </a:p>
        </p:txBody>
      </p:sp>
      <p:sp>
        <p:nvSpPr>
          <p:cNvPr id="16" name="Text 15"/>
          <p:cNvSpPr txBox="1"/>
          <p:nvPr/>
        </p:nvSpPr>
        <p:spPr>
          <a:xfrm>
            <a:off x="822960" y="4892040"/>
            <a:ext cx="10698480" cy="548640"/>
          </a:xfrm>
          <a:prstGeom prst="rect">
            <a:avLst/>
          </a:prstGeom>
          <a:noFill/>
        </p:spPr>
        <p:txBody>
          <a:bodyPr wrap="square" lIns="13716" rIns="13716" tIns="13716" bIns="13716" anchor="t">
            <a:spAutoFit/>
          </a:bodyPr>
          <a:lstStyle/>
          <a:p>
            <a:pPr algn="ctr">
              <a:lnSpc>
                <a:spcPct val="108000"/>
              </a:lnSpc>
              <a:spcAft>
                <a:spcPts val="300"/>
              </a:spcAft>
              <a:defRPr sz="2500" b="1">
                <a:solidFill>
                  <a:srgbClr val="F2F5EE"/>
                </a:solidFill>
                <a:latin typeface="Arial"/>
              </a:defRPr>
            </a:pPr>
            <a:r>
              <a:t>5 points per verified upvote  →  100 points  →  3 days Plus</a:t>
            </a:r>
          </a:p>
        </p:txBody>
      </p:sp>
      <p:sp>
        <p:nvSpPr>
          <p:cNvPr id="17" name="Panel 16"/>
          <p:cNvSpPr/>
          <p:nvPr/>
        </p:nvSpPr>
        <p:spPr>
          <a:xfrm>
            <a:off x="3749039" y="5669280"/>
            <a:ext cx="4709160" cy="292608"/>
          </a:xfrm>
          <a:prstGeom prst="roundRect">
            <a:avLst>
              <a:gd name="adj" fmla="val 9000"/>
            </a:avLst>
          </a:prstGeom>
          <a:solidFill>
            <a:srgbClr val="22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3840479" y="5705856"/>
            <a:ext cx="4526280" cy="219456"/>
          </a:xfrm>
          <a:prstGeom prst="rect">
            <a:avLst/>
          </a:prstGeom>
          <a:noFill/>
        </p:spPr>
        <p:txBody>
          <a:bodyPr wrap="square" lIns="13716" rIns="13716" tIns="13716" bIns="13716" anchor="t">
            <a:spAutoFit/>
          </a:bodyPr>
          <a:lstStyle/>
          <a:p>
            <a:pPr algn="l">
              <a:lnSpc>
                <a:spcPct val="108000"/>
              </a:lnSpc>
              <a:spcAft>
                <a:spcPts val="300"/>
              </a:spcAft>
              <a:defRPr sz="1200" b="1">
                <a:solidFill>
                  <a:srgbClr val="79DCAF"/>
                </a:solidFill>
                <a:latin typeface="Arial"/>
              </a:defRPr>
            </a:pPr>
            <a:r>
              <a:t>MAXIMUM REDEMPTION · 6 DAYS PER MONTH</a:t>
            </a:r>
          </a:p>
        </p:txBody>
      </p:sp>
      <p:sp>
        <p:nvSpPr>
          <p:cNvPr id="19"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 · Ferrell et al 2019</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80" fill="hold"/>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280" fill="hold"/>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80" fill="hold"/>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280" fill="hold"/>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2" grpId="0" build="allAtOnce" animBg="1"/>
      <p:bldP spid="13" grpId="0" build="allAtOnce" animBg="1"/>
      <p:bldP spid="14" grpId="0" build="allAtOnce" animBg="1"/>
      <p:bldP spid="15" grpId="0" build="allAtOnce"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PRODUCT</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Cafe advertising must remain a voluntary stop</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A paid offer should never silently change the route</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12</a:t>
            </a:r>
          </a:p>
        </p:txBody>
      </p:sp>
      <p:sp>
        <p:nvSpPr>
          <p:cNvPr id="8" name="Map canvas"/>
          <p:cNvSpPr/>
          <p:nvPr/>
        </p:nvSpPr>
        <p:spPr>
          <a:xfrm>
            <a:off x="585216" y="2286000"/>
            <a:ext cx="6583680" cy="3749039"/>
          </a:xfrm>
          <a:prstGeom prst="roundRect">
            <a:avLst>
              <a:gd name="adj" fmla="val 9000"/>
            </a:avLst>
          </a:prstGeom>
          <a:solidFill>
            <a:srgbClr val="142C30"/>
          </a:solidFill>
          <a:ln w="12700">
            <a:solidFill>
              <a:srgbClr val="355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ad_v_1"/>
          <p:cNvSpPr/>
          <p:nvPr/>
        </p:nvSpPr>
        <p:spPr>
          <a:xfrm>
            <a:off x="1566842" y="2395728"/>
            <a:ext cx="292754" cy="3383279"/>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ad_v_2"/>
          <p:cNvSpPr/>
          <p:nvPr/>
        </p:nvSpPr>
        <p:spPr>
          <a:xfrm>
            <a:off x="3539752" y="2395728"/>
            <a:ext cx="292754" cy="3383279"/>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ad_v_3"/>
          <p:cNvSpPr/>
          <p:nvPr/>
        </p:nvSpPr>
        <p:spPr>
          <a:xfrm>
            <a:off x="5576303" y="2395728"/>
            <a:ext cx="292754" cy="3383279"/>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ad_h_1"/>
          <p:cNvSpPr/>
          <p:nvPr/>
        </p:nvSpPr>
        <p:spPr>
          <a:xfrm>
            <a:off x="694944" y="2786496"/>
            <a:ext cx="6364224" cy="233446"/>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ad_h_2"/>
          <p:cNvSpPr/>
          <p:nvPr/>
        </p:nvSpPr>
        <p:spPr>
          <a:xfrm>
            <a:off x="694944" y="3936812"/>
            <a:ext cx="6364224" cy="233446"/>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ad_h_3"/>
          <p:cNvSpPr/>
          <p:nvPr/>
        </p:nvSpPr>
        <p:spPr>
          <a:xfrm>
            <a:off x="694944" y="5053294"/>
            <a:ext cx="6364224" cy="233446"/>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rk_01"/>
          <p:cNvSpPr/>
          <p:nvPr/>
        </p:nvSpPr>
        <p:spPr>
          <a:xfrm>
            <a:off x="790407" y="4273448"/>
            <a:ext cx="604601" cy="676656"/>
          </a:xfrm>
          <a:prstGeom prst="rect">
            <a:avLst/>
          </a:prstGeom>
          <a:solidFill>
            <a:srgbClr val="235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hadow building_01"/>
          <p:cNvSpPr/>
          <p:nvPr/>
        </p:nvSpPr>
        <p:spPr>
          <a:xfrm>
            <a:off x="2126894" y="2983552"/>
            <a:ext cx="1647589" cy="748571"/>
          </a:xfrm>
          <a:custGeom>
            <a:avLst/>
            <a:gdLst/>
            <a:ahLst/>
            <a:cxnLst/>
            <a:rect l="l" t="t" r="r" b="b"/>
            <a:pathLst>
              <a:path w="1647589" h="748571">
                <a:moveTo>
                  <a:pt x="0" y="173414"/>
                </a:moveTo>
                <a:lnTo>
                  <a:pt x="597492" y="0"/>
                </a:lnTo>
                <a:lnTo>
                  <a:pt x="1647589" y="0"/>
                </a:lnTo>
                <a:lnTo>
                  <a:pt x="1647589" y="575158"/>
                </a:lnTo>
                <a:lnTo>
                  <a:pt x="1050097" y="748571"/>
                </a:lnTo>
                <a:lnTo>
                  <a:pt x="0" y="748571"/>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hadow building_02"/>
          <p:cNvSpPr/>
          <p:nvPr/>
        </p:nvSpPr>
        <p:spPr>
          <a:xfrm>
            <a:off x="4099803" y="3026905"/>
            <a:ext cx="1530036" cy="688302"/>
          </a:xfrm>
          <a:custGeom>
            <a:avLst/>
            <a:gdLst/>
            <a:ahLst/>
            <a:cxnLst/>
            <a:rect l="l" t="t" r="r" b="b"/>
            <a:pathLst>
              <a:path w="1530036" h="688302">
                <a:moveTo>
                  <a:pt x="0" y="130061"/>
                </a:moveTo>
                <a:lnTo>
                  <a:pt x="448118" y="0"/>
                </a:lnTo>
                <a:lnTo>
                  <a:pt x="1530036" y="0"/>
                </a:lnTo>
                <a:lnTo>
                  <a:pt x="1530036" y="558242"/>
                </a:lnTo>
                <a:lnTo>
                  <a:pt x="1081918" y="688302"/>
                </a:lnTo>
                <a:lnTo>
                  <a:pt x="0" y="688302"/>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hadow building_03"/>
          <p:cNvSpPr/>
          <p:nvPr/>
        </p:nvSpPr>
        <p:spPr>
          <a:xfrm>
            <a:off x="2126894" y="4162771"/>
            <a:ext cx="1548008" cy="702751"/>
          </a:xfrm>
          <a:custGeom>
            <a:avLst/>
            <a:gdLst/>
            <a:ahLst/>
            <a:cxnLst/>
            <a:rect l="l" t="t" r="r" b="b"/>
            <a:pathLst>
              <a:path w="1548008" h="702751">
                <a:moveTo>
                  <a:pt x="0" y="144510"/>
                </a:moveTo>
                <a:lnTo>
                  <a:pt x="497911" y="0"/>
                </a:lnTo>
                <a:lnTo>
                  <a:pt x="1548008" y="0"/>
                </a:lnTo>
                <a:lnTo>
                  <a:pt x="1548008" y="558241"/>
                </a:lnTo>
                <a:lnTo>
                  <a:pt x="1050097" y="702751"/>
                </a:lnTo>
                <a:lnTo>
                  <a:pt x="0" y="702751"/>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hadow building_04"/>
          <p:cNvSpPr/>
          <p:nvPr/>
        </p:nvSpPr>
        <p:spPr>
          <a:xfrm>
            <a:off x="4099803" y="4104964"/>
            <a:ext cx="1778992" cy="760558"/>
          </a:xfrm>
          <a:custGeom>
            <a:avLst/>
            <a:gdLst/>
            <a:ahLst/>
            <a:cxnLst/>
            <a:rect l="l" t="t" r="r" b="b"/>
            <a:pathLst>
              <a:path w="1778992" h="760558">
                <a:moveTo>
                  <a:pt x="0" y="202317"/>
                </a:moveTo>
                <a:lnTo>
                  <a:pt x="697074" y="0"/>
                </a:lnTo>
                <a:lnTo>
                  <a:pt x="1778992" y="0"/>
                </a:lnTo>
                <a:lnTo>
                  <a:pt x="1778992" y="558241"/>
                </a:lnTo>
                <a:lnTo>
                  <a:pt x="1081918" y="760558"/>
                </a:lnTo>
                <a:lnTo>
                  <a:pt x="0" y="760558"/>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hadow building_05"/>
          <p:cNvSpPr/>
          <p:nvPr/>
        </p:nvSpPr>
        <p:spPr>
          <a:xfrm>
            <a:off x="6104534" y="3014918"/>
            <a:ext cx="954634" cy="717205"/>
          </a:xfrm>
          <a:custGeom>
            <a:avLst/>
            <a:gdLst/>
            <a:ahLst/>
            <a:cxnLst/>
            <a:rect l="l" t="t" r="r" b="b"/>
            <a:pathLst>
              <a:path w="954634" h="717205">
                <a:moveTo>
                  <a:pt x="0" y="158964"/>
                </a:moveTo>
                <a:lnTo>
                  <a:pt x="547699" y="0"/>
                </a:lnTo>
                <a:lnTo>
                  <a:pt x="954634" y="0"/>
                </a:lnTo>
                <a:lnTo>
                  <a:pt x="954634" y="634085"/>
                </a:lnTo>
                <a:lnTo>
                  <a:pt x="668243" y="717205"/>
                </a:lnTo>
                <a:lnTo>
                  <a:pt x="0" y="717205"/>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hadow building_06"/>
          <p:cNvSpPr/>
          <p:nvPr/>
        </p:nvSpPr>
        <p:spPr>
          <a:xfrm>
            <a:off x="6104534" y="4194137"/>
            <a:ext cx="954634" cy="671385"/>
          </a:xfrm>
          <a:custGeom>
            <a:avLst/>
            <a:gdLst/>
            <a:ahLst/>
            <a:cxnLst/>
            <a:rect l="l" t="t" r="r" b="b"/>
            <a:pathLst>
              <a:path w="954634" h="671385">
                <a:moveTo>
                  <a:pt x="0" y="130060"/>
                </a:moveTo>
                <a:lnTo>
                  <a:pt x="448118" y="0"/>
                </a:lnTo>
                <a:lnTo>
                  <a:pt x="954634" y="0"/>
                </a:lnTo>
                <a:lnTo>
                  <a:pt x="954634" y="588264"/>
                </a:lnTo>
                <a:lnTo>
                  <a:pt x="668243" y="671385"/>
                </a:lnTo>
                <a:lnTo>
                  <a:pt x="0" y="671385"/>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hadow building_07"/>
          <p:cNvSpPr/>
          <p:nvPr/>
        </p:nvSpPr>
        <p:spPr>
          <a:xfrm>
            <a:off x="854049" y="3065499"/>
            <a:ext cx="850750" cy="683540"/>
          </a:xfrm>
          <a:custGeom>
            <a:avLst/>
            <a:gdLst/>
            <a:ahLst/>
            <a:cxnLst/>
            <a:rect l="l" t="t" r="r" b="b"/>
            <a:pathLst>
              <a:path w="850750" h="683540">
                <a:moveTo>
                  <a:pt x="0" y="108383"/>
                </a:moveTo>
                <a:lnTo>
                  <a:pt x="373434" y="0"/>
                </a:lnTo>
                <a:lnTo>
                  <a:pt x="850750" y="0"/>
                </a:lnTo>
                <a:lnTo>
                  <a:pt x="850750" y="575157"/>
                </a:lnTo>
                <a:lnTo>
                  <a:pt x="477317" y="683540"/>
                </a:lnTo>
                <a:lnTo>
                  <a:pt x="0" y="683540"/>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ing_01"/>
          <p:cNvSpPr/>
          <p:nvPr/>
        </p:nvSpPr>
        <p:spPr>
          <a:xfrm>
            <a:off x="2126894" y="3156966"/>
            <a:ext cx="1050096" cy="575157"/>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building_01 roof 1"/>
          <p:cNvCxnSpPr/>
          <p:nvPr/>
        </p:nvCxnSpPr>
        <p:spPr>
          <a:xfrm>
            <a:off x="2228721" y="3224631"/>
            <a:ext cx="846442"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5" name="!!building_02"/>
          <p:cNvSpPr/>
          <p:nvPr/>
        </p:nvSpPr>
        <p:spPr>
          <a:xfrm>
            <a:off x="4099803" y="3156966"/>
            <a:ext cx="1081918" cy="558241"/>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building_02 roof 1"/>
          <p:cNvCxnSpPr/>
          <p:nvPr/>
        </p:nvCxnSpPr>
        <p:spPr>
          <a:xfrm>
            <a:off x="4201631" y="3224631"/>
            <a:ext cx="878263"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7" name="!!building_03"/>
          <p:cNvSpPr/>
          <p:nvPr/>
        </p:nvSpPr>
        <p:spPr>
          <a:xfrm>
            <a:off x="2126894" y="4307281"/>
            <a:ext cx="1050096" cy="558241"/>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building_03 roof 1"/>
          <p:cNvCxnSpPr/>
          <p:nvPr/>
        </p:nvCxnSpPr>
        <p:spPr>
          <a:xfrm>
            <a:off x="2228721" y="4374946"/>
            <a:ext cx="846442"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9" name="!!building_04"/>
          <p:cNvSpPr/>
          <p:nvPr/>
        </p:nvSpPr>
        <p:spPr>
          <a:xfrm>
            <a:off x="4099803" y="4307281"/>
            <a:ext cx="1081918" cy="558241"/>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building_04 roof 1"/>
          <p:cNvCxnSpPr/>
          <p:nvPr/>
        </p:nvCxnSpPr>
        <p:spPr>
          <a:xfrm>
            <a:off x="4201631" y="4374946"/>
            <a:ext cx="878263"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1" name="!!building_05"/>
          <p:cNvSpPr/>
          <p:nvPr/>
        </p:nvSpPr>
        <p:spPr>
          <a:xfrm>
            <a:off x="6104534" y="3173882"/>
            <a:ext cx="668243" cy="558241"/>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building_05 roof 1"/>
          <p:cNvCxnSpPr/>
          <p:nvPr/>
        </p:nvCxnSpPr>
        <p:spPr>
          <a:xfrm>
            <a:off x="6206361" y="3241548"/>
            <a:ext cx="464589"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3" name="!!building_06"/>
          <p:cNvSpPr/>
          <p:nvPr/>
        </p:nvSpPr>
        <p:spPr>
          <a:xfrm>
            <a:off x="6104534" y="4324197"/>
            <a:ext cx="668243" cy="541324"/>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building_06 roof 1"/>
          <p:cNvCxnSpPr/>
          <p:nvPr/>
        </p:nvCxnSpPr>
        <p:spPr>
          <a:xfrm>
            <a:off x="6206361" y="4391863"/>
            <a:ext cx="464589"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5" name="!!building_07"/>
          <p:cNvSpPr/>
          <p:nvPr/>
        </p:nvSpPr>
        <p:spPr>
          <a:xfrm>
            <a:off x="854049" y="3173882"/>
            <a:ext cx="477316" cy="575157"/>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building_07 roof 1"/>
          <p:cNvCxnSpPr/>
          <p:nvPr/>
        </p:nvCxnSpPr>
        <p:spPr>
          <a:xfrm>
            <a:off x="955877" y="3241548"/>
            <a:ext cx="273661"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cxnSp>
        <p:nvCxnSpPr>
          <p:cNvPr id="37" name="route_standard 1"/>
          <p:cNvCxnSpPr/>
          <p:nvPr/>
        </p:nvCxnSpPr>
        <p:spPr>
          <a:xfrm flipH="1" flipV="1">
            <a:off x="1636849" y="5109118"/>
            <a:ext cx="76370" cy="60899"/>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38" name="route_standard 2"/>
          <p:cNvCxnSpPr/>
          <p:nvPr/>
        </p:nvCxnSpPr>
        <p:spPr>
          <a:xfrm flipV="1">
            <a:off x="1636849" y="2842320"/>
            <a:ext cx="0" cy="2266798"/>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39" name="route_standard 3"/>
          <p:cNvCxnSpPr/>
          <p:nvPr/>
        </p:nvCxnSpPr>
        <p:spPr>
          <a:xfrm>
            <a:off x="1636849" y="2842320"/>
            <a:ext cx="4162202" cy="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0" name="route_standard 4"/>
          <p:cNvCxnSpPr/>
          <p:nvPr/>
        </p:nvCxnSpPr>
        <p:spPr>
          <a:xfrm>
            <a:off x="5799051" y="2842320"/>
            <a:ext cx="0" cy="2388596"/>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1" name="route_standard 5"/>
          <p:cNvCxnSpPr/>
          <p:nvPr/>
        </p:nvCxnSpPr>
        <p:spPr>
          <a:xfrm flipH="1">
            <a:off x="1789590" y="5230916"/>
            <a:ext cx="4009461" cy="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2" name="route_standard 6"/>
          <p:cNvCxnSpPr/>
          <p:nvPr/>
        </p:nvCxnSpPr>
        <p:spPr>
          <a:xfrm flipH="1" flipV="1">
            <a:off x="1713219" y="5170017"/>
            <a:ext cx="76371" cy="60899"/>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3" name="route_alternative 1"/>
          <p:cNvCxnSpPr/>
          <p:nvPr/>
        </p:nvCxnSpPr>
        <p:spPr>
          <a:xfrm flipV="1">
            <a:off x="1713219" y="5109118"/>
            <a:ext cx="76371" cy="60899"/>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4" name="route_alternative 2"/>
          <p:cNvCxnSpPr/>
          <p:nvPr/>
        </p:nvCxnSpPr>
        <p:spPr>
          <a:xfrm flipV="1">
            <a:off x="1789590" y="4104284"/>
            <a:ext cx="0" cy="1004834"/>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5" name="route_alternative 3"/>
          <p:cNvCxnSpPr/>
          <p:nvPr/>
        </p:nvCxnSpPr>
        <p:spPr>
          <a:xfrm>
            <a:off x="1789590" y="4104284"/>
            <a:ext cx="2004731"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6" name="route_alternative 4"/>
          <p:cNvCxnSpPr/>
          <p:nvPr/>
        </p:nvCxnSpPr>
        <p:spPr>
          <a:xfrm flipV="1">
            <a:off x="3794321" y="2964119"/>
            <a:ext cx="0" cy="1140165"/>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7" name="route_alternative 5"/>
          <p:cNvCxnSpPr/>
          <p:nvPr/>
        </p:nvCxnSpPr>
        <p:spPr>
          <a:xfrm>
            <a:off x="3794321" y="2964119"/>
            <a:ext cx="1851989"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8" name="route_alternative 6"/>
          <p:cNvCxnSpPr/>
          <p:nvPr/>
        </p:nvCxnSpPr>
        <p:spPr>
          <a:xfrm>
            <a:off x="5646310" y="2964119"/>
            <a:ext cx="0" cy="2144999"/>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9" name="route_alternative 7"/>
          <p:cNvCxnSpPr/>
          <p:nvPr/>
        </p:nvCxnSpPr>
        <p:spPr>
          <a:xfrm flipH="1">
            <a:off x="1789590" y="5109118"/>
            <a:ext cx="3856720"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50" name="route_alternative 8"/>
          <p:cNvCxnSpPr/>
          <p:nvPr/>
        </p:nvCxnSpPr>
        <p:spPr>
          <a:xfrm flipH="1">
            <a:off x="1713219" y="5109118"/>
            <a:ext cx="76371" cy="60899"/>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sp>
        <p:nvSpPr>
          <p:cNvPr id="51" name="Start point"/>
          <p:cNvSpPr/>
          <p:nvPr/>
        </p:nvSpPr>
        <p:spPr>
          <a:xfrm>
            <a:off x="1621779" y="5078577"/>
            <a:ext cx="182880" cy="182880"/>
          </a:xfrm>
          <a:prstGeom prst="ellipse">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tart centre"/>
          <p:cNvSpPr/>
          <p:nvPr/>
        </p:nvSpPr>
        <p:spPr>
          <a:xfrm>
            <a:off x="1667499" y="5124297"/>
            <a:ext cx="91440" cy="91440"/>
          </a:xfrm>
          <a:prstGeom prst="ellipse">
            <a:avLst/>
          </a:prstGeom>
          <a:solidFill>
            <a:srgbClr val="79DC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ptional cafe"/>
          <p:cNvSpPr/>
          <p:nvPr/>
        </p:nvSpPr>
        <p:spPr>
          <a:xfrm>
            <a:off x="5509150" y="3967124"/>
            <a:ext cx="274320" cy="274320"/>
          </a:xfrm>
          <a:prstGeom prst="ellipse">
            <a:avLst/>
          </a:prstGeom>
          <a:solidFill>
            <a:srgbClr val="EDC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 53"/>
          <p:cNvSpPr txBox="1"/>
          <p:nvPr/>
        </p:nvSpPr>
        <p:spPr>
          <a:xfrm>
            <a:off x="5810902" y="3985412"/>
            <a:ext cx="1371600" cy="365760"/>
          </a:xfrm>
          <a:prstGeom prst="rect">
            <a:avLst/>
          </a:prstGeom>
          <a:noFill/>
        </p:spPr>
        <p:txBody>
          <a:bodyPr wrap="square" lIns="13716" rIns="13716" tIns="13716" bIns="13716" anchor="t">
            <a:spAutoFit/>
          </a:bodyPr>
          <a:lstStyle/>
          <a:p>
            <a:pPr algn="l">
              <a:lnSpc>
                <a:spcPct val="108000"/>
              </a:lnSpc>
              <a:spcAft>
                <a:spcPts val="300"/>
              </a:spcAft>
              <a:defRPr sz="1200" b="1">
                <a:solidFill>
                  <a:srgbClr val="EDC76C"/>
                </a:solidFill>
                <a:latin typeface="Arial"/>
              </a:defRPr>
            </a:pPr>
            <a:r>
              <a:t>Sponsored</a:t>
            </a:r>
          </a:p>
        </p:txBody>
      </p:sp>
      <p:sp>
        <p:nvSpPr>
          <p:cNvPr id="55" name="Text 54"/>
          <p:cNvSpPr txBox="1"/>
          <p:nvPr/>
        </p:nvSpPr>
        <p:spPr>
          <a:xfrm>
            <a:off x="722376" y="5806440"/>
            <a:ext cx="6309360" cy="173736"/>
          </a:xfrm>
          <a:prstGeom prst="rect">
            <a:avLst/>
          </a:prstGeom>
          <a:noFill/>
        </p:spPr>
        <p:txBody>
          <a:bodyPr wrap="square" lIns="13716" rIns="13716" tIns="13716" bIns="13716" anchor="t">
            <a:spAutoFit/>
          </a:bodyPr>
          <a:lstStyle/>
          <a:p>
            <a:pPr algn="l">
              <a:lnSpc>
                <a:spcPct val="108000"/>
              </a:lnSpc>
              <a:spcAft>
                <a:spcPts val="300"/>
              </a:spcAft>
              <a:defRPr sz="900" b="1">
                <a:solidFill>
                  <a:srgbClr val="A8B8AC"/>
                </a:solidFill>
                <a:latin typeface="Arial"/>
              </a:defRPr>
            </a:pPr>
            <a:r>
              <a:t>ILLUSTRATIVE SCHEME · ASSUMED SUN ANGLES</a:t>
            </a:r>
          </a:p>
        </p:txBody>
      </p:sp>
      <p:sp>
        <p:nvSpPr>
          <p:cNvPr id="56" name="Text 55"/>
          <p:cNvSpPr txBox="1"/>
          <p:nvPr/>
        </p:nvSpPr>
        <p:spPr>
          <a:xfrm>
            <a:off x="6784848" y="2404872"/>
            <a:ext cx="228600" cy="274320"/>
          </a:xfrm>
          <a:prstGeom prst="rect">
            <a:avLst/>
          </a:prstGeom>
          <a:noFill/>
        </p:spPr>
        <p:txBody>
          <a:bodyPr wrap="square" lIns="13716" rIns="13716" tIns="13716" bIns="13716" anchor="t">
            <a:spAutoFit/>
          </a:bodyPr>
          <a:lstStyle/>
          <a:p>
            <a:pPr algn="l">
              <a:lnSpc>
                <a:spcPct val="108000"/>
              </a:lnSpc>
              <a:spcAft>
                <a:spcPts val="300"/>
              </a:spcAft>
              <a:defRPr sz="1100" b="1">
                <a:solidFill>
                  <a:srgbClr val="F2F5EE"/>
                </a:solidFill>
                <a:latin typeface="Arial"/>
              </a:defRPr>
            </a:pPr>
            <a:r>
              <a:t>N</a:t>
            </a:r>
          </a:p>
        </p:txBody>
      </p:sp>
      <p:sp>
        <p:nvSpPr>
          <p:cNvPr id="57" name="Text 56"/>
          <p:cNvSpPr txBox="1"/>
          <p:nvPr/>
        </p:nvSpPr>
        <p:spPr>
          <a:xfrm>
            <a:off x="7516368" y="2267712"/>
            <a:ext cx="4114800" cy="576072"/>
          </a:xfrm>
          <a:prstGeom prst="rect">
            <a:avLst/>
          </a:prstGeom>
          <a:noFill/>
        </p:spPr>
        <p:txBody>
          <a:bodyPr wrap="square" lIns="13716" rIns="13716" tIns="13716" bIns="13716" anchor="t">
            <a:spAutoFit/>
          </a:bodyPr>
          <a:lstStyle/>
          <a:p>
            <a:pPr algn="l">
              <a:lnSpc>
                <a:spcPct val="108000"/>
              </a:lnSpc>
              <a:spcAft>
                <a:spcPts val="300"/>
              </a:spcAft>
              <a:defRPr sz="3400" b="1">
                <a:solidFill>
                  <a:srgbClr val="79DCAF"/>
                </a:solidFill>
                <a:latin typeface="Arial"/>
              </a:defRPr>
            </a:pPr>
            <a:r>
              <a:t>600 000</a:t>
            </a:r>
          </a:p>
        </p:txBody>
      </p:sp>
      <p:sp>
        <p:nvSpPr>
          <p:cNvPr id="58" name="Text 57"/>
          <p:cNvSpPr txBox="1"/>
          <p:nvPr/>
        </p:nvSpPr>
        <p:spPr>
          <a:xfrm>
            <a:off x="7543800" y="2907791"/>
            <a:ext cx="4023360" cy="347472"/>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UZS per monthly campaign</a:t>
            </a:r>
          </a:p>
        </p:txBody>
      </p:sp>
      <p:sp>
        <p:nvSpPr>
          <p:cNvPr id="59" name="Text 58"/>
          <p:cNvSpPr txBox="1"/>
          <p:nvPr/>
        </p:nvSpPr>
        <p:spPr>
          <a:xfrm>
            <a:off x="7516368" y="3447288"/>
            <a:ext cx="4114800" cy="576072"/>
          </a:xfrm>
          <a:prstGeom prst="rect">
            <a:avLst/>
          </a:prstGeom>
          <a:noFill/>
        </p:spPr>
        <p:txBody>
          <a:bodyPr wrap="square" lIns="13716" rIns="13716" tIns="13716" bIns="13716" anchor="t">
            <a:spAutoFit/>
          </a:bodyPr>
          <a:lstStyle/>
          <a:p>
            <a:pPr algn="l">
              <a:lnSpc>
                <a:spcPct val="108000"/>
              </a:lnSpc>
              <a:spcAft>
                <a:spcPts val="300"/>
              </a:spcAft>
              <a:defRPr sz="3400" b="1">
                <a:solidFill>
                  <a:srgbClr val="EDC76C"/>
                </a:solidFill>
                <a:latin typeface="Arial"/>
              </a:defRPr>
            </a:pPr>
            <a:r>
              <a:t>3 000</a:t>
            </a:r>
          </a:p>
        </p:txBody>
      </p:sp>
      <p:sp>
        <p:nvSpPr>
          <p:cNvPr id="60" name="Text 59"/>
          <p:cNvSpPr txBox="1"/>
          <p:nvPr/>
        </p:nvSpPr>
        <p:spPr>
          <a:xfrm>
            <a:off x="7543800" y="4087368"/>
            <a:ext cx="4023360" cy="347472"/>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Marked route impressions</a:t>
            </a:r>
          </a:p>
        </p:txBody>
      </p:sp>
      <p:sp>
        <p:nvSpPr>
          <p:cNvPr id="61" name="Text 60"/>
          <p:cNvSpPr txBox="1"/>
          <p:nvPr/>
        </p:nvSpPr>
        <p:spPr>
          <a:xfrm>
            <a:off x="7516368" y="4626864"/>
            <a:ext cx="4114800" cy="576072"/>
          </a:xfrm>
          <a:prstGeom prst="rect">
            <a:avLst/>
          </a:prstGeom>
          <a:noFill/>
        </p:spPr>
        <p:txBody>
          <a:bodyPr wrap="square" lIns="13716" rIns="13716" tIns="13716" bIns="13716" anchor="t">
            <a:spAutoFit/>
          </a:bodyPr>
          <a:lstStyle/>
          <a:p>
            <a:pPr algn="l">
              <a:lnSpc>
                <a:spcPct val="108000"/>
              </a:lnSpc>
              <a:spcAft>
                <a:spcPts val="300"/>
              </a:spcAft>
              <a:defRPr sz="3400" b="1">
                <a:solidFill>
                  <a:srgbClr val="79DCAF"/>
                </a:solidFill>
                <a:latin typeface="Arial"/>
              </a:defRPr>
            </a:pPr>
            <a:r>
              <a:t>499 000</a:t>
            </a:r>
          </a:p>
        </p:txBody>
      </p:sp>
      <p:sp>
        <p:nvSpPr>
          <p:cNvPr id="62" name="Text 61"/>
          <p:cNvSpPr txBox="1"/>
          <p:nvPr/>
        </p:nvSpPr>
        <p:spPr>
          <a:xfrm>
            <a:off x="7543800" y="5266944"/>
            <a:ext cx="4023360" cy="347472"/>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Modelled contribution in UZS</a:t>
            </a:r>
          </a:p>
        </p:txBody>
      </p:sp>
      <p:sp>
        <p:nvSpPr>
          <p:cNvPr id="63" name="Text 62"/>
          <p:cNvSpPr txBox="1"/>
          <p:nvPr/>
        </p:nvSpPr>
        <p:spPr>
          <a:xfrm>
            <a:off x="7543800" y="5806440"/>
            <a:ext cx="3931920" cy="274320"/>
          </a:xfrm>
          <a:prstGeom prst="rect">
            <a:avLst/>
          </a:prstGeom>
          <a:noFill/>
        </p:spPr>
        <p:txBody>
          <a:bodyPr wrap="square" lIns="13716" rIns="13716" tIns="13716" bIns="13716" anchor="t">
            <a:spAutoFit/>
          </a:bodyPr>
          <a:lstStyle/>
          <a:p>
            <a:pPr algn="l">
              <a:lnSpc>
                <a:spcPct val="108000"/>
              </a:lnSpc>
              <a:spcAft>
                <a:spcPts val="300"/>
              </a:spcAft>
              <a:defRPr sz="1100" b="0">
                <a:solidFill>
                  <a:srgbClr val="A8B8AC"/>
                </a:solidFill>
                <a:latin typeface="Arial"/>
              </a:defRPr>
            </a:pPr>
            <a:r>
              <a:t>Voluntary stop · attribution to be tested</a:t>
            </a:r>
          </a:p>
        </p:txBody>
      </p:sp>
      <p:sp>
        <p:nvSpPr>
          <p:cNvPr id="64"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 · Ferrell et al 2019</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280" fill="hold"/>
                                        <p:tgtEl>
                                          <p:spTgt spid="5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280" fill="hold"/>
                                        <p:tgtEl>
                                          <p:spTgt spid="5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fade">
                                      <p:cBhvr>
                                        <p:cTn id="15" dur="280" fill="hold"/>
                                        <p:tgtEl>
                                          <p:spTgt spid="5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0"/>
                                        </p:tgtEl>
                                        <p:attrNameLst>
                                          <p:attrName>style.visibility</p:attrName>
                                        </p:attrNameLst>
                                      </p:cBhvr>
                                      <p:to>
                                        <p:strVal val="visible"/>
                                      </p:to>
                                    </p:set>
                                    <p:animEffect transition="in" filter="fade">
                                      <p:cBhvr>
                                        <p:cTn id="18" dur="280" fill="hold"/>
                                        <p:tgtEl>
                                          <p:spTgt spid="6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1"/>
                                        </p:tgtEl>
                                        <p:attrNameLst>
                                          <p:attrName>style.visibility</p:attrName>
                                        </p:attrNameLst>
                                      </p:cBhvr>
                                      <p:to>
                                        <p:strVal val="visible"/>
                                      </p:to>
                                    </p:set>
                                    <p:animEffect transition="in" filter="fade">
                                      <p:cBhvr>
                                        <p:cTn id="23" dur="280" fill="hold"/>
                                        <p:tgtEl>
                                          <p:spTgt spid="6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2"/>
                                        </p:tgtEl>
                                        <p:attrNameLst>
                                          <p:attrName>style.visibility</p:attrName>
                                        </p:attrNameLst>
                                      </p:cBhvr>
                                      <p:to>
                                        <p:strVal val="visible"/>
                                      </p:to>
                                    </p:set>
                                    <p:animEffect transition="in" filter="fade">
                                      <p:cBhvr>
                                        <p:cTn id="26" dur="280" fill="hold"/>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build="allAtOnce" animBg="1"/>
      <p:bldP spid="58" grpId="0" build="allAtOnce" animBg="1"/>
      <p:bldP spid="59" grpId="0" build="allAtOnce" animBg="1"/>
      <p:bldP spid="60" grpId="0" build="allAtOnce" animBg="1"/>
      <p:bldP spid="61" grpId="0" build="allAtOnce" animBg="1"/>
      <p:bldP spid="62" grpId="0" build="allAtOnce"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PRODUCT</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Market size is a planning envelope</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Test the pilot before treating the city estimate as demand</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13</a:t>
            </a:r>
          </a:p>
        </p:txBody>
      </p:sp>
      <p:sp>
        <p:nvSpPr>
          <p:cNvPr id="8" name="Panel 7"/>
          <p:cNvSpPr/>
          <p:nvPr/>
        </p:nvSpPr>
        <p:spPr>
          <a:xfrm>
            <a:off x="640080" y="2423160"/>
            <a:ext cx="3520440" cy="27889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822959" y="2587752"/>
            <a:ext cx="315468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ASSUMPTIONS</a:t>
            </a:r>
          </a:p>
        </p:txBody>
      </p:sp>
      <p:sp>
        <p:nvSpPr>
          <p:cNvPr id="10" name="Text 9"/>
          <p:cNvSpPr txBox="1"/>
          <p:nvPr/>
        </p:nvSpPr>
        <p:spPr>
          <a:xfrm>
            <a:off x="822959" y="3227832"/>
            <a:ext cx="315468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City audience inputs</a:t>
            </a:r>
          </a:p>
        </p:txBody>
      </p:sp>
      <p:sp>
        <p:nvSpPr>
          <p:cNvPr id="11" name="Text 10"/>
          <p:cNvSpPr txBox="1"/>
          <p:nvPr/>
        </p:nvSpPr>
        <p:spPr>
          <a:xfrm>
            <a:off x="822959" y="3785615"/>
            <a:ext cx="3154680" cy="131673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650 000 walkers</a:t>
            </a:r>
          </a:p>
          <a:p>
            <a:pPr algn="l">
              <a:lnSpc>
                <a:spcPct val="108000"/>
              </a:lnSpc>
              <a:spcAft>
                <a:spcPts val="300"/>
              </a:spcAft>
              <a:defRPr sz="1800" b="0">
                <a:solidFill>
                  <a:srgbClr val="A8B8AC"/>
                </a:solidFill>
                <a:latin typeface="Arial"/>
              </a:defRPr>
            </a:pPr>
            <a:r>
              <a:t>1 500 suitable venues</a:t>
            </a:r>
          </a:p>
        </p:txBody>
      </p:sp>
      <p:sp>
        <p:nvSpPr>
          <p:cNvPr id="12" name="Panel 11"/>
          <p:cNvSpPr/>
          <p:nvPr/>
        </p:nvSpPr>
        <p:spPr>
          <a:xfrm>
            <a:off x="4343400" y="2423160"/>
            <a:ext cx="3520440" cy="27889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4526280" y="2587752"/>
            <a:ext cx="315468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25.80 bn UZS</a:t>
            </a:r>
          </a:p>
        </p:txBody>
      </p:sp>
      <p:sp>
        <p:nvSpPr>
          <p:cNvPr id="14" name="Text 13"/>
          <p:cNvSpPr txBox="1"/>
          <p:nvPr/>
        </p:nvSpPr>
        <p:spPr>
          <a:xfrm>
            <a:off x="4526280" y="3227832"/>
            <a:ext cx="315468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Annual city envelope</a:t>
            </a:r>
          </a:p>
        </p:txBody>
      </p:sp>
      <p:sp>
        <p:nvSpPr>
          <p:cNvPr id="15" name="Text 14"/>
          <p:cNvSpPr txBox="1"/>
          <p:nvPr/>
        </p:nvSpPr>
        <p:spPr>
          <a:xfrm>
            <a:off x="4526280" y="3785615"/>
            <a:ext cx="3154680" cy="131673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At 5 percent conversion</a:t>
            </a:r>
          </a:p>
          <a:p>
            <a:pPr algn="l">
              <a:lnSpc>
                <a:spcPct val="108000"/>
              </a:lnSpc>
              <a:spcAft>
                <a:spcPts val="300"/>
              </a:spcAft>
              <a:defRPr sz="1800" b="0">
                <a:solidFill>
                  <a:srgbClr val="A8B8AC"/>
                </a:solidFill>
                <a:latin typeface="Arial"/>
              </a:defRPr>
            </a:pPr>
            <a:r>
              <a:t>Not a measured market</a:t>
            </a:r>
          </a:p>
        </p:txBody>
      </p:sp>
      <p:sp>
        <p:nvSpPr>
          <p:cNvPr id="16" name="Panel 15"/>
          <p:cNvSpPr/>
          <p:nvPr/>
        </p:nvSpPr>
        <p:spPr>
          <a:xfrm>
            <a:off x="8046720" y="2423160"/>
            <a:ext cx="3520440" cy="2788920"/>
          </a:xfrm>
          <a:prstGeom prst="roundRect">
            <a:avLst>
              <a:gd name="adj" fmla="val 9000"/>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8229600" y="2587752"/>
            <a:ext cx="315468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267353"/>
                </a:solidFill>
                <a:latin typeface="Arial"/>
              </a:defRPr>
            </a:pPr>
            <a:r>
              <a:t>251.38 m UZS</a:t>
            </a:r>
          </a:p>
        </p:txBody>
      </p:sp>
      <p:sp>
        <p:nvSpPr>
          <p:cNvPr id="18" name="Text 17"/>
          <p:cNvSpPr txBox="1"/>
          <p:nvPr/>
        </p:nvSpPr>
        <p:spPr>
          <a:xfrm>
            <a:off x="8229600" y="3227832"/>
            <a:ext cx="315468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14251B"/>
                </a:solidFill>
                <a:latin typeface="Arial"/>
              </a:defRPr>
            </a:pPr>
            <a:r>
              <a:t>Year 1 model</a:t>
            </a:r>
          </a:p>
        </p:txBody>
      </p:sp>
      <p:sp>
        <p:nvSpPr>
          <p:cNvPr id="19" name="Text 18"/>
          <p:cNvSpPr txBox="1"/>
          <p:nvPr/>
        </p:nvSpPr>
        <p:spPr>
          <a:xfrm>
            <a:off x="8229600" y="3785615"/>
            <a:ext cx="3154680" cy="131673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14251B"/>
                </a:solidFill>
                <a:latin typeface="Arial"/>
              </a:defRPr>
            </a:pPr>
            <a:r>
              <a:t>Monthly user and payer ramp</a:t>
            </a:r>
          </a:p>
        </p:txBody>
      </p:sp>
      <p:sp>
        <p:nvSpPr>
          <p:cNvPr id="20" name="Text 19"/>
          <p:cNvSpPr txBox="1"/>
          <p:nvPr/>
        </p:nvSpPr>
        <p:spPr>
          <a:xfrm>
            <a:off x="768096" y="5614416"/>
            <a:ext cx="10698480" cy="438912"/>
          </a:xfrm>
          <a:prstGeom prst="rect">
            <a:avLst/>
          </a:prstGeom>
          <a:noFill/>
        </p:spPr>
        <p:txBody>
          <a:bodyPr wrap="square" lIns="13716" rIns="13716" tIns="13716" bIns="13716" anchor="t">
            <a:spAutoFit/>
          </a:bodyPr>
          <a:lstStyle/>
          <a:p>
            <a:pPr algn="l">
              <a:lnSpc>
                <a:spcPct val="108000"/>
              </a:lnSpc>
              <a:spcAft>
                <a:spcPts val="300"/>
              </a:spcAft>
              <a:defRPr sz="2100" b="1">
                <a:solidFill>
                  <a:srgbClr val="EDC76C"/>
                </a:solidFill>
                <a:latin typeface="Arial"/>
              </a:defRPr>
            </a:pPr>
            <a:r>
              <a:t>Evidence needed · definitions, local counts and willingness to pay</a:t>
            </a:r>
          </a:p>
        </p:txBody>
      </p:sp>
      <p:sp>
        <p:nvSpPr>
          <p:cNvPr id="21"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80" fill="hold"/>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280" fill="hold"/>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80" fill="hold"/>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280" fill="hold"/>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280" fill="hold"/>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280" fill="hold"/>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280" fill="hold"/>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280" fill="hold"/>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2" grpId="0" build="allAtOnce" animBg="1"/>
      <p:bldP spid="13" grpId="0" build="allAtOnce" animBg="1"/>
      <p:bldP spid="14" grpId="0" build="allAtOnce" animBg="1"/>
      <p:bldP spid="15" grpId="0" build="allAtOnce" animBg="1"/>
      <p:bldP spid="16" grpId="0" build="allAtOnce" animBg="1"/>
      <p:bldP spid="17" grpId="0" build="allAtOnce" animBg="1"/>
      <p:bldP spid="18" grpId="0" build="allAtOnce" animBg="1"/>
      <p:bldP spid="19" grpId="0" build="allAtOnce"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OPERATIONS</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Acquire a first walk, then earn a return</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Measure activation and retention before increasing spend</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14</a:t>
            </a:r>
          </a:p>
        </p:txBody>
      </p:sp>
      <p:sp>
        <p:nvSpPr>
          <p:cNvPr id="8" name="Panel 7"/>
          <p:cNvSpPr/>
          <p:nvPr/>
        </p:nvSpPr>
        <p:spPr>
          <a:xfrm>
            <a:off x="548640" y="2606040"/>
            <a:ext cx="2628900" cy="2221992"/>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731520" y="2770632"/>
            <a:ext cx="226314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01</a:t>
            </a:r>
          </a:p>
        </p:txBody>
      </p:sp>
      <p:sp>
        <p:nvSpPr>
          <p:cNvPr id="10" name="Text 9"/>
          <p:cNvSpPr txBox="1"/>
          <p:nvPr/>
        </p:nvSpPr>
        <p:spPr>
          <a:xfrm>
            <a:off x="731520" y="3410712"/>
            <a:ext cx="22631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Discover</a:t>
            </a:r>
          </a:p>
        </p:txBody>
      </p:sp>
      <p:sp>
        <p:nvSpPr>
          <p:cNvPr id="11" name="Text 10"/>
          <p:cNvSpPr txBox="1"/>
          <p:nvPr/>
        </p:nvSpPr>
        <p:spPr>
          <a:xfrm>
            <a:off x="731520" y="3968496"/>
            <a:ext cx="2263140" cy="749808"/>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Starter routes and groups</a:t>
            </a:r>
          </a:p>
        </p:txBody>
      </p:sp>
      <p:sp>
        <p:nvSpPr>
          <p:cNvPr id="12" name="Text 11"/>
          <p:cNvSpPr txBox="1"/>
          <p:nvPr/>
        </p:nvSpPr>
        <p:spPr>
          <a:xfrm>
            <a:off x="3200400" y="3607308"/>
            <a:ext cx="164592" cy="274320"/>
          </a:xfrm>
          <a:prstGeom prst="rect">
            <a:avLst/>
          </a:prstGeom>
          <a:noFill/>
        </p:spPr>
        <p:txBody>
          <a:bodyPr wrap="square" lIns="13716" rIns="13716" tIns="13716" bIns="13716" anchor="t">
            <a:spAutoFit/>
          </a:bodyPr>
          <a:lstStyle/>
          <a:p>
            <a:pPr algn="l">
              <a:lnSpc>
                <a:spcPct val="108000"/>
              </a:lnSpc>
              <a:spcAft>
                <a:spcPts val="300"/>
              </a:spcAft>
              <a:defRPr sz="2200" b="1">
                <a:solidFill>
                  <a:srgbClr val="79DCAF"/>
                </a:solidFill>
                <a:latin typeface="Arial"/>
              </a:defRPr>
            </a:pPr>
            <a:r>
              <a:t>›</a:t>
            </a:r>
          </a:p>
        </p:txBody>
      </p:sp>
      <p:sp>
        <p:nvSpPr>
          <p:cNvPr id="13" name="Panel 12"/>
          <p:cNvSpPr/>
          <p:nvPr/>
        </p:nvSpPr>
        <p:spPr>
          <a:xfrm>
            <a:off x="3360420" y="2606040"/>
            <a:ext cx="2628900" cy="2221992"/>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3543300" y="2770632"/>
            <a:ext cx="226314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02</a:t>
            </a:r>
          </a:p>
        </p:txBody>
      </p:sp>
      <p:sp>
        <p:nvSpPr>
          <p:cNvPr id="15" name="Text 14"/>
          <p:cNvSpPr txBox="1"/>
          <p:nvPr/>
        </p:nvSpPr>
        <p:spPr>
          <a:xfrm>
            <a:off x="3543300" y="3410712"/>
            <a:ext cx="22631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Activate</a:t>
            </a:r>
          </a:p>
        </p:txBody>
      </p:sp>
      <p:sp>
        <p:nvSpPr>
          <p:cNvPr id="16" name="Text 15"/>
          <p:cNvSpPr txBox="1"/>
          <p:nvPr/>
        </p:nvSpPr>
        <p:spPr>
          <a:xfrm>
            <a:off x="3543300" y="3968496"/>
            <a:ext cx="2263140" cy="749808"/>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Start a first walk</a:t>
            </a:r>
          </a:p>
        </p:txBody>
      </p:sp>
      <p:sp>
        <p:nvSpPr>
          <p:cNvPr id="17" name="Text 16"/>
          <p:cNvSpPr txBox="1"/>
          <p:nvPr/>
        </p:nvSpPr>
        <p:spPr>
          <a:xfrm>
            <a:off x="6012180" y="3607308"/>
            <a:ext cx="164592" cy="274320"/>
          </a:xfrm>
          <a:prstGeom prst="rect">
            <a:avLst/>
          </a:prstGeom>
          <a:noFill/>
        </p:spPr>
        <p:txBody>
          <a:bodyPr wrap="square" lIns="13716" rIns="13716" tIns="13716" bIns="13716" anchor="t">
            <a:spAutoFit/>
          </a:bodyPr>
          <a:lstStyle/>
          <a:p>
            <a:pPr algn="l">
              <a:lnSpc>
                <a:spcPct val="108000"/>
              </a:lnSpc>
              <a:spcAft>
                <a:spcPts val="300"/>
              </a:spcAft>
              <a:defRPr sz="2200" b="1">
                <a:solidFill>
                  <a:srgbClr val="79DCAF"/>
                </a:solidFill>
                <a:latin typeface="Arial"/>
              </a:defRPr>
            </a:pPr>
            <a:r>
              <a:t>›</a:t>
            </a:r>
          </a:p>
        </p:txBody>
      </p:sp>
      <p:sp>
        <p:nvSpPr>
          <p:cNvPr id="18" name="Panel 17"/>
          <p:cNvSpPr/>
          <p:nvPr/>
        </p:nvSpPr>
        <p:spPr>
          <a:xfrm>
            <a:off x="6172200" y="2606040"/>
            <a:ext cx="2628900" cy="2221992"/>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355080" y="2770632"/>
            <a:ext cx="226314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03</a:t>
            </a:r>
          </a:p>
        </p:txBody>
      </p:sp>
      <p:sp>
        <p:nvSpPr>
          <p:cNvPr id="20" name="Text 19"/>
          <p:cNvSpPr txBox="1"/>
          <p:nvPr/>
        </p:nvSpPr>
        <p:spPr>
          <a:xfrm>
            <a:off x="6355080" y="3410712"/>
            <a:ext cx="22631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Return</a:t>
            </a:r>
          </a:p>
        </p:txBody>
      </p:sp>
      <p:sp>
        <p:nvSpPr>
          <p:cNvPr id="21" name="Text 20"/>
          <p:cNvSpPr txBox="1"/>
          <p:nvPr/>
        </p:nvSpPr>
        <p:spPr>
          <a:xfrm>
            <a:off x="6355080" y="3968496"/>
            <a:ext cx="2263140" cy="749808"/>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Find repeat value</a:t>
            </a:r>
          </a:p>
        </p:txBody>
      </p:sp>
      <p:sp>
        <p:nvSpPr>
          <p:cNvPr id="22" name="Text 21"/>
          <p:cNvSpPr txBox="1"/>
          <p:nvPr/>
        </p:nvSpPr>
        <p:spPr>
          <a:xfrm>
            <a:off x="8823960" y="3607308"/>
            <a:ext cx="164592" cy="274320"/>
          </a:xfrm>
          <a:prstGeom prst="rect">
            <a:avLst/>
          </a:prstGeom>
          <a:noFill/>
        </p:spPr>
        <p:txBody>
          <a:bodyPr wrap="square" lIns="13716" rIns="13716" tIns="13716" bIns="13716" anchor="t">
            <a:spAutoFit/>
          </a:bodyPr>
          <a:lstStyle/>
          <a:p>
            <a:pPr algn="l">
              <a:lnSpc>
                <a:spcPct val="108000"/>
              </a:lnSpc>
              <a:spcAft>
                <a:spcPts val="300"/>
              </a:spcAft>
              <a:defRPr sz="2200" b="1">
                <a:solidFill>
                  <a:srgbClr val="79DCAF"/>
                </a:solidFill>
                <a:latin typeface="Arial"/>
              </a:defRPr>
            </a:pPr>
            <a:r>
              <a:t>›</a:t>
            </a:r>
          </a:p>
        </p:txBody>
      </p:sp>
      <p:sp>
        <p:nvSpPr>
          <p:cNvPr id="23" name="Panel 22"/>
          <p:cNvSpPr/>
          <p:nvPr/>
        </p:nvSpPr>
        <p:spPr>
          <a:xfrm>
            <a:off x="8983980" y="2606040"/>
            <a:ext cx="2628900" cy="2221992"/>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23"/>
          <p:cNvSpPr txBox="1"/>
          <p:nvPr/>
        </p:nvSpPr>
        <p:spPr>
          <a:xfrm>
            <a:off x="9166860" y="2770632"/>
            <a:ext cx="226314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04</a:t>
            </a:r>
          </a:p>
        </p:txBody>
      </p:sp>
      <p:sp>
        <p:nvSpPr>
          <p:cNvPr id="25" name="Text 24"/>
          <p:cNvSpPr txBox="1"/>
          <p:nvPr/>
        </p:nvSpPr>
        <p:spPr>
          <a:xfrm>
            <a:off x="9166860" y="3410712"/>
            <a:ext cx="22631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Pay</a:t>
            </a:r>
          </a:p>
        </p:txBody>
      </p:sp>
      <p:sp>
        <p:nvSpPr>
          <p:cNvPr id="26" name="Text 25"/>
          <p:cNvSpPr txBox="1"/>
          <p:nvPr/>
        </p:nvSpPr>
        <p:spPr>
          <a:xfrm>
            <a:off x="9166860" y="3968496"/>
            <a:ext cx="2263140" cy="749808"/>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Choose a useful upgrade</a:t>
            </a:r>
          </a:p>
        </p:txBody>
      </p:sp>
      <p:sp>
        <p:nvSpPr>
          <p:cNvPr id="27" name="Text 26"/>
          <p:cNvSpPr txBox="1"/>
          <p:nvPr/>
        </p:nvSpPr>
        <p:spPr>
          <a:xfrm>
            <a:off x="731520" y="5413248"/>
            <a:ext cx="5166360" cy="502920"/>
          </a:xfrm>
          <a:prstGeom prst="rect">
            <a:avLst/>
          </a:prstGeom>
          <a:noFill/>
        </p:spPr>
        <p:txBody>
          <a:bodyPr wrap="square" lIns="13716" rIns="13716" tIns="13716" bIns="13716" anchor="t">
            <a:spAutoFit/>
          </a:bodyPr>
          <a:lstStyle/>
          <a:p>
            <a:pPr algn="l">
              <a:lnSpc>
                <a:spcPct val="108000"/>
              </a:lnSpc>
              <a:spcAft>
                <a:spcPts val="300"/>
              </a:spcAft>
              <a:defRPr sz="2500" b="1">
                <a:solidFill>
                  <a:srgbClr val="79DCAF"/>
                </a:solidFill>
                <a:latin typeface="Arial"/>
              </a:defRPr>
            </a:pPr>
            <a:r>
              <a:t>1 000 UZS per activation</a:t>
            </a:r>
          </a:p>
        </p:txBody>
      </p:sp>
      <p:sp>
        <p:nvSpPr>
          <p:cNvPr id="28" name="Text 27"/>
          <p:cNvSpPr txBox="1"/>
          <p:nvPr/>
        </p:nvSpPr>
        <p:spPr>
          <a:xfrm>
            <a:off x="6400800" y="5413248"/>
            <a:ext cx="5212080" cy="502920"/>
          </a:xfrm>
          <a:prstGeom prst="rect">
            <a:avLst/>
          </a:prstGeom>
          <a:noFill/>
        </p:spPr>
        <p:txBody>
          <a:bodyPr wrap="square" lIns="13716" rIns="13716" tIns="13716" bIns="13716" anchor="t">
            <a:spAutoFit/>
          </a:bodyPr>
          <a:lstStyle/>
          <a:p>
            <a:pPr algn="l">
              <a:lnSpc>
                <a:spcPct val="108000"/>
              </a:lnSpc>
              <a:spcAft>
                <a:spcPts val="300"/>
              </a:spcAft>
              <a:defRPr sz="2300" b="1">
                <a:solidFill>
                  <a:srgbClr val="EDC76C"/>
                </a:solidFill>
                <a:latin typeface="Arial"/>
              </a:defRPr>
            </a:pPr>
            <a:r>
              <a:t>75 percent monthly user retention</a:t>
            </a:r>
          </a:p>
        </p:txBody>
      </p:sp>
      <p:sp>
        <p:nvSpPr>
          <p:cNvPr id="29" name="Text 28"/>
          <p:cNvSpPr txBox="1"/>
          <p:nvPr/>
        </p:nvSpPr>
        <p:spPr>
          <a:xfrm>
            <a:off x="768096" y="5934456"/>
            <a:ext cx="10698480" cy="228600"/>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Planning assumptions · link opens do not equal first walks</a:t>
            </a:r>
          </a:p>
        </p:txBody>
      </p:sp>
      <p:sp>
        <p:nvSpPr>
          <p:cNvPr id="30"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 · Bovée and Thill 2020 · Ferrell et al 2019</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280" fill="hold"/>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280" fill="hold"/>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280" fill="hold"/>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280" fill="hold"/>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280" fill="hold"/>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280" fill="hold"/>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280" fill="hold"/>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280" fill="hold"/>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280" fill="hold"/>
                                        <p:tgtEl>
                                          <p:spTgt spid="2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280" fill="hold"/>
                                        <p:tgtEl>
                                          <p:spTgt spid="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280" fill="hold"/>
                                        <p:tgtEl>
                                          <p:spTgt spid="2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280" fill="hold"/>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3" grpId="0" build="allAtOnce" animBg="1"/>
      <p:bldP spid="14" grpId="0" build="allAtOnce" animBg="1"/>
      <p:bldP spid="15" grpId="0" build="allAtOnce" animBg="1"/>
      <p:bldP spid="16" grpId="0" build="allAtOnce" animBg="1"/>
      <p:bldP spid="18" grpId="0" build="allAtOnce" animBg="1"/>
      <p:bldP spid="19" grpId="0" build="allAtOnce" animBg="1"/>
      <p:bldP spid="20" grpId="0" build="allAtOnce" animBg="1"/>
      <p:bldP spid="21" grpId="0" build="allAtOnce" animBg="1"/>
      <p:bldP spid="23" grpId="0" build="allAtOnce" animBg="1"/>
      <p:bldP spid="24" grpId="0" build="allAtOnce" animBg="1"/>
      <p:bldP spid="25" grpId="0" build="allAtOnce" animBg="1"/>
      <p:bldP spid="26" grpId="0" build="allAtOnce"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OPERATIONS</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Sales must prove value to both payers</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Renewal depends on a useful service and honest reporting</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15</a:t>
            </a:r>
          </a:p>
        </p:txBody>
      </p:sp>
      <p:sp>
        <p:nvSpPr>
          <p:cNvPr id="8" name="Panel 7"/>
          <p:cNvSpPr/>
          <p:nvPr/>
        </p:nvSpPr>
        <p:spPr>
          <a:xfrm>
            <a:off x="640080" y="2468880"/>
            <a:ext cx="10927080" cy="14173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886968" y="2743200"/>
            <a:ext cx="3017520" cy="731520"/>
          </a:xfrm>
          <a:prstGeom prst="rect">
            <a:avLst/>
          </a:prstGeom>
          <a:noFill/>
        </p:spPr>
        <p:txBody>
          <a:bodyPr wrap="square" lIns="13716" rIns="13716" tIns="13716" bIns="13716" anchor="t">
            <a:spAutoFit/>
          </a:bodyPr>
          <a:lstStyle/>
          <a:p>
            <a:pPr algn="l">
              <a:lnSpc>
                <a:spcPct val="108000"/>
              </a:lnSpc>
              <a:spcAft>
                <a:spcPts val="300"/>
              </a:spcAft>
              <a:defRPr sz="2400" b="1">
                <a:solidFill>
                  <a:srgbClr val="79DCAF"/>
                </a:solidFill>
                <a:latin typeface="Arial"/>
              </a:defRPr>
            </a:pPr>
            <a:r>
              <a:t>Plus subscribers</a:t>
            </a:r>
          </a:p>
        </p:txBody>
      </p:sp>
      <p:sp>
        <p:nvSpPr>
          <p:cNvPr id="10" name="Text 9"/>
          <p:cNvSpPr txBox="1"/>
          <p:nvPr/>
        </p:nvSpPr>
        <p:spPr>
          <a:xfrm>
            <a:off x="4069080" y="2743200"/>
            <a:ext cx="3291840" cy="731520"/>
          </a:xfrm>
          <a:prstGeom prst="rect">
            <a:avLst/>
          </a:prstGeom>
          <a:noFill/>
        </p:spPr>
        <p:txBody>
          <a:bodyPr wrap="square" lIns="13716" rIns="13716" tIns="13716" bIns="13716" anchor="t">
            <a:spAutoFit/>
          </a:bodyPr>
          <a:lstStyle/>
          <a:p>
            <a:pPr algn="l">
              <a:lnSpc>
                <a:spcPct val="108000"/>
              </a:lnSpc>
              <a:spcAft>
                <a:spcPts val="300"/>
              </a:spcAft>
              <a:defRPr sz="2100" b="0">
                <a:solidFill>
                  <a:srgbClr val="F2F5EE"/>
                </a:solidFill>
                <a:latin typeface="Arial"/>
              </a:defRPr>
            </a:pPr>
            <a:r>
              <a:t>Understand the paid feature</a:t>
            </a:r>
          </a:p>
        </p:txBody>
      </p:sp>
      <p:sp>
        <p:nvSpPr>
          <p:cNvPr id="11" name="Text 10"/>
          <p:cNvSpPr txBox="1"/>
          <p:nvPr/>
        </p:nvSpPr>
        <p:spPr>
          <a:xfrm>
            <a:off x="7772400" y="2743200"/>
            <a:ext cx="3566160" cy="731520"/>
          </a:xfrm>
          <a:prstGeom prst="rect">
            <a:avLst/>
          </a:prstGeom>
          <a:noFill/>
        </p:spPr>
        <p:txBody>
          <a:bodyPr wrap="square" lIns="13716" rIns="13716" tIns="13716" bIns="13716" anchor="t">
            <a:spAutoFit/>
          </a:bodyPr>
          <a:lstStyle/>
          <a:p>
            <a:pPr algn="l">
              <a:lnSpc>
                <a:spcPct val="108000"/>
              </a:lnSpc>
              <a:spcAft>
                <a:spcPts val="300"/>
              </a:spcAft>
              <a:defRPr sz="2100" b="0">
                <a:solidFill>
                  <a:srgbClr val="F2F5EE"/>
                </a:solidFill>
                <a:latin typeface="Arial"/>
              </a:defRPr>
            </a:pPr>
            <a:r>
              <a:t>Purchase and renewal</a:t>
            </a:r>
          </a:p>
        </p:txBody>
      </p:sp>
      <p:sp>
        <p:nvSpPr>
          <p:cNvPr id="12" name="Panel 11"/>
          <p:cNvSpPr/>
          <p:nvPr/>
        </p:nvSpPr>
        <p:spPr>
          <a:xfrm>
            <a:off x="640080" y="4206240"/>
            <a:ext cx="10927080" cy="14173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886968" y="4480559"/>
            <a:ext cx="3017520" cy="731520"/>
          </a:xfrm>
          <a:prstGeom prst="rect">
            <a:avLst/>
          </a:prstGeom>
          <a:noFill/>
        </p:spPr>
        <p:txBody>
          <a:bodyPr wrap="square" lIns="13716" rIns="13716" tIns="13716" bIns="13716" anchor="t">
            <a:spAutoFit/>
          </a:bodyPr>
          <a:lstStyle/>
          <a:p>
            <a:pPr algn="l">
              <a:lnSpc>
                <a:spcPct val="108000"/>
              </a:lnSpc>
              <a:spcAft>
                <a:spcPts val="300"/>
              </a:spcAft>
              <a:defRPr sz="2400" b="1">
                <a:solidFill>
                  <a:srgbClr val="79DCAF"/>
                </a:solidFill>
                <a:latin typeface="Arial"/>
              </a:defRPr>
            </a:pPr>
            <a:r>
              <a:t>Cafe partners</a:t>
            </a:r>
          </a:p>
        </p:txBody>
      </p:sp>
      <p:sp>
        <p:nvSpPr>
          <p:cNvPr id="14" name="Text 13"/>
          <p:cNvSpPr txBox="1"/>
          <p:nvPr/>
        </p:nvSpPr>
        <p:spPr>
          <a:xfrm>
            <a:off x="4069080" y="4480559"/>
            <a:ext cx="3291840" cy="731520"/>
          </a:xfrm>
          <a:prstGeom prst="rect">
            <a:avLst/>
          </a:prstGeom>
          <a:noFill/>
        </p:spPr>
        <p:txBody>
          <a:bodyPr wrap="square" lIns="13716" rIns="13716" tIns="13716" bIns="13716" anchor="t">
            <a:spAutoFit/>
          </a:bodyPr>
          <a:lstStyle/>
          <a:p>
            <a:pPr algn="l">
              <a:lnSpc>
                <a:spcPct val="108000"/>
              </a:lnSpc>
              <a:spcAft>
                <a:spcPts val="300"/>
              </a:spcAft>
              <a:defRPr sz="2100" b="0">
                <a:solidFill>
                  <a:srgbClr val="F2F5EE"/>
                </a:solidFill>
                <a:latin typeface="Arial"/>
              </a:defRPr>
            </a:pPr>
            <a:r>
              <a:t>Qualify location and capacity</a:t>
            </a:r>
          </a:p>
        </p:txBody>
      </p:sp>
      <p:sp>
        <p:nvSpPr>
          <p:cNvPr id="15" name="Text 14"/>
          <p:cNvSpPr txBox="1"/>
          <p:nvPr/>
        </p:nvSpPr>
        <p:spPr>
          <a:xfrm>
            <a:off x="7772400" y="4480559"/>
            <a:ext cx="3566160" cy="731520"/>
          </a:xfrm>
          <a:prstGeom prst="rect">
            <a:avLst/>
          </a:prstGeom>
          <a:noFill/>
        </p:spPr>
        <p:txBody>
          <a:bodyPr wrap="square" lIns="13716" rIns="13716" tIns="13716" bIns="13716" anchor="t">
            <a:spAutoFit/>
          </a:bodyPr>
          <a:lstStyle/>
          <a:p>
            <a:pPr algn="l">
              <a:lnSpc>
                <a:spcPct val="108000"/>
              </a:lnSpc>
              <a:spcAft>
                <a:spcPts val="300"/>
              </a:spcAft>
              <a:defRPr sz="2100" b="0">
                <a:solidFill>
                  <a:srgbClr val="F2F5EE"/>
                </a:solidFill>
                <a:latin typeface="Arial"/>
              </a:defRPr>
            </a:pPr>
            <a:r>
              <a:t>Deliver and review results</a:t>
            </a:r>
          </a:p>
        </p:txBody>
      </p:sp>
      <p:sp>
        <p:nvSpPr>
          <p:cNvPr id="16" name="Text 15"/>
          <p:cNvSpPr txBox="1"/>
          <p:nvPr/>
        </p:nvSpPr>
        <p:spPr>
          <a:xfrm>
            <a:off x="777240" y="5833872"/>
            <a:ext cx="10424160" cy="2743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EDC76C"/>
                </a:solidFill>
                <a:latin typeface="Arial"/>
              </a:defRPr>
            </a:pPr>
            <a:r>
              <a:t>Confirm payment rules, fees, refunds and settlement before launch</a:t>
            </a:r>
          </a:p>
        </p:txBody>
      </p:sp>
      <p:sp>
        <p:nvSpPr>
          <p:cNvPr id="17"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 · Bovée and Thill 2020</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80" fill="hold"/>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280" fill="hold"/>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80" fill="hold"/>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280" fill="hold"/>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2" grpId="0" build="allAtOnce" animBg="1"/>
      <p:bldP spid="13" grpId="0" build="allAtOnce" animBg="1"/>
      <p:bldP spid="14" grpId="0" build="allAtOnce" animBg="1"/>
      <p:bldP spid="15" grpId="0" build="allAtOnce"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OPERATIONS</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Trust is a release condition</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Protect people, information and the places they walk</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16</a:t>
            </a:r>
          </a:p>
        </p:txBody>
      </p:sp>
      <p:sp>
        <p:nvSpPr>
          <p:cNvPr id="8" name="Panel 7"/>
          <p:cNvSpPr/>
          <p:nvPr/>
        </p:nvSpPr>
        <p:spPr>
          <a:xfrm>
            <a:off x="640080" y="2423160"/>
            <a:ext cx="5513832" cy="1536192"/>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822959" y="2633472"/>
            <a:ext cx="5148072"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Privacy</a:t>
            </a:r>
          </a:p>
        </p:txBody>
      </p:sp>
      <p:sp>
        <p:nvSpPr>
          <p:cNvPr id="10" name="Text 9"/>
          <p:cNvSpPr txBox="1"/>
          <p:nvPr/>
        </p:nvSpPr>
        <p:spPr>
          <a:xfrm>
            <a:off x="822959" y="3191256"/>
            <a:ext cx="5148072" cy="658368"/>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Location by permission</a:t>
            </a:r>
          </a:p>
          <a:p>
            <a:pPr algn="l">
              <a:lnSpc>
                <a:spcPct val="108000"/>
              </a:lnSpc>
              <a:spcAft>
                <a:spcPts val="300"/>
              </a:spcAft>
              <a:defRPr sz="1800" b="0">
                <a:solidFill>
                  <a:srgbClr val="A8B8AC"/>
                </a:solidFill>
                <a:latin typeface="Arial"/>
              </a:defRPr>
            </a:pPr>
            <a:r>
              <a:t>No public personal history</a:t>
            </a:r>
          </a:p>
        </p:txBody>
      </p:sp>
      <p:sp>
        <p:nvSpPr>
          <p:cNvPr id="11" name="Panel 10"/>
          <p:cNvSpPr/>
          <p:nvPr/>
        </p:nvSpPr>
        <p:spPr>
          <a:xfrm>
            <a:off x="6446520" y="2423160"/>
            <a:ext cx="5513832" cy="1536192"/>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6629400" y="2633472"/>
            <a:ext cx="5148072"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Access</a:t>
            </a:r>
          </a:p>
        </p:txBody>
      </p:sp>
      <p:sp>
        <p:nvSpPr>
          <p:cNvPr id="13" name="Text 12"/>
          <p:cNvSpPr txBox="1"/>
          <p:nvPr/>
        </p:nvSpPr>
        <p:spPr>
          <a:xfrm>
            <a:off x="6629400" y="3191256"/>
            <a:ext cx="5148072" cy="658368"/>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Dated checks</a:t>
            </a:r>
          </a:p>
          <a:p>
            <a:pPr algn="l">
              <a:lnSpc>
                <a:spcPct val="108000"/>
              </a:lnSpc>
              <a:spcAft>
                <a:spcPts val="300"/>
              </a:spcAft>
              <a:defRPr sz="1800" b="0">
                <a:solidFill>
                  <a:srgbClr val="A8B8AC"/>
                </a:solidFill>
                <a:latin typeface="Arial"/>
              </a:defRPr>
            </a:pPr>
            <a:r>
              <a:t>Explicit scope and limits</a:t>
            </a:r>
          </a:p>
        </p:txBody>
      </p:sp>
      <p:sp>
        <p:nvSpPr>
          <p:cNvPr id="14" name="Panel 13"/>
          <p:cNvSpPr/>
          <p:nvPr/>
        </p:nvSpPr>
        <p:spPr>
          <a:xfrm>
            <a:off x="640080" y="4160520"/>
            <a:ext cx="5513832" cy="1536192"/>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822959" y="4370832"/>
            <a:ext cx="5148072"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Advertising</a:t>
            </a:r>
          </a:p>
        </p:txBody>
      </p:sp>
      <p:sp>
        <p:nvSpPr>
          <p:cNvPr id="16" name="Text 15"/>
          <p:cNvSpPr txBox="1"/>
          <p:nvPr/>
        </p:nvSpPr>
        <p:spPr>
          <a:xfrm>
            <a:off x="822959" y="4928616"/>
            <a:ext cx="5148072" cy="658367"/>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Marked paid content</a:t>
            </a:r>
          </a:p>
          <a:p>
            <a:pPr algn="l">
              <a:lnSpc>
                <a:spcPct val="108000"/>
              </a:lnSpc>
              <a:spcAft>
                <a:spcPts val="300"/>
              </a:spcAft>
              <a:defRPr sz="1800" b="0">
                <a:solidFill>
                  <a:srgbClr val="A8B8AC"/>
                </a:solidFill>
                <a:latin typeface="Arial"/>
              </a:defRPr>
            </a:pPr>
            <a:r>
              <a:t>Voluntary stops</a:t>
            </a:r>
          </a:p>
        </p:txBody>
      </p:sp>
      <p:sp>
        <p:nvSpPr>
          <p:cNvPr id="17" name="Panel 16"/>
          <p:cNvSpPr/>
          <p:nvPr/>
        </p:nvSpPr>
        <p:spPr>
          <a:xfrm>
            <a:off x="6446520" y="4160520"/>
            <a:ext cx="5513832" cy="1536192"/>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6629400" y="4370832"/>
            <a:ext cx="5148072"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Community</a:t>
            </a:r>
          </a:p>
        </p:txBody>
      </p:sp>
      <p:sp>
        <p:nvSpPr>
          <p:cNvPr id="19" name="Text 18"/>
          <p:cNvSpPr txBox="1"/>
          <p:nvPr/>
        </p:nvSpPr>
        <p:spPr>
          <a:xfrm>
            <a:off x="6629400" y="4928616"/>
            <a:ext cx="5148072" cy="658367"/>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Protect negative reports</a:t>
            </a:r>
          </a:p>
          <a:p>
            <a:pPr algn="l">
              <a:lnSpc>
                <a:spcPct val="108000"/>
              </a:lnSpc>
              <a:spcAft>
                <a:spcPts val="300"/>
              </a:spcAft>
              <a:defRPr sz="1800" b="0">
                <a:solidFill>
                  <a:srgbClr val="A8B8AC"/>
                </a:solidFill>
                <a:latin typeface="Arial"/>
              </a:defRPr>
            </a:pPr>
            <a:r>
              <a:t>Respect quiet places</a:t>
            </a:r>
          </a:p>
        </p:txBody>
      </p:sp>
      <p:sp>
        <p:nvSpPr>
          <p:cNvPr id="20"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 · Ferrell et al 2019 · Wetherly and Otter 2018</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80" fill="hold"/>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80" fill="hold"/>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80" fill="hold"/>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280" fill="hold"/>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280" fill="hold"/>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280" fill="hold"/>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280" fill="hold"/>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280" fill="hold"/>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2" grpId="0" build="allAtOnce" animBg="1"/>
      <p:bldP spid="13" grpId="0" build="allAtOnce" animBg="1"/>
      <p:bldP spid="14" grpId="0" build="allAtOnce" animBg="1"/>
      <p:bldP spid="15" grpId="0" build="allAtOnce" animBg="1"/>
      <p:bldP spid="16" grpId="0" build="allAtOnce" animBg="1"/>
      <p:bldP spid="17" grpId="0" build="allAtOnce" animBg="1"/>
      <p:bldP spid="18" grpId="0" build="allAtOnce" animBg="1"/>
      <p:bldP spid="19" grpId="0" build="allAtOnce"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OPERATIONS</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Invite challenge, then assign one accountable owner</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Participative leadership needs clear decision rights</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17</a:t>
            </a:r>
          </a:p>
        </p:txBody>
      </p:sp>
      <p:sp>
        <p:nvSpPr>
          <p:cNvPr id="8" name="Panel 7"/>
          <p:cNvSpPr/>
          <p:nvPr/>
        </p:nvSpPr>
        <p:spPr>
          <a:xfrm>
            <a:off x="548640" y="2514600"/>
            <a:ext cx="3566160" cy="23317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731520" y="2679192"/>
            <a:ext cx="320040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01</a:t>
            </a:r>
          </a:p>
        </p:txBody>
      </p:sp>
      <p:sp>
        <p:nvSpPr>
          <p:cNvPr id="10" name="Text 9"/>
          <p:cNvSpPr txBox="1"/>
          <p:nvPr/>
        </p:nvSpPr>
        <p:spPr>
          <a:xfrm>
            <a:off x="731520" y="3319272"/>
            <a:ext cx="32004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Challenge</a:t>
            </a:r>
          </a:p>
        </p:txBody>
      </p:sp>
      <p:sp>
        <p:nvSpPr>
          <p:cNvPr id="11" name="Text 10"/>
          <p:cNvSpPr txBox="1"/>
          <p:nvPr/>
        </p:nvSpPr>
        <p:spPr>
          <a:xfrm>
            <a:off x="731520" y="3877056"/>
            <a:ext cx="3200400" cy="85953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Invite evidence and dissent</a:t>
            </a:r>
          </a:p>
        </p:txBody>
      </p:sp>
      <p:sp>
        <p:nvSpPr>
          <p:cNvPr id="12" name="Text 11"/>
          <p:cNvSpPr txBox="1"/>
          <p:nvPr/>
        </p:nvSpPr>
        <p:spPr>
          <a:xfrm>
            <a:off x="4137660" y="3570732"/>
            <a:ext cx="164592" cy="274320"/>
          </a:xfrm>
          <a:prstGeom prst="rect">
            <a:avLst/>
          </a:prstGeom>
          <a:noFill/>
        </p:spPr>
        <p:txBody>
          <a:bodyPr wrap="square" lIns="13716" rIns="13716" tIns="13716" bIns="13716" anchor="t">
            <a:spAutoFit/>
          </a:bodyPr>
          <a:lstStyle/>
          <a:p>
            <a:pPr algn="l">
              <a:lnSpc>
                <a:spcPct val="108000"/>
              </a:lnSpc>
              <a:spcAft>
                <a:spcPts val="300"/>
              </a:spcAft>
              <a:defRPr sz="2200" b="1">
                <a:solidFill>
                  <a:srgbClr val="79DCAF"/>
                </a:solidFill>
                <a:latin typeface="Arial"/>
              </a:defRPr>
            </a:pPr>
            <a:r>
              <a:t>›</a:t>
            </a:r>
          </a:p>
        </p:txBody>
      </p:sp>
      <p:sp>
        <p:nvSpPr>
          <p:cNvPr id="13" name="Panel 12"/>
          <p:cNvSpPr/>
          <p:nvPr/>
        </p:nvSpPr>
        <p:spPr>
          <a:xfrm>
            <a:off x="4297679" y="2514600"/>
            <a:ext cx="3566160" cy="23317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4480559" y="2679192"/>
            <a:ext cx="320040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02</a:t>
            </a:r>
          </a:p>
        </p:txBody>
      </p:sp>
      <p:sp>
        <p:nvSpPr>
          <p:cNvPr id="15" name="Text 14"/>
          <p:cNvSpPr txBox="1"/>
          <p:nvPr/>
        </p:nvSpPr>
        <p:spPr>
          <a:xfrm>
            <a:off x="4480559" y="3319272"/>
            <a:ext cx="32004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Assign</a:t>
            </a:r>
          </a:p>
        </p:txBody>
      </p:sp>
      <p:sp>
        <p:nvSpPr>
          <p:cNvPr id="16" name="Text 15"/>
          <p:cNvSpPr txBox="1"/>
          <p:nvPr/>
        </p:nvSpPr>
        <p:spPr>
          <a:xfrm>
            <a:off x="4480559" y="3877056"/>
            <a:ext cx="3200400" cy="85953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One accountable owner</a:t>
            </a:r>
          </a:p>
        </p:txBody>
      </p:sp>
      <p:sp>
        <p:nvSpPr>
          <p:cNvPr id="17" name="Text 16"/>
          <p:cNvSpPr txBox="1"/>
          <p:nvPr/>
        </p:nvSpPr>
        <p:spPr>
          <a:xfrm>
            <a:off x="7886700" y="3570732"/>
            <a:ext cx="164592" cy="274320"/>
          </a:xfrm>
          <a:prstGeom prst="rect">
            <a:avLst/>
          </a:prstGeom>
          <a:noFill/>
        </p:spPr>
        <p:txBody>
          <a:bodyPr wrap="square" lIns="13716" rIns="13716" tIns="13716" bIns="13716" anchor="t">
            <a:spAutoFit/>
          </a:bodyPr>
          <a:lstStyle/>
          <a:p>
            <a:pPr algn="l">
              <a:lnSpc>
                <a:spcPct val="108000"/>
              </a:lnSpc>
              <a:spcAft>
                <a:spcPts val="300"/>
              </a:spcAft>
              <a:defRPr sz="2200" b="1">
                <a:solidFill>
                  <a:srgbClr val="79DCAF"/>
                </a:solidFill>
                <a:latin typeface="Arial"/>
              </a:defRPr>
            </a:pPr>
            <a:r>
              <a:t>›</a:t>
            </a:r>
          </a:p>
        </p:txBody>
      </p:sp>
      <p:sp>
        <p:nvSpPr>
          <p:cNvPr id="18" name="Panel 17"/>
          <p:cNvSpPr/>
          <p:nvPr/>
        </p:nvSpPr>
        <p:spPr>
          <a:xfrm>
            <a:off x="8046719" y="2514600"/>
            <a:ext cx="3566160" cy="23317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8229599" y="2679192"/>
            <a:ext cx="320040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03</a:t>
            </a:r>
          </a:p>
        </p:txBody>
      </p:sp>
      <p:sp>
        <p:nvSpPr>
          <p:cNvPr id="20" name="Text 19"/>
          <p:cNvSpPr txBox="1"/>
          <p:nvPr/>
        </p:nvSpPr>
        <p:spPr>
          <a:xfrm>
            <a:off x="8229599" y="3319272"/>
            <a:ext cx="32004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Review</a:t>
            </a:r>
          </a:p>
        </p:txBody>
      </p:sp>
      <p:sp>
        <p:nvSpPr>
          <p:cNvPr id="21" name="Text 20"/>
          <p:cNvSpPr txBox="1"/>
          <p:nvPr/>
        </p:nvSpPr>
        <p:spPr>
          <a:xfrm>
            <a:off x="8229599" y="3877056"/>
            <a:ext cx="3200400" cy="85953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Record decisions and results</a:t>
            </a:r>
          </a:p>
        </p:txBody>
      </p:sp>
      <p:sp>
        <p:nvSpPr>
          <p:cNvPr id="22" name="Text 21"/>
          <p:cNvSpPr txBox="1"/>
          <p:nvPr/>
        </p:nvSpPr>
        <p:spPr>
          <a:xfrm>
            <a:off x="822960" y="5349240"/>
            <a:ext cx="10515600" cy="502920"/>
          </a:xfrm>
          <a:prstGeom prst="rect">
            <a:avLst/>
          </a:prstGeom>
          <a:noFill/>
        </p:spPr>
        <p:txBody>
          <a:bodyPr wrap="square" lIns="13716" rIns="13716" tIns="13716" bIns="13716" anchor="t">
            <a:spAutoFit/>
          </a:bodyPr>
          <a:lstStyle/>
          <a:p>
            <a:pPr algn="ctr">
              <a:lnSpc>
                <a:spcPct val="108000"/>
              </a:lnSpc>
              <a:spcAft>
                <a:spcPts val="300"/>
              </a:spcAft>
              <a:defRPr sz="2700" b="1">
                <a:solidFill>
                  <a:srgbClr val="EDC76C"/>
                </a:solidFill>
                <a:latin typeface="Arial"/>
              </a:defRPr>
            </a:pPr>
            <a:r>
              <a:t>Technical safety and data rights can stop a release</a:t>
            </a:r>
          </a:p>
        </p:txBody>
      </p:sp>
      <p:sp>
        <p:nvSpPr>
          <p:cNvPr id="23"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Griffin 2020 · Soya planning model</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280" fill="hold"/>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280" fill="hold"/>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280" fill="hold"/>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280" fill="hold"/>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280" fill="hold"/>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280" fill="hold"/>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280" fill="hold"/>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280" fill="hold"/>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3" grpId="0" build="allAtOnce" animBg="1"/>
      <p:bldP spid="14" grpId="0" build="allAtOnce" animBg="1"/>
      <p:bldP spid="15" grpId="0" build="allAtOnce" animBg="1"/>
      <p:bldP spid="16" grpId="0" build="allAtOnce" animBg="1"/>
      <p:bldP spid="18" grpId="0" build="allAtOnce" animBg="1"/>
      <p:bldP spid="19" grpId="0" build="allAtOnce" animBg="1"/>
      <p:bldP spid="20" grpId="0" build="allAtOnce" animBg="1"/>
      <p:bldP spid="21" grpId="0" build="allAtOnce"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OPERATIONS</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A small team needs a clear cost boundary</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Separate people costs from infrastructure</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18</a:t>
            </a:r>
          </a:p>
        </p:txBody>
      </p:sp>
      <p:sp>
        <p:nvSpPr>
          <p:cNvPr id="8" name="Panel 7"/>
          <p:cNvSpPr/>
          <p:nvPr/>
        </p:nvSpPr>
        <p:spPr>
          <a:xfrm>
            <a:off x="594360" y="2560320"/>
            <a:ext cx="2148840" cy="23317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777240" y="2724912"/>
            <a:ext cx="178308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10 m</a:t>
            </a:r>
          </a:p>
        </p:txBody>
      </p:sp>
      <p:sp>
        <p:nvSpPr>
          <p:cNvPr id="10" name="Text 9"/>
          <p:cNvSpPr txBox="1"/>
          <p:nvPr/>
        </p:nvSpPr>
        <p:spPr>
          <a:xfrm>
            <a:off x="777240" y="3364991"/>
            <a:ext cx="178308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Technology</a:t>
            </a:r>
          </a:p>
        </p:txBody>
      </p:sp>
      <p:sp>
        <p:nvSpPr>
          <p:cNvPr id="11" name="Panel 10"/>
          <p:cNvSpPr/>
          <p:nvPr/>
        </p:nvSpPr>
        <p:spPr>
          <a:xfrm>
            <a:off x="2926079" y="2560320"/>
            <a:ext cx="2148840" cy="23317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3108960" y="2724912"/>
            <a:ext cx="178308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6 m</a:t>
            </a:r>
          </a:p>
        </p:txBody>
      </p:sp>
      <p:sp>
        <p:nvSpPr>
          <p:cNvPr id="13" name="Text 12"/>
          <p:cNvSpPr txBox="1"/>
          <p:nvPr/>
        </p:nvSpPr>
        <p:spPr>
          <a:xfrm>
            <a:off x="3108960" y="3364991"/>
            <a:ext cx="178308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Frontend and QA</a:t>
            </a:r>
          </a:p>
        </p:txBody>
      </p:sp>
      <p:sp>
        <p:nvSpPr>
          <p:cNvPr id="14" name="Panel 13"/>
          <p:cNvSpPr/>
          <p:nvPr/>
        </p:nvSpPr>
        <p:spPr>
          <a:xfrm>
            <a:off x="5257800" y="2560320"/>
            <a:ext cx="2148840" cy="23317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5440680" y="2724912"/>
            <a:ext cx="178308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3 m</a:t>
            </a:r>
          </a:p>
        </p:txBody>
      </p:sp>
      <p:sp>
        <p:nvSpPr>
          <p:cNvPr id="16" name="Text 15"/>
          <p:cNvSpPr txBox="1"/>
          <p:nvPr/>
        </p:nvSpPr>
        <p:spPr>
          <a:xfrm>
            <a:off x="5440680" y="3364991"/>
            <a:ext cx="178308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Product and sales</a:t>
            </a:r>
          </a:p>
        </p:txBody>
      </p:sp>
      <p:sp>
        <p:nvSpPr>
          <p:cNvPr id="17" name="Panel 16"/>
          <p:cNvSpPr/>
          <p:nvPr/>
        </p:nvSpPr>
        <p:spPr>
          <a:xfrm>
            <a:off x="7589519" y="2560320"/>
            <a:ext cx="2148840" cy="23317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7772399" y="2724912"/>
            <a:ext cx="178308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3 m</a:t>
            </a:r>
          </a:p>
        </p:txBody>
      </p:sp>
      <p:sp>
        <p:nvSpPr>
          <p:cNvPr id="19" name="Text 18"/>
          <p:cNvSpPr txBox="1"/>
          <p:nvPr/>
        </p:nvSpPr>
        <p:spPr>
          <a:xfrm>
            <a:off x="7772399" y="3364991"/>
            <a:ext cx="178308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Moderation</a:t>
            </a:r>
          </a:p>
        </p:txBody>
      </p:sp>
      <p:sp>
        <p:nvSpPr>
          <p:cNvPr id="20" name="Panel 19"/>
          <p:cNvSpPr/>
          <p:nvPr/>
        </p:nvSpPr>
        <p:spPr>
          <a:xfrm>
            <a:off x="9921240" y="2560320"/>
            <a:ext cx="2148840" cy="23317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20"/>
          <p:cNvSpPr txBox="1"/>
          <p:nvPr/>
        </p:nvSpPr>
        <p:spPr>
          <a:xfrm>
            <a:off x="10104119" y="2724912"/>
            <a:ext cx="178308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1 m</a:t>
            </a:r>
          </a:p>
        </p:txBody>
      </p:sp>
      <p:sp>
        <p:nvSpPr>
          <p:cNvPr id="22" name="Text 21"/>
          <p:cNvSpPr txBox="1"/>
          <p:nvPr/>
        </p:nvSpPr>
        <p:spPr>
          <a:xfrm>
            <a:off x="10104119" y="3364991"/>
            <a:ext cx="178308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Administration</a:t>
            </a:r>
          </a:p>
        </p:txBody>
      </p:sp>
      <p:sp>
        <p:nvSpPr>
          <p:cNvPr id="23" name="Panel 22"/>
          <p:cNvSpPr/>
          <p:nvPr/>
        </p:nvSpPr>
        <p:spPr>
          <a:xfrm>
            <a:off x="612648" y="5212080"/>
            <a:ext cx="10972800" cy="594360"/>
          </a:xfrm>
          <a:prstGeom prst="roundRect">
            <a:avLst>
              <a:gd name="adj" fmla="val 9000"/>
            </a:avLst>
          </a:prstGeom>
          <a:solidFill>
            <a:srgbClr val="22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23"/>
          <p:cNvSpPr txBox="1"/>
          <p:nvPr/>
        </p:nvSpPr>
        <p:spPr>
          <a:xfrm>
            <a:off x="822960" y="5358384"/>
            <a:ext cx="10515600" cy="347472"/>
          </a:xfrm>
          <a:prstGeom prst="rect">
            <a:avLst/>
          </a:prstGeom>
          <a:noFill/>
        </p:spPr>
        <p:txBody>
          <a:bodyPr wrap="square" lIns="13716" rIns="13716" tIns="13716" bIns="13716" anchor="t">
            <a:spAutoFit/>
          </a:bodyPr>
          <a:lstStyle/>
          <a:p>
            <a:pPr algn="ctr">
              <a:lnSpc>
                <a:spcPct val="108000"/>
              </a:lnSpc>
              <a:spcAft>
                <a:spcPts val="300"/>
              </a:spcAft>
              <a:defRPr sz="2400" b="1">
                <a:solidFill>
                  <a:srgbClr val="79DCAF"/>
                </a:solidFill>
                <a:latin typeface="Arial"/>
              </a:defRPr>
            </a:pPr>
            <a:r>
              <a:t>Hosting 2 m  ·  Total fixed monthly budget 25 m UZS</a:t>
            </a:r>
          </a:p>
        </p:txBody>
      </p:sp>
      <p:sp>
        <p:nvSpPr>
          <p:cNvPr id="25"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 · Griffin 2020</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80" fill="hold"/>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80" fill="hold"/>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280" fill="hold"/>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280" fill="hold"/>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280" fill="hold"/>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280" fill="hold"/>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280" fill="hold"/>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280" fill="hold"/>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280" fill="hold"/>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280" fill="hold"/>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280" fill="hold"/>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2" grpId="0" build="allAtOnce" animBg="1"/>
      <p:bldP spid="13" grpId="0" build="allAtOnce" animBg="1"/>
      <p:bldP spid="14" grpId="0" build="allAtOnce" animBg="1"/>
      <p:bldP spid="15" grpId="0" build="allAtOnce" animBg="1"/>
      <p:bldP spid="16" grpId="0" build="allAtOnce" animBg="1"/>
      <p:bldP spid="17" grpId="0" build="allAtOnce" animBg="1"/>
      <p:bldP spid="18" grpId="0" build="allAtOnce" animBg="1"/>
      <p:bldP spid="19" grpId="0" build="allAtOnce" animBg="1"/>
      <p:bldP spid="20" grpId="0" build="allAtOnce" animBg="1"/>
      <p:bldP spid="21" grpId="0" build="allAtOnce" animBg="1"/>
      <p:bldP spid="22" grpId="0" build="allAtOnce"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OPERATIONS</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Five functions make one operating system</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Every function needs an output and a measure</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19</a:t>
            </a:r>
          </a:p>
        </p:txBody>
      </p:sp>
      <p:sp>
        <p:nvSpPr>
          <p:cNvPr id="8" name="Panel 7"/>
          <p:cNvSpPr/>
          <p:nvPr/>
        </p:nvSpPr>
        <p:spPr>
          <a:xfrm>
            <a:off x="640080" y="2331720"/>
            <a:ext cx="3657600" cy="157276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822959" y="2542032"/>
            <a:ext cx="32918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Marketing</a:t>
            </a:r>
          </a:p>
        </p:txBody>
      </p:sp>
      <p:sp>
        <p:nvSpPr>
          <p:cNvPr id="10" name="Text 9"/>
          <p:cNvSpPr txBox="1"/>
          <p:nvPr/>
        </p:nvSpPr>
        <p:spPr>
          <a:xfrm>
            <a:off x="822959" y="3099815"/>
            <a:ext cx="3291840" cy="694944"/>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First walks and acquisition cost</a:t>
            </a:r>
          </a:p>
        </p:txBody>
      </p:sp>
      <p:sp>
        <p:nvSpPr>
          <p:cNvPr id="11" name="Panel 10"/>
          <p:cNvSpPr/>
          <p:nvPr/>
        </p:nvSpPr>
        <p:spPr>
          <a:xfrm>
            <a:off x="4498848" y="2331720"/>
            <a:ext cx="3657600" cy="157276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4681728" y="2542032"/>
            <a:ext cx="32918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Sales</a:t>
            </a:r>
          </a:p>
        </p:txBody>
      </p:sp>
      <p:sp>
        <p:nvSpPr>
          <p:cNvPr id="13" name="Text 12"/>
          <p:cNvSpPr txBox="1"/>
          <p:nvPr/>
        </p:nvSpPr>
        <p:spPr>
          <a:xfrm>
            <a:off x="4681728" y="3099815"/>
            <a:ext cx="3291840" cy="694944"/>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Subscriptions and cafe renewals</a:t>
            </a:r>
          </a:p>
        </p:txBody>
      </p:sp>
      <p:sp>
        <p:nvSpPr>
          <p:cNvPr id="14" name="Panel 13"/>
          <p:cNvSpPr/>
          <p:nvPr/>
        </p:nvSpPr>
        <p:spPr>
          <a:xfrm>
            <a:off x="8357615" y="2331720"/>
            <a:ext cx="3657600" cy="157276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8540495" y="2542032"/>
            <a:ext cx="32918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Finance</a:t>
            </a:r>
          </a:p>
        </p:txBody>
      </p:sp>
      <p:sp>
        <p:nvSpPr>
          <p:cNvPr id="16" name="Text 15"/>
          <p:cNvSpPr txBox="1"/>
          <p:nvPr/>
        </p:nvSpPr>
        <p:spPr>
          <a:xfrm>
            <a:off x="8540495" y="3099815"/>
            <a:ext cx="3291840" cy="694944"/>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Cash, reserves and scenarios</a:t>
            </a:r>
          </a:p>
        </p:txBody>
      </p:sp>
      <p:sp>
        <p:nvSpPr>
          <p:cNvPr id="17" name="Panel 16"/>
          <p:cNvSpPr/>
          <p:nvPr/>
        </p:nvSpPr>
        <p:spPr>
          <a:xfrm>
            <a:off x="640080" y="4114800"/>
            <a:ext cx="3657600" cy="157276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822959" y="4325112"/>
            <a:ext cx="32918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Human resources</a:t>
            </a:r>
          </a:p>
        </p:txBody>
      </p:sp>
      <p:sp>
        <p:nvSpPr>
          <p:cNvPr id="19" name="Text 18"/>
          <p:cNvSpPr txBox="1"/>
          <p:nvPr/>
        </p:nvSpPr>
        <p:spPr>
          <a:xfrm>
            <a:off x="822959" y="4882896"/>
            <a:ext cx="3291840" cy="694943"/>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Skills, capacity and backup</a:t>
            </a:r>
          </a:p>
        </p:txBody>
      </p:sp>
      <p:sp>
        <p:nvSpPr>
          <p:cNvPr id="20" name="Panel 19"/>
          <p:cNvSpPr/>
          <p:nvPr/>
        </p:nvSpPr>
        <p:spPr>
          <a:xfrm>
            <a:off x="4498848" y="4114800"/>
            <a:ext cx="3657600" cy="157276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20"/>
          <p:cNvSpPr txBox="1"/>
          <p:nvPr/>
        </p:nvSpPr>
        <p:spPr>
          <a:xfrm>
            <a:off x="4681728" y="4325112"/>
            <a:ext cx="32918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Operations</a:t>
            </a:r>
          </a:p>
        </p:txBody>
      </p:sp>
      <p:sp>
        <p:nvSpPr>
          <p:cNvPr id="22" name="Text 21"/>
          <p:cNvSpPr txBox="1"/>
          <p:nvPr/>
        </p:nvSpPr>
        <p:spPr>
          <a:xfrm>
            <a:off x="4681728" y="4882896"/>
            <a:ext cx="3291840" cy="694943"/>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Licensed data and route quality</a:t>
            </a:r>
          </a:p>
        </p:txBody>
      </p:sp>
      <p:sp>
        <p:nvSpPr>
          <p:cNvPr id="23"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CW2 brief · Bovée and Thill 2020 · Soya planning model</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80" fill="hold"/>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80" fill="hold"/>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280" fill="hold"/>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280" fill="hold"/>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280" fill="hold"/>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280" fill="hold"/>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280" fill="hold"/>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280" fill="hold"/>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280" fill="hold"/>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280" fill="hold"/>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280" fill="hold"/>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2" grpId="0" build="allAtOnce" animBg="1"/>
      <p:bldP spid="13" grpId="0" build="allAtOnce" animBg="1"/>
      <p:bldP spid="14" grpId="0" build="allAtOnce" animBg="1"/>
      <p:bldP spid="15" grpId="0" build="allAtOnce" animBg="1"/>
      <p:bldP spid="16" grpId="0" build="allAtOnce" animBg="1"/>
      <p:bldP spid="17" grpId="0" build="allAtOnce" animBg="1"/>
      <p:bldP spid="18" grpId="0" build="allAtOnce" animBg="1"/>
      <p:bldP spid="19" grpId="0" build="allAtOnce" animBg="1"/>
      <p:bldP spid="20" grpId="0" build="allAtOnce" animBg="1"/>
      <p:bldP spid="21" grpId="0" build="allAtOnce" animBg="1"/>
      <p:bldP spid="22" grpId="0" build="allAtOnce"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FINANCE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Use milestones as decisions, not promises</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Only release quality and evidence justify the next stage</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20</a:t>
            </a:r>
          </a:p>
        </p:txBody>
      </p:sp>
      <p:sp>
        <p:nvSpPr>
          <p:cNvPr id="8" name="Panel 7"/>
          <p:cNvSpPr/>
          <p:nvPr/>
        </p:nvSpPr>
        <p:spPr>
          <a:xfrm>
            <a:off x="548640" y="2514600"/>
            <a:ext cx="2628900" cy="228600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731520" y="2679192"/>
            <a:ext cx="226314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01</a:t>
            </a:r>
          </a:p>
        </p:txBody>
      </p:sp>
      <p:sp>
        <p:nvSpPr>
          <p:cNvPr id="10" name="Text 9"/>
          <p:cNvSpPr txBox="1"/>
          <p:nvPr/>
        </p:nvSpPr>
        <p:spPr>
          <a:xfrm>
            <a:off x="731520" y="3319272"/>
            <a:ext cx="22631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Before launch</a:t>
            </a:r>
          </a:p>
        </p:txBody>
      </p:sp>
      <p:sp>
        <p:nvSpPr>
          <p:cNvPr id="11" name="Text 10"/>
          <p:cNvSpPr txBox="1"/>
          <p:nvPr/>
        </p:nvSpPr>
        <p:spPr>
          <a:xfrm>
            <a:off x="731520" y="3877056"/>
            <a:ext cx="2263140" cy="81381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Audit data and 30 starter loops</a:t>
            </a:r>
          </a:p>
        </p:txBody>
      </p:sp>
      <p:sp>
        <p:nvSpPr>
          <p:cNvPr id="12" name="Text 11"/>
          <p:cNvSpPr txBox="1"/>
          <p:nvPr/>
        </p:nvSpPr>
        <p:spPr>
          <a:xfrm>
            <a:off x="3200400" y="3547872"/>
            <a:ext cx="164592" cy="274320"/>
          </a:xfrm>
          <a:prstGeom prst="rect">
            <a:avLst/>
          </a:prstGeom>
          <a:noFill/>
        </p:spPr>
        <p:txBody>
          <a:bodyPr wrap="square" lIns="13716" rIns="13716" tIns="13716" bIns="13716" anchor="t">
            <a:spAutoFit/>
          </a:bodyPr>
          <a:lstStyle/>
          <a:p>
            <a:pPr algn="l">
              <a:lnSpc>
                <a:spcPct val="108000"/>
              </a:lnSpc>
              <a:spcAft>
                <a:spcPts val="300"/>
              </a:spcAft>
              <a:defRPr sz="2200" b="1">
                <a:solidFill>
                  <a:srgbClr val="79DCAF"/>
                </a:solidFill>
                <a:latin typeface="Arial"/>
              </a:defRPr>
            </a:pPr>
            <a:r>
              <a:t>›</a:t>
            </a:r>
          </a:p>
        </p:txBody>
      </p:sp>
      <p:sp>
        <p:nvSpPr>
          <p:cNvPr id="13" name="Panel 12"/>
          <p:cNvSpPr/>
          <p:nvPr/>
        </p:nvSpPr>
        <p:spPr>
          <a:xfrm>
            <a:off x="3360420" y="2514600"/>
            <a:ext cx="2628900" cy="228600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3543300" y="2679192"/>
            <a:ext cx="226314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02</a:t>
            </a:r>
          </a:p>
        </p:txBody>
      </p:sp>
      <p:sp>
        <p:nvSpPr>
          <p:cNvPr id="15" name="Text 14"/>
          <p:cNvSpPr txBox="1"/>
          <p:nvPr/>
        </p:nvSpPr>
        <p:spPr>
          <a:xfrm>
            <a:off x="3543300" y="3319272"/>
            <a:ext cx="22631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Month 3</a:t>
            </a:r>
          </a:p>
        </p:txBody>
      </p:sp>
      <p:sp>
        <p:nvSpPr>
          <p:cNvPr id="16" name="Text 15"/>
          <p:cNvSpPr txBox="1"/>
          <p:nvPr/>
        </p:nvSpPr>
        <p:spPr>
          <a:xfrm>
            <a:off x="3543300" y="3877056"/>
            <a:ext cx="2263140" cy="81381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1 500 active users</a:t>
            </a:r>
          </a:p>
        </p:txBody>
      </p:sp>
      <p:sp>
        <p:nvSpPr>
          <p:cNvPr id="17" name="Text 16"/>
          <p:cNvSpPr txBox="1"/>
          <p:nvPr/>
        </p:nvSpPr>
        <p:spPr>
          <a:xfrm>
            <a:off x="6012180" y="3547872"/>
            <a:ext cx="164592" cy="274320"/>
          </a:xfrm>
          <a:prstGeom prst="rect">
            <a:avLst/>
          </a:prstGeom>
          <a:noFill/>
        </p:spPr>
        <p:txBody>
          <a:bodyPr wrap="square" lIns="13716" rIns="13716" tIns="13716" bIns="13716" anchor="t">
            <a:spAutoFit/>
          </a:bodyPr>
          <a:lstStyle/>
          <a:p>
            <a:pPr algn="l">
              <a:lnSpc>
                <a:spcPct val="108000"/>
              </a:lnSpc>
              <a:spcAft>
                <a:spcPts val="300"/>
              </a:spcAft>
              <a:defRPr sz="2200" b="1">
                <a:solidFill>
                  <a:srgbClr val="79DCAF"/>
                </a:solidFill>
                <a:latin typeface="Arial"/>
              </a:defRPr>
            </a:pPr>
            <a:r>
              <a:t>›</a:t>
            </a:r>
          </a:p>
        </p:txBody>
      </p:sp>
      <p:sp>
        <p:nvSpPr>
          <p:cNvPr id="18" name="Panel 17"/>
          <p:cNvSpPr/>
          <p:nvPr/>
        </p:nvSpPr>
        <p:spPr>
          <a:xfrm>
            <a:off x="6172200" y="2514600"/>
            <a:ext cx="2628900" cy="228600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355080" y="2679192"/>
            <a:ext cx="226314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03</a:t>
            </a:r>
          </a:p>
        </p:txBody>
      </p:sp>
      <p:sp>
        <p:nvSpPr>
          <p:cNvPr id="20" name="Text 19"/>
          <p:cNvSpPr txBox="1"/>
          <p:nvPr/>
        </p:nvSpPr>
        <p:spPr>
          <a:xfrm>
            <a:off x="6355080" y="3319272"/>
            <a:ext cx="22631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Month 12</a:t>
            </a:r>
          </a:p>
        </p:txBody>
      </p:sp>
      <p:sp>
        <p:nvSpPr>
          <p:cNvPr id="21" name="Text 20"/>
          <p:cNvSpPr txBox="1"/>
          <p:nvPr/>
        </p:nvSpPr>
        <p:spPr>
          <a:xfrm>
            <a:off x="6355080" y="3877056"/>
            <a:ext cx="2263140" cy="81381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25 000 users and 1 250 Plus</a:t>
            </a:r>
          </a:p>
        </p:txBody>
      </p:sp>
      <p:sp>
        <p:nvSpPr>
          <p:cNvPr id="22" name="Text 21"/>
          <p:cNvSpPr txBox="1"/>
          <p:nvPr/>
        </p:nvSpPr>
        <p:spPr>
          <a:xfrm>
            <a:off x="8823960" y="3547872"/>
            <a:ext cx="164592" cy="274320"/>
          </a:xfrm>
          <a:prstGeom prst="rect">
            <a:avLst/>
          </a:prstGeom>
          <a:noFill/>
        </p:spPr>
        <p:txBody>
          <a:bodyPr wrap="square" lIns="13716" rIns="13716" tIns="13716" bIns="13716" anchor="t">
            <a:spAutoFit/>
          </a:bodyPr>
          <a:lstStyle/>
          <a:p>
            <a:pPr algn="l">
              <a:lnSpc>
                <a:spcPct val="108000"/>
              </a:lnSpc>
              <a:spcAft>
                <a:spcPts val="300"/>
              </a:spcAft>
              <a:defRPr sz="2200" b="1">
                <a:solidFill>
                  <a:srgbClr val="79DCAF"/>
                </a:solidFill>
                <a:latin typeface="Arial"/>
              </a:defRPr>
            </a:pPr>
            <a:r>
              <a:t>›</a:t>
            </a:r>
          </a:p>
        </p:txBody>
      </p:sp>
      <p:sp>
        <p:nvSpPr>
          <p:cNvPr id="23" name="Panel 22"/>
          <p:cNvSpPr/>
          <p:nvPr/>
        </p:nvSpPr>
        <p:spPr>
          <a:xfrm>
            <a:off x="8983980" y="2514600"/>
            <a:ext cx="2628900" cy="228600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23"/>
          <p:cNvSpPr txBox="1"/>
          <p:nvPr/>
        </p:nvSpPr>
        <p:spPr>
          <a:xfrm>
            <a:off x="9166860" y="2679192"/>
            <a:ext cx="226314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04</a:t>
            </a:r>
          </a:p>
        </p:txBody>
      </p:sp>
      <p:sp>
        <p:nvSpPr>
          <p:cNvPr id="25" name="Text 24"/>
          <p:cNvSpPr txBox="1"/>
          <p:nvPr/>
        </p:nvSpPr>
        <p:spPr>
          <a:xfrm>
            <a:off x="9166860" y="3319272"/>
            <a:ext cx="226314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Decision</a:t>
            </a:r>
          </a:p>
        </p:txBody>
      </p:sp>
      <p:sp>
        <p:nvSpPr>
          <p:cNvPr id="26" name="Text 25"/>
          <p:cNvSpPr txBox="1"/>
          <p:nvPr/>
        </p:nvSpPr>
        <p:spPr>
          <a:xfrm>
            <a:off x="9166860" y="3877056"/>
            <a:ext cx="2263140" cy="81381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Scale only if gates pass</a:t>
            </a:r>
          </a:p>
        </p:txBody>
      </p:sp>
      <p:sp>
        <p:nvSpPr>
          <p:cNvPr id="27" name="Text 26"/>
          <p:cNvSpPr txBox="1"/>
          <p:nvPr/>
        </p:nvSpPr>
        <p:spPr>
          <a:xfrm>
            <a:off x="731520" y="5376672"/>
            <a:ext cx="10789920" cy="576072"/>
          </a:xfrm>
          <a:prstGeom prst="rect">
            <a:avLst/>
          </a:prstGeom>
          <a:noFill/>
        </p:spPr>
        <p:txBody>
          <a:bodyPr wrap="square" lIns="13716" rIns="13716" tIns="13716" bIns="13716" anchor="t">
            <a:spAutoFit/>
          </a:bodyPr>
          <a:lstStyle/>
          <a:p>
            <a:pPr algn="l">
              <a:lnSpc>
                <a:spcPct val="108000"/>
              </a:lnSpc>
              <a:spcAft>
                <a:spcPts val="300"/>
              </a:spcAft>
              <a:defRPr sz="2800" b="1">
                <a:solidFill>
                  <a:srgbClr val="EDC76C"/>
                </a:solidFill>
                <a:latin typeface="Arial"/>
              </a:defRPr>
            </a:pPr>
            <a:r>
              <a:t>Quality, demand and cash determine the next stage</a:t>
            </a:r>
          </a:p>
        </p:txBody>
      </p:sp>
      <p:sp>
        <p:nvSpPr>
          <p:cNvPr id="28"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 · Bovée and Thill 2020 · Griffin 2020</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280" fill="hold"/>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280" fill="hold"/>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280" fill="hold"/>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280" fill="hold"/>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280" fill="hold"/>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280" fill="hold"/>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280" fill="hold"/>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280" fill="hold"/>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280" fill="hold"/>
                                        <p:tgtEl>
                                          <p:spTgt spid="2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280" fill="hold"/>
                                        <p:tgtEl>
                                          <p:spTgt spid="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280" fill="hold"/>
                                        <p:tgtEl>
                                          <p:spTgt spid="2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280" fill="hold"/>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3" grpId="0" build="allAtOnce" animBg="1"/>
      <p:bldP spid="14" grpId="0" build="allAtOnce" animBg="1"/>
      <p:bldP spid="15" grpId="0" build="allAtOnce" animBg="1"/>
      <p:bldP spid="16" grpId="0" build="allAtOnce" animBg="1"/>
      <p:bldP spid="18" grpId="0" build="allAtOnce" animBg="1"/>
      <p:bldP spid="19" grpId="0" build="allAtOnce" animBg="1"/>
      <p:bldP spid="20" grpId="0" build="allAtOnce" animBg="1"/>
      <p:bldP spid="21" grpId="0" build="allAtOnce" animBg="1"/>
      <p:bldP spid="23" grpId="0" build="allAtOnce" animBg="1"/>
      <p:bldP spid="24" grpId="0" build="allAtOnce" animBg="1"/>
      <p:bldP spid="25" grpId="0" build="allAtOnce" animBg="1"/>
      <p:bldP spid="26" grpId="0" build="allAtOnce"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FINANCE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Free users have a cost the model must cover</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Contribution is different from company profit</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21</a:t>
            </a:r>
          </a:p>
        </p:txBody>
      </p:sp>
      <p:sp>
        <p:nvSpPr>
          <p:cNvPr id="8" name="Panel 7"/>
          <p:cNvSpPr/>
          <p:nvPr/>
        </p:nvSpPr>
        <p:spPr>
          <a:xfrm>
            <a:off x="594360" y="2286000"/>
            <a:ext cx="3566160" cy="201168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777240" y="2450592"/>
            <a:ext cx="320040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120 m</a:t>
            </a:r>
          </a:p>
        </p:txBody>
      </p:sp>
      <p:sp>
        <p:nvSpPr>
          <p:cNvPr id="10" name="Text 9"/>
          <p:cNvSpPr txBox="1"/>
          <p:nvPr/>
        </p:nvSpPr>
        <p:spPr>
          <a:xfrm>
            <a:off x="777240" y="3090672"/>
            <a:ext cx="32004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Initial build</a:t>
            </a:r>
          </a:p>
        </p:txBody>
      </p:sp>
      <p:sp>
        <p:nvSpPr>
          <p:cNvPr id="11" name="Text 10"/>
          <p:cNvSpPr txBox="1"/>
          <p:nvPr/>
        </p:nvSpPr>
        <p:spPr>
          <a:xfrm>
            <a:off x="777240" y="3648456"/>
            <a:ext cx="3200400" cy="53949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Proposed preparation budget</a:t>
            </a:r>
          </a:p>
        </p:txBody>
      </p:sp>
      <p:sp>
        <p:nvSpPr>
          <p:cNvPr id="12" name="Panel 11"/>
          <p:cNvSpPr/>
          <p:nvPr/>
        </p:nvSpPr>
        <p:spPr>
          <a:xfrm>
            <a:off x="594360" y="4526280"/>
            <a:ext cx="3566160" cy="134416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777240" y="4736592"/>
            <a:ext cx="32004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Annual operating expenses</a:t>
            </a:r>
          </a:p>
        </p:txBody>
      </p:sp>
      <p:sp>
        <p:nvSpPr>
          <p:cNvPr id="14" name="Text 13"/>
          <p:cNvSpPr txBox="1"/>
          <p:nvPr/>
        </p:nvSpPr>
        <p:spPr>
          <a:xfrm>
            <a:off x="777240" y="5294376"/>
            <a:ext cx="3200400" cy="466343"/>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348.50 million UZS</a:t>
            </a:r>
          </a:p>
        </p:txBody>
      </p:sp>
      <p:sp>
        <p:nvSpPr>
          <p:cNvPr id="15" name="Text 14"/>
          <p:cNvSpPr txBox="1"/>
          <p:nvPr/>
        </p:nvSpPr>
        <p:spPr>
          <a:xfrm>
            <a:off x="4526280" y="2359152"/>
            <a:ext cx="6949440" cy="384048"/>
          </a:xfrm>
          <a:prstGeom prst="rect">
            <a:avLst/>
          </a:prstGeom>
          <a:noFill/>
        </p:spPr>
        <p:txBody>
          <a:bodyPr wrap="square" lIns="13716" rIns="13716" tIns="13716" bIns="13716" anchor="t">
            <a:spAutoFit/>
          </a:bodyPr>
          <a:lstStyle/>
          <a:p>
            <a:pPr algn="l">
              <a:lnSpc>
                <a:spcPct val="108000"/>
              </a:lnSpc>
              <a:spcAft>
                <a:spcPts val="300"/>
              </a:spcAft>
              <a:defRPr sz="1600" b="1">
                <a:solidFill>
                  <a:srgbClr val="79DCAF"/>
                </a:solidFill>
                <a:latin typeface="Arial"/>
              </a:defRPr>
            </a:pPr>
            <a:r>
              <a:t>MONTHLY CONTRIBUTION PER USER</a:t>
            </a:r>
          </a:p>
        </p:txBody>
      </p:sp>
      <p:sp>
        <p:nvSpPr>
          <p:cNvPr id="16" name="Panel 15"/>
          <p:cNvSpPr/>
          <p:nvPr/>
        </p:nvSpPr>
        <p:spPr>
          <a:xfrm>
            <a:off x="4526280" y="3017520"/>
            <a:ext cx="3337560" cy="257860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4709160" y="3182112"/>
            <a:ext cx="297180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EC957F"/>
                </a:solidFill>
                <a:latin typeface="Arial"/>
              </a:defRPr>
            </a:pPr>
            <a:r>
              <a:t>352 UZS loss</a:t>
            </a:r>
          </a:p>
        </p:txBody>
      </p:sp>
      <p:sp>
        <p:nvSpPr>
          <p:cNvPr id="18" name="Text 17"/>
          <p:cNvSpPr txBox="1"/>
          <p:nvPr/>
        </p:nvSpPr>
        <p:spPr>
          <a:xfrm>
            <a:off x="4709160" y="3822191"/>
            <a:ext cx="29718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Free user</a:t>
            </a:r>
          </a:p>
        </p:txBody>
      </p:sp>
      <p:sp>
        <p:nvSpPr>
          <p:cNvPr id="19" name="Text 18"/>
          <p:cNvSpPr txBox="1"/>
          <p:nvPr/>
        </p:nvSpPr>
        <p:spPr>
          <a:xfrm>
            <a:off x="4709160" y="4379976"/>
            <a:ext cx="2971800" cy="1106424"/>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Ads do not cover delivery cost</a:t>
            </a:r>
          </a:p>
        </p:txBody>
      </p:sp>
      <p:sp>
        <p:nvSpPr>
          <p:cNvPr id="20" name="Panel 19"/>
          <p:cNvSpPr/>
          <p:nvPr/>
        </p:nvSpPr>
        <p:spPr>
          <a:xfrm>
            <a:off x="8092440" y="3017520"/>
            <a:ext cx="3474720" cy="2578608"/>
          </a:xfrm>
          <a:prstGeom prst="roundRect">
            <a:avLst>
              <a:gd name="adj" fmla="val 9000"/>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20"/>
          <p:cNvSpPr txBox="1"/>
          <p:nvPr/>
        </p:nvSpPr>
        <p:spPr>
          <a:xfrm>
            <a:off x="8275319" y="3182112"/>
            <a:ext cx="310896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267353"/>
                </a:solidFill>
                <a:latin typeface="Arial"/>
              </a:defRPr>
            </a:pPr>
            <a:r>
              <a:t>29 376 UZS</a:t>
            </a:r>
          </a:p>
        </p:txBody>
      </p:sp>
      <p:sp>
        <p:nvSpPr>
          <p:cNvPr id="22" name="Text 21"/>
          <p:cNvSpPr txBox="1"/>
          <p:nvPr/>
        </p:nvSpPr>
        <p:spPr>
          <a:xfrm>
            <a:off x="8275319" y="3822191"/>
            <a:ext cx="310896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14251B"/>
                </a:solidFill>
                <a:latin typeface="Arial"/>
              </a:defRPr>
            </a:pPr>
            <a:r>
              <a:t>Plus subscriber</a:t>
            </a:r>
          </a:p>
        </p:txBody>
      </p:sp>
      <p:sp>
        <p:nvSpPr>
          <p:cNvPr id="23" name="Text 22"/>
          <p:cNvSpPr txBox="1"/>
          <p:nvPr/>
        </p:nvSpPr>
        <p:spPr>
          <a:xfrm>
            <a:off x="8275319" y="4379976"/>
            <a:ext cx="3108960" cy="1106424"/>
          </a:xfrm>
          <a:prstGeom prst="rect">
            <a:avLst/>
          </a:prstGeom>
          <a:noFill/>
        </p:spPr>
        <p:txBody>
          <a:bodyPr wrap="square" lIns="13716" rIns="13716" tIns="13716" bIns="13716" anchor="t">
            <a:spAutoFit/>
          </a:bodyPr>
          <a:lstStyle/>
          <a:p>
            <a:pPr algn="l">
              <a:lnSpc>
                <a:spcPct val="108000"/>
              </a:lnSpc>
              <a:spcAft>
                <a:spcPts val="300"/>
              </a:spcAft>
              <a:defRPr sz="1800" b="0">
                <a:solidFill>
                  <a:srgbClr val="14251B"/>
                </a:solidFill>
                <a:latin typeface="Arial"/>
              </a:defRPr>
            </a:pPr>
            <a:r>
              <a:t>Baseline model after reserves</a:t>
            </a:r>
          </a:p>
        </p:txBody>
      </p:sp>
      <p:sp>
        <p:nvSpPr>
          <p:cNvPr id="24"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80" fill="hold"/>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80" fill="hold"/>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280" fill="hold"/>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280" fill="hold"/>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280" fill="hold"/>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280" fill="hold"/>
                                        <p:tgtEl>
                                          <p:spTgt spid="1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280" fill="hold"/>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280" fill="hold"/>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280" fill="hold"/>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280" fill="hold"/>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280" fill="hold"/>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2" grpId="0" build="allAtOnce" animBg="1"/>
      <p:bldP spid="13" grpId="0" build="allAtOnce" animBg="1"/>
      <p:bldP spid="14" grpId="0" build="allAtOnce" animBg="1"/>
      <p:bldP spid="16" grpId="0" build="allAtOnce" animBg="1"/>
      <p:bldP spid="17" grpId="0" build="allAtOnce" animBg="1"/>
      <p:bldP spid="18" grpId="0" build="allAtOnce" animBg="1"/>
      <p:bldP spid="19" grpId="0" build="allAtOnce" animBg="1"/>
      <p:bldP spid="20" grpId="0" build="allAtOnce" animBg="1"/>
      <p:bldP spid="21" grpId="0" build="allAtOnce" animBg="1"/>
      <p:bldP spid="22" grpId="0" build="allAtOnce" animBg="1"/>
      <p:bldP spid="23" grpId="0" build="allAtOnce"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FINANCE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Growth requires replacement as well as new demand</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The annual model counts different things in different units</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22</a:t>
            </a:r>
          </a:p>
        </p:txBody>
      </p:sp>
      <p:graphicFrame>
        <p:nvGraphicFramePr>
          <p:cNvPr id="8" name="Chart 7"/>
          <p:cNvGraphicFramePr>
            <a:graphicFrameLocks noGrp="1"/>
          </p:cNvGraphicFramePr>
          <p:nvPr/>
        </p:nvGraphicFramePr>
        <p:xfrm>
          <a:off x="594360" y="2423160"/>
          <a:ext cx="7406640" cy="3566160"/>
        </p:xfrm>
        <a:graphic>
          <a:graphicData uri="http://schemas.openxmlformats.org/drawingml/2006/chart">
            <c:chart xmlns:c="http://schemas.openxmlformats.org/drawingml/2006/chart" r:id="rId2"/>
          </a:graphicData>
        </a:graphic>
      </p:graphicFrame>
      <p:sp>
        <p:nvSpPr>
          <p:cNvPr id="9" name="Text 8"/>
          <p:cNvSpPr txBox="1"/>
          <p:nvPr/>
        </p:nvSpPr>
        <p:spPr>
          <a:xfrm>
            <a:off x="822960" y="2121408"/>
            <a:ext cx="6309360" cy="228600"/>
          </a:xfrm>
          <a:prstGeom prst="rect">
            <a:avLst/>
          </a:prstGeom>
          <a:noFill/>
        </p:spPr>
        <p:txBody>
          <a:bodyPr wrap="square" lIns="13716" rIns="13716" tIns="13716" bIns="13716" anchor="t">
            <a:spAutoFit/>
          </a:bodyPr>
          <a:lstStyle/>
          <a:p>
            <a:pPr algn="l">
              <a:lnSpc>
                <a:spcPct val="108000"/>
              </a:lnSpc>
              <a:spcAft>
                <a:spcPts val="300"/>
              </a:spcAft>
              <a:defRPr sz="1200" b="1">
                <a:solidFill>
                  <a:srgbClr val="A8B8AC"/>
                </a:solidFill>
                <a:latin typeface="Arial"/>
              </a:defRPr>
            </a:pPr>
            <a:r>
              <a:t>ACTIVE USERS · PLANNING SCENARIO</a:t>
            </a:r>
          </a:p>
        </p:txBody>
      </p:sp>
      <p:sp>
        <p:nvSpPr>
          <p:cNvPr id="10" name="Text 9"/>
          <p:cNvSpPr txBox="1"/>
          <p:nvPr/>
        </p:nvSpPr>
        <p:spPr>
          <a:xfrm>
            <a:off x="8275320" y="2395728"/>
            <a:ext cx="3291840" cy="539496"/>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25 000</a:t>
            </a:r>
          </a:p>
        </p:txBody>
      </p:sp>
      <p:sp>
        <p:nvSpPr>
          <p:cNvPr id="11" name="Text 10"/>
          <p:cNvSpPr txBox="1"/>
          <p:nvPr/>
        </p:nvSpPr>
        <p:spPr>
          <a:xfrm>
            <a:off x="8293608" y="2990088"/>
            <a:ext cx="3246120" cy="393192"/>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Month 12 active users</a:t>
            </a:r>
          </a:p>
        </p:txBody>
      </p:sp>
      <p:sp>
        <p:nvSpPr>
          <p:cNvPr id="12" name="Text 11"/>
          <p:cNvSpPr txBox="1"/>
          <p:nvPr/>
        </p:nvSpPr>
        <p:spPr>
          <a:xfrm>
            <a:off x="8275320" y="3557016"/>
            <a:ext cx="3291840" cy="539496"/>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1 250</a:t>
            </a:r>
          </a:p>
        </p:txBody>
      </p:sp>
      <p:sp>
        <p:nvSpPr>
          <p:cNvPr id="13" name="Text 12"/>
          <p:cNvSpPr txBox="1"/>
          <p:nvPr/>
        </p:nvSpPr>
        <p:spPr>
          <a:xfrm>
            <a:off x="8293608" y="4151376"/>
            <a:ext cx="3246120" cy="393192"/>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Month 12 subscribers</a:t>
            </a:r>
          </a:p>
        </p:txBody>
      </p:sp>
      <p:sp>
        <p:nvSpPr>
          <p:cNvPr id="14" name="Text 13"/>
          <p:cNvSpPr txBox="1"/>
          <p:nvPr/>
        </p:nvSpPr>
        <p:spPr>
          <a:xfrm>
            <a:off x="8275320" y="4718304"/>
            <a:ext cx="3291840" cy="539496"/>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251.38 m</a:t>
            </a:r>
          </a:p>
        </p:txBody>
      </p:sp>
      <p:sp>
        <p:nvSpPr>
          <p:cNvPr id="15" name="Text 14"/>
          <p:cNvSpPr txBox="1"/>
          <p:nvPr/>
        </p:nvSpPr>
        <p:spPr>
          <a:xfrm>
            <a:off x="8293608" y="5312664"/>
            <a:ext cx="3246120" cy="393192"/>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Year 1 receipts in UZS</a:t>
            </a:r>
          </a:p>
        </p:txBody>
      </p:sp>
      <p:sp>
        <p:nvSpPr>
          <p:cNvPr id="16" name="Text 15"/>
          <p:cNvSpPr txBox="1"/>
          <p:nvPr/>
        </p:nvSpPr>
        <p:spPr>
          <a:xfrm>
            <a:off x="804672" y="5897880"/>
            <a:ext cx="10698480" cy="201168"/>
          </a:xfrm>
          <a:prstGeom prst="rect">
            <a:avLst/>
          </a:prstGeom>
          <a:noFill/>
        </p:spPr>
        <p:txBody>
          <a:bodyPr wrap="square" lIns="13716" rIns="13716" tIns="13716" bIns="13716" anchor="t">
            <a:spAutoFit/>
          </a:bodyPr>
          <a:lstStyle/>
          <a:p>
            <a:pPr algn="l">
              <a:lnSpc>
                <a:spcPct val="108000"/>
              </a:lnSpc>
              <a:spcAft>
                <a:spcPts val="300"/>
              </a:spcAft>
              <a:defRPr sz="1300" b="0">
                <a:solidFill>
                  <a:srgbClr val="A8B8AC"/>
                </a:solidFill>
                <a:latin typeface="Arial"/>
              </a:defRPr>
            </a:pPr>
            <a:r>
              <a:t>48 500 activations · 5 234 subscription months · 76 campaign months</a:t>
            </a:r>
          </a:p>
        </p:txBody>
      </p:sp>
      <p:sp>
        <p:nvSpPr>
          <p:cNvPr id="17" name="Source reference">
            <a:hlinkClick action="ppaction://hlinksldjump" r:id="rId4"/>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80" fill="hold"/>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80" fill="hold"/>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280" fill="hold"/>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280" fill="hold"/>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280" fill="hold"/>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280" fill="hold"/>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animBg="1"/>
      <p:bldP spid="11" grpId="0" build="allAtOnce" animBg="1"/>
      <p:bldP spid="12" grpId="0" build="allAtOnce" animBg="1"/>
      <p:bldP spid="13" grpId="0" build="allAtOnce" animBg="1"/>
      <p:bldP spid="14" grpId="0" build="allAtOnce" animBg="1"/>
      <p:bldP spid="15" grpId="0" build="allAtOnce"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FINANCE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Year 1 buys capacity before revenue catches up</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The plan shows a first year operating loss</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23</a:t>
            </a:r>
          </a:p>
        </p:txBody>
      </p:sp>
      <p:cxnSp>
        <p:nvCxnSpPr>
          <p:cNvPr id="8" name="Bridge grid 1"/>
          <p:cNvCxnSpPr/>
          <p:nvPr/>
        </p:nvCxnSpPr>
        <p:spPr>
          <a:xfrm>
            <a:off x="822960" y="5112013"/>
            <a:ext cx="10652760" cy="0"/>
          </a:xfrm>
          <a:prstGeom prst="line">
            <a:avLst/>
          </a:prstGeom>
          <a:ln w="12700">
            <a:solidFill>
              <a:srgbClr val="354B3D"/>
            </a:solidFill>
          </a:ln>
        </p:spPr>
        <p:style>
          <a:lnRef idx="2">
            <a:schemeClr val="accent1"/>
          </a:lnRef>
          <a:fillRef idx="0">
            <a:schemeClr val="accent1"/>
          </a:fillRef>
          <a:effectRef idx="1">
            <a:schemeClr val="accent1"/>
          </a:effectRef>
          <a:fontRef idx="minor">
            <a:schemeClr val="tx1"/>
          </a:fontRef>
        </p:style>
      </p:cxnSp>
      <p:sp>
        <p:nvSpPr>
          <p:cNvPr id="9" name="Text 8"/>
          <p:cNvSpPr txBox="1"/>
          <p:nvPr/>
        </p:nvSpPr>
        <p:spPr>
          <a:xfrm>
            <a:off x="384048" y="5020573"/>
            <a:ext cx="457200" cy="201168"/>
          </a:xfrm>
          <a:prstGeom prst="rect">
            <a:avLst/>
          </a:prstGeom>
          <a:noFill/>
        </p:spPr>
        <p:txBody>
          <a:bodyPr wrap="square" lIns="13716" rIns="13716" tIns="13716" bIns="13716" anchor="t">
            <a:spAutoFit/>
          </a:bodyPr>
          <a:lstStyle/>
          <a:p>
            <a:pPr algn="r">
              <a:lnSpc>
                <a:spcPct val="108000"/>
              </a:lnSpc>
              <a:spcAft>
                <a:spcPts val="300"/>
              </a:spcAft>
              <a:defRPr sz="1000" b="0">
                <a:solidFill>
                  <a:srgbClr val="A8B8AC"/>
                </a:solidFill>
                <a:latin typeface="Arial"/>
              </a:defRPr>
            </a:pPr>
            <a:r>
              <a:t>(200)</a:t>
            </a:r>
          </a:p>
        </p:txBody>
      </p:sp>
      <p:cxnSp>
        <p:nvCxnSpPr>
          <p:cNvPr id="10" name="Bridge grid 1"/>
          <p:cNvCxnSpPr/>
          <p:nvPr/>
        </p:nvCxnSpPr>
        <p:spPr>
          <a:xfrm>
            <a:off x="822960" y="4018184"/>
            <a:ext cx="10652760" cy="0"/>
          </a:xfrm>
          <a:prstGeom prst="line">
            <a:avLst/>
          </a:prstGeom>
          <a:ln w="12700">
            <a:solidFill>
              <a:srgbClr val="354B3D"/>
            </a:solidFill>
          </a:ln>
        </p:spPr>
        <p:style>
          <a:lnRef idx="2">
            <a:schemeClr val="accent1"/>
          </a:lnRef>
          <a:fillRef idx="0">
            <a:schemeClr val="accent1"/>
          </a:fillRef>
          <a:effectRef idx="1">
            <a:schemeClr val="accent1"/>
          </a:effectRef>
          <a:fontRef idx="minor">
            <a:schemeClr val="tx1"/>
          </a:fontRef>
        </p:style>
      </p:cxnSp>
      <p:sp>
        <p:nvSpPr>
          <p:cNvPr id="11" name="Text 10"/>
          <p:cNvSpPr txBox="1"/>
          <p:nvPr/>
        </p:nvSpPr>
        <p:spPr>
          <a:xfrm>
            <a:off x="384048" y="3926744"/>
            <a:ext cx="457200" cy="201168"/>
          </a:xfrm>
          <a:prstGeom prst="rect">
            <a:avLst/>
          </a:prstGeom>
          <a:noFill/>
        </p:spPr>
        <p:txBody>
          <a:bodyPr wrap="square" lIns="13716" rIns="13716" tIns="13716" bIns="13716" anchor="t">
            <a:spAutoFit/>
          </a:bodyPr>
          <a:lstStyle/>
          <a:p>
            <a:pPr algn="r">
              <a:lnSpc>
                <a:spcPct val="108000"/>
              </a:lnSpc>
              <a:spcAft>
                <a:spcPts val="300"/>
              </a:spcAft>
              <a:defRPr sz="1000" b="0">
                <a:solidFill>
                  <a:srgbClr val="A8B8AC"/>
                </a:solidFill>
                <a:latin typeface="Arial"/>
              </a:defRPr>
            </a:pPr>
            <a:r>
              <a:t>0</a:t>
            </a:r>
          </a:p>
        </p:txBody>
      </p:sp>
      <p:cxnSp>
        <p:nvCxnSpPr>
          <p:cNvPr id="12" name="Bridge grid 1"/>
          <p:cNvCxnSpPr/>
          <p:nvPr/>
        </p:nvCxnSpPr>
        <p:spPr>
          <a:xfrm>
            <a:off x="822960" y="2924354"/>
            <a:ext cx="10652760" cy="0"/>
          </a:xfrm>
          <a:prstGeom prst="line">
            <a:avLst/>
          </a:prstGeom>
          <a:ln w="12700">
            <a:solidFill>
              <a:srgbClr val="354B3D"/>
            </a:solidFill>
          </a:ln>
        </p:spPr>
        <p:style>
          <a:lnRef idx="2">
            <a:schemeClr val="accent1"/>
          </a:lnRef>
          <a:fillRef idx="0">
            <a:schemeClr val="accent1"/>
          </a:fillRef>
          <a:effectRef idx="1">
            <a:schemeClr val="accent1"/>
          </a:effectRef>
          <a:fontRef idx="minor">
            <a:schemeClr val="tx1"/>
          </a:fontRef>
        </p:style>
      </p:cxnSp>
      <p:sp>
        <p:nvSpPr>
          <p:cNvPr id="13" name="Text 12"/>
          <p:cNvSpPr txBox="1"/>
          <p:nvPr/>
        </p:nvSpPr>
        <p:spPr>
          <a:xfrm>
            <a:off x="384048" y="2832914"/>
            <a:ext cx="457200" cy="201168"/>
          </a:xfrm>
          <a:prstGeom prst="rect">
            <a:avLst/>
          </a:prstGeom>
          <a:noFill/>
        </p:spPr>
        <p:txBody>
          <a:bodyPr wrap="square" lIns="13716" rIns="13716" tIns="13716" bIns="13716" anchor="t">
            <a:spAutoFit/>
          </a:bodyPr>
          <a:lstStyle/>
          <a:p>
            <a:pPr algn="r">
              <a:lnSpc>
                <a:spcPct val="108000"/>
              </a:lnSpc>
              <a:spcAft>
                <a:spcPts val="300"/>
              </a:spcAft>
              <a:defRPr sz="1000" b="0">
                <a:solidFill>
                  <a:srgbClr val="A8B8AC"/>
                </a:solidFill>
                <a:latin typeface="Arial"/>
              </a:defRPr>
            </a:pPr>
            <a:r>
              <a:t>200</a:t>
            </a:r>
          </a:p>
        </p:txBody>
      </p:sp>
      <p:sp>
        <p:nvSpPr>
          <p:cNvPr id="14" name="Waterfall Revenue"/>
          <p:cNvSpPr/>
          <p:nvPr/>
        </p:nvSpPr>
        <p:spPr>
          <a:xfrm>
            <a:off x="1042416" y="2643326"/>
            <a:ext cx="1115568" cy="1374857"/>
          </a:xfrm>
          <a:prstGeom prst="rect">
            <a:avLst/>
          </a:prstGeom>
          <a:solidFill>
            <a:srgbClr val="79DC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950976" y="2332430"/>
            <a:ext cx="1298448" cy="274320"/>
          </a:xfrm>
          <a:prstGeom prst="rect">
            <a:avLst/>
          </a:prstGeom>
          <a:noFill/>
        </p:spPr>
        <p:txBody>
          <a:bodyPr wrap="square" lIns="13716" rIns="13716" tIns="13716" bIns="13716" anchor="t">
            <a:spAutoFit/>
          </a:bodyPr>
          <a:lstStyle/>
          <a:p>
            <a:pPr algn="ctr">
              <a:lnSpc>
                <a:spcPct val="108000"/>
              </a:lnSpc>
              <a:spcAft>
                <a:spcPts val="300"/>
              </a:spcAft>
              <a:defRPr sz="1700" b="1">
                <a:solidFill>
                  <a:srgbClr val="79DCAF"/>
                </a:solidFill>
                <a:latin typeface="Arial"/>
              </a:defRPr>
            </a:pPr>
            <a:r>
              <a:t>251.4</a:t>
            </a:r>
          </a:p>
        </p:txBody>
      </p:sp>
      <p:sp>
        <p:nvSpPr>
          <p:cNvPr id="16" name="Text 15"/>
          <p:cNvSpPr txBox="1"/>
          <p:nvPr/>
        </p:nvSpPr>
        <p:spPr>
          <a:xfrm>
            <a:off x="877824" y="5440680"/>
            <a:ext cx="1444752" cy="548640"/>
          </a:xfrm>
          <a:prstGeom prst="rect">
            <a:avLst/>
          </a:prstGeom>
          <a:noFill/>
        </p:spPr>
        <p:txBody>
          <a:bodyPr wrap="square" lIns="13716" rIns="13716" tIns="13716" bIns="13716" anchor="t">
            <a:spAutoFit/>
          </a:bodyPr>
          <a:lstStyle/>
          <a:p>
            <a:pPr algn="ctr">
              <a:lnSpc>
                <a:spcPct val="108000"/>
              </a:lnSpc>
              <a:spcAft>
                <a:spcPts val="300"/>
              </a:spcAft>
              <a:defRPr sz="1400" b="0">
                <a:solidFill>
                  <a:srgbClr val="F2F5EE"/>
                </a:solidFill>
                <a:latin typeface="Arial"/>
              </a:defRPr>
            </a:pPr>
            <a:r>
              <a:t>Revenue</a:t>
            </a:r>
          </a:p>
        </p:txBody>
      </p:sp>
      <p:sp>
        <p:nvSpPr>
          <p:cNvPr id="17" name="Waterfall Direct costs"/>
          <p:cNvSpPr/>
          <p:nvPr/>
        </p:nvSpPr>
        <p:spPr>
          <a:xfrm>
            <a:off x="2817876" y="2643326"/>
            <a:ext cx="1115568" cy="497369"/>
          </a:xfrm>
          <a:prstGeom prst="rect">
            <a:avLst/>
          </a:prstGeom>
          <a:solidFill>
            <a:srgbClr val="EC95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2726436" y="2332430"/>
            <a:ext cx="1298448" cy="274320"/>
          </a:xfrm>
          <a:prstGeom prst="rect">
            <a:avLst/>
          </a:prstGeom>
          <a:noFill/>
        </p:spPr>
        <p:txBody>
          <a:bodyPr wrap="square" lIns="13716" rIns="13716" tIns="13716" bIns="13716" anchor="t">
            <a:spAutoFit/>
          </a:bodyPr>
          <a:lstStyle/>
          <a:p>
            <a:pPr algn="ctr">
              <a:lnSpc>
                <a:spcPct val="108000"/>
              </a:lnSpc>
              <a:spcAft>
                <a:spcPts val="300"/>
              </a:spcAft>
              <a:defRPr sz="1700" b="1">
                <a:solidFill>
                  <a:srgbClr val="EC957F"/>
                </a:solidFill>
                <a:latin typeface="Arial"/>
              </a:defRPr>
            </a:pPr>
            <a:r>
              <a:t>(90.9)</a:t>
            </a:r>
          </a:p>
        </p:txBody>
      </p:sp>
      <p:sp>
        <p:nvSpPr>
          <p:cNvPr id="19" name="Text 18"/>
          <p:cNvSpPr txBox="1"/>
          <p:nvPr/>
        </p:nvSpPr>
        <p:spPr>
          <a:xfrm>
            <a:off x="2653284" y="5440680"/>
            <a:ext cx="1444752" cy="548640"/>
          </a:xfrm>
          <a:prstGeom prst="rect">
            <a:avLst/>
          </a:prstGeom>
          <a:noFill/>
        </p:spPr>
        <p:txBody>
          <a:bodyPr wrap="square" lIns="13716" rIns="13716" tIns="13716" bIns="13716" anchor="t">
            <a:spAutoFit/>
          </a:bodyPr>
          <a:lstStyle/>
          <a:p>
            <a:pPr algn="ctr">
              <a:lnSpc>
                <a:spcPct val="108000"/>
              </a:lnSpc>
              <a:spcAft>
                <a:spcPts val="300"/>
              </a:spcAft>
              <a:defRPr sz="1400" b="0">
                <a:solidFill>
                  <a:srgbClr val="F2F5EE"/>
                </a:solidFill>
                <a:latin typeface="Arial"/>
              </a:defRPr>
            </a:pPr>
            <a:r>
              <a:t>Direct costs</a:t>
            </a:r>
          </a:p>
        </p:txBody>
      </p:sp>
      <p:sp>
        <p:nvSpPr>
          <p:cNvPr id="20" name="Waterfall Gross profit"/>
          <p:cNvSpPr/>
          <p:nvPr/>
        </p:nvSpPr>
        <p:spPr>
          <a:xfrm>
            <a:off x="4593336" y="3140696"/>
            <a:ext cx="1115568" cy="877487"/>
          </a:xfrm>
          <a:prstGeom prst="rect">
            <a:avLst/>
          </a:prstGeom>
          <a:solidFill>
            <a:srgbClr val="79DC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20"/>
          <p:cNvSpPr txBox="1"/>
          <p:nvPr/>
        </p:nvSpPr>
        <p:spPr>
          <a:xfrm>
            <a:off x="4501896" y="2829800"/>
            <a:ext cx="1298448" cy="274320"/>
          </a:xfrm>
          <a:prstGeom prst="rect">
            <a:avLst/>
          </a:prstGeom>
          <a:noFill/>
        </p:spPr>
        <p:txBody>
          <a:bodyPr wrap="square" lIns="13716" rIns="13716" tIns="13716" bIns="13716" anchor="t">
            <a:spAutoFit/>
          </a:bodyPr>
          <a:lstStyle/>
          <a:p>
            <a:pPr algn="ctr">
              <a:lnSpc>
                <a:spcPct val="108000"/>
              </a:lnSpc>
              <a:spcAft>
                <a:spcPts val="300"/>
              </a:spcAft>
              <a:defRPr sz="1700" b="1">
                <a:solidFill>
                  <a:srgbClr val="79DCAF"/>
                </a:solidFill>
                <a:latin typeface="Arial"/>
              </a:defRPr>
            </a:pPr>
            <a:r>
              <a:t>160.4</a:t>
            </a:r>
          </a:p>
        </p:txBody>
      </p:sp>
      <p:sp>
        <p:nvSpPr>
          <p:cNvPr id="22" name="Text 21"/>
          <p:cNvSpPr txBox="1"/>
          <p:nvPr/>
        </p:nvSpPr>
        <p:spPr>
          <a:xfrm>
            <a:off x="4428744" y="5440680"/>
            <a:ext cx="1444752" cy="548640"/>
          </a:xfrm>
          <a:prstGeom prst="rect">
            <a:avLst/>
          </a:prstGeom>
          <a:noFill/>
        </p:spPr>
        <p:txBody>
          <a:bodyPr wrap="square" lIns="13716" rIns="13716" tIns="13716" bIns="13716" anchor="t">
            <a:spAutoFit/>
          </a:bodyPr>
          <a:lstStyle/>
          <a:p>
            <a:pPr algn="ctr">
              <a:lnSpc>
                <a:spcPct val="108000"/>
              </a:lnSpc>
              <a:spcAft>
                <a:spcPts val="300"/>
              </a:spcAft>
              <a:defRPr sz="1400" b="0">
                <a:solidFill>
                  <a:srgbClr val="F2F5EE"/>
                </a:solidFill>
                <a:latin typeface="Arial"/>
              </a:defRPr>
            </a:pPr>
            <a:r>
              <a:t>Gross profit</a:t>
            </a:r>
          </a:p>
        </p:txBody>
      </p:sp>
      <p:sp>
        <p:nvSpPr>
          <p:cNvPr id="23" name="Waterfall Operating expenses"/>
          <p:cNvSpPr/>
          <p:nvPr/>
        </p:nvSpPr>
        <p:spPr>
          <a:xfrm>
            <a:off x="6368796" y="3140696"/>
            <a:ext cx="1115568" cy="1905997"/>
          </a:xfrm>
          <a:prstGeom prst="rect">
            <a:avLst/>
          </a:prstGeom>
          <a:solidFill>
            <a:srgbClr val="EC95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23"/>
          <p:cNvSpPr txBox="1"/>
          <p:nvPr/>
        </p:nvSpPr>
        <p:spPr>
          <a:xfrm>
            <a:off x="6277356" y="2829800"/>
            <a:ext cx="1298448" cy="274320"/>
          </a:xfrm>
          <a:prstGeom prst="rect">
            <a:avLst/>
          </a:prstGeom>
          <a:noFill/>
        </p:spPr>
        <p:txBody>
          <a:bodyPr wrap="square" lIns="13716" rIns="13716" tIns="13716" bIns="13716" anchor="t">
            <a:spAutoFit/>
          </a:bodyPr>
          <a:lstStyle/>
          <a:p>
            <a:pPr algn="ctr">
              <a:lnSpc>
                <a:spcPct val="108000"/>
              </a:lnSpc>
              <a:spcAft>
                <a:spcPts val="300"/>
              </a:spcAft>
              <a:defRPr sz="1700" b="1">
                <a:solidFill>
                  <a:srgbClr val="EC957F"/>
                </a:solidFill>
                <a:latin typeface="Arial"/>
              </a:defRPr>
            </a:pPr>
            <a:r>
              <a:t>(348.5)</a:t>
            </a:r>
          </a:p>
        </p:txBody>
      </p:sp>
      <p:sp>
        <p:nvSpPr>
          <p:cNvPr id="25" name="Text 24"/>
          <p:cNvSpPr txBox="1"/>
          <p:nvPr/>
        </p:nvSpPr>
        <p:spPr>
          <a:xfrm>
            <a:off x="6204204" y="5440680"/>
            <a:ext cx="1444752" cy="548640"/>
          </a:xfrm>
          <a:prstGeom prst="rect">
            <a:avLst/>
          </a:prstGeom>
          <a:noFill/>
        </p:spPr>
        <p:txBody>
          <a:bodyPr wrap="square" lIns="13716" rIns="13716" tIns="13716" bIns="13716" anchor="t">
            <a:spAutoFit/>
          </a:bodyPr>
          <a:lstStyle/>
          <a:p>
            <a:pPr algn="ctr">
              <a:lnSpc>
                <a:spcPct val="108000"/>
              </a:lnSpc>
              <a:spcAft>
                <a:spcPts val="300"/>
              </a:spcAft>
              <a:defRPr sz="1400" b="0">
                <a:solidFill>
                  <a:srgbClr val="F2F5EE"/>
                </a:solidFill>
                <a:latin typeface="Arial"/>
              </a:defRPr>
            </a:pPr>
            <a:r>
              <a:t>Operating expenses</a:t>
            </a:r>
          </a:p>
        </p:txBody>
      </p:sp>
      <p:sp>
        <p:nvSpPr>
          <p:cNvPr id="26" name="Waterfall Tax reserve"/>
          <p:cNvSpPr/>
          <p:nvPr/>
        </p:nvSpPr>
        <p:spPr>
          <a:xfrm>
            <a:off x="8144256" y="5046694"/>
            <a:ext cx="1115568" cy="54994"/>
          </a:xfrm>
          <a:prstGeom prst="rect">
            <a:avLst/>
          </a:prstGeom>
          <a:solidFill>
            <a:srgbClr val="EC95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26"/>
          <p:cNvSpPr txBox="1"/>
          <p:nvPr/>
        </p:nvSpPr>
        <p:spPr>
          <a:xfrm>
            <a:off x="8052816" y="4735798"/>
            <a:ext cx="1298448" cy="274320"/>
          </a:xfrm>
          <a:prstGeom prst="rect">
            <a:avLst/>
          </a:prstGeom>
          <a:noFill/>
        </p:spPr>
        <p:txBody>
          <a:bodyPr wrap="square" lIns="13716" rIns="13716" tIns="13716" bIns="13716" anchor="t">
            <a:spAutoFit/>
          </a:bodyPr>
          <a:lstStyle/>
          <a:p>
            <a:pPr algn="ctr">
              <a:lnSpc>
                <a:spcPct val="108000"/>
              </a:lnSpc>
              <a:spcAft>
                <a:spcPts val="300"/>
              </a:spcAft>
              <a:defRPr sz="1700" b="1">
                <a:solidFill>
                  <a:srgbClr val="EC957F"/>
                </a:solidFill>
                <a:latin typeface="Arial"/>
              </a:defRPr>
            </a:pPr>
            <a:r>
              <a:t>(10.1)</a:t>
            </a:r>
          </a:p>
        </p:txBody>
      </p:sp>
      <p:sp>
        <p:nvSpPr>
          <p:cNvPr id="28" name="Text 27"/>
          <p:cNvSpPr txBox="1"/>
          <p:nvPr/>
        </p:nvSpPr>
        <p:spPr>
          <a:xfrm>
            <a:off x="7979664" y="5440680"/>
            <a:ext cx="1444752" cy="548640"/>
          </a:xfrm>
          <a:prstGeom prst="rect">
            <a:avLst/>
          </a:prstGeom>
          <a:noFill/>
        </p:spPr>
        <p:txBody>
          <a:bodyPr wrap="square" lIns="13716" rIns="13716" tIns="13716" bIns="13716" anchor="t">
            <a:spAutoFit/>
          </a:bodyPr>
          <a:lstStyle/>
          <a:p>
            <a:pPr algn="ctr">
              <a:lnSpc>
                <a:spcPct val="108000"/>
              </a:lnSpc>
              <a:spcAft>
                <a:spcPts val="300"/>
              </a:spcAft>
              <a:defRPr sz="1400" b="0">
                <a:solidFill>
                  <a:srgbClr val="F2F5EE"/>
                </a:solidFill>
                <a:latin typeface="Arial"/>
              </a:defRPr>
            </a:pPr>
            <a:r>
              <a:t>Tax reserve</a:t>
            </a:r>
          </a:p>
        </p:txBody>
      </p:sp>
      <p:sp>
        <p:nvSpPr>
          <p:cNvPr id="29" name="Waterfall Operating loss"/>
          <p:cNvSpPr/>
          <p:nvPr/>
        </p:nvSpPr>
        <p:spPr>
          <a:xfrm>
            <a:off x="9919716" y="4018184"/>
            <a:ext cx="1115568" cy="1083504"/>
          </a:xfrm>
          <a:prstGeom prst="rect">
            <a:avLst/>
          </a:prstGeom>
          <a:solidFill>
            <a:srgbClr val="EC95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29"/>
          <p:cNvSpPr txBox="1"/>
          <p:nvPr/>
        </p:nvSpPr>
        <p:spPr>
          <a:xfrm>
            <a:off x="9828276" y="3707288"/>
            <a:ext cx="1298448" cy="274320"/>
          </a:xfrm>
          <a:prstGeom prst="rect">
            <a:avLst/>
          </a:prstGeom>
          <a:noFill/>
        </p:spPr>
        <p:txBody>
          <a:bodyPr wrap="square" lIns="13716" rIns="13716" tIns="13716" bIns="13716" anchor="t">
            <a:spAutoFit/>
          </a:bodyPr>
          <a:lstStyle/>
          <a:p>
            <a:pPr algn="ctr">
              <a:lnSpc>
                <a:spcPct val="108000"/>
              </a:lnSpc>
              <a:spcAft>
                <a:spcPts val="300"/>
              </a:spcAft>
              <a:defRPr sz="1700" b="1">
                <a:solidFill>
                  <a:srgbClr val="EC957F"/>
                </a:solidFill>
                <a:latin typeface="Arial"/>
              </a:defRPr>
            </a:pPr>
            <a:r>
              <a:t>(198.1)</a:t>
            </a:r>
          </a:p>
        </p:txBody>
      </p:sp>
      <p:sp>
        <p:nvSpPr>
          <p:cNvPr id="31" name="Text 30"/>
          <p:cNvSpPr txBox="1"/>
          <p:nvPr/>
        </p:nvSpPr>
        <p:spPr>
          <a:xfrm>
            <a:off x="9755124" y="5440680"/>
            <a:ext cx="1444752" cy="548640"/>
          </a:xfrm>
          <a:prstGeom prst="rect">
            <a:avLst/>
          </a:prstGeom>
          <a:noFill/>
        </p:spPr>
        <p:txBody>
          <a:bodyPr wrap="square" lIns="13716" rIns="13716" tIns="13716" bIns="13716" anchor="t">
            <a:spAutoFit/>
          </a:bodyPr>
          <a:lstStyle/>
          <a:p>
            <a:pPr algn="ctr">
              <a:lnSpc>
                <a:spcPct val="108000"/>
              </a:lnSpc>
              <a:spcAft>
                <a:spcPts val="300"/>
              </a:spcAft>
              <a:defRPr sz="1400" b="0">
                <a:solidFill>
                  <a:srgbClr val="F2F5EE"/>
                </a:solidFill>
                <a:latin typeface="Arial"/>
              </a:defRPr>
            </a:pPr>
            <a:r>
              <a:t>Operating loss</a:t>
            </a:r>
          </a:p>
        </p:txBody>
      </p:sp>
      <p:sp>
        <p:nvSpPr>
          <p:cNvPr id="32" name="Panel 31"/>
          <p:cNvSpPr/>
          <p:nvPr/>
        </p:nvSpPr>
        <p:spPr>
          <a:xfrm>
            <a:off x="8961120" y="1993392"/>
            <a:ext cx="2322576" cy="292608"/>
          </a:xfrm>
          <a:prstGeom prst="roundRect">
            <a:avLst>
              <a:gd name="adj" fmla="val 9000"/>
            </a:avLst>
          </a:prstGeom>
          <a:solidFill>
            <a:srgbClr val="22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32"/>
          <p:cNvSpPr txBox="1"/>
          <p:nvPr/>
        </p:nvSpPr>
        <p:spPr>
          <a:xfrm>
            <a:off x="9052560" y="2029968"/>
            <a:ext cx="2139696" cy="219456"/>
          </a:xfrm>
          <a:prstGeom prst="rect">
            <a:avLst/>
          </a:prstGeom>
          <a:noFill/>
        </p:spPr>
        <p:txBody>
          <a:bodyPr wrap="square" lIns="13716" rIns="13716" tIns="13716" bIns="13716" anchor="t">
            <a:spAutoFit/>
          </a:bodyPr>
          <a:lstStyle/>
          <a:p>
            <a:pPr algn="l">
              <a:lnSpc>
                <a:spcPct val="108000"/>
              </a:lnSpc>
              <a:spcAft>
                <a:spcPts val="300"/>
              </a:spcAft>
              <a:defRPr sz="1200" b="1">
                <a:solidFill>
                  <a:srgbClr val="79DCAF"/>
                </a:solidFill>
                <a:latin typeface="Arial"/>
              </a:defRPr>
            </a:pPr>
            <a:r>
              <a:t>MILLION UZS</a:t>
            </a:r>
          </a:p>
        </p:txBody>
      </p:sp>
      <p:sp>
        <p:nvSpPr>
          <p:cNvPr id="34" name="Text 33"/>
          <p:cNvSpPr txBox="1"/>
          <p:nvPr/>
        </p:nvSpPr>
        <p:spPr>
          <a:xfrm>
            <a:off x="804672" y="5934456"/>
            <a:ext cx="10607040" cy="228600"/>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Planning model · cash operating result · not a statutory financial statement</a:t>
            </a:r>
          </a:p>
        </p:txBody>
      </p:sp>
      <p:sp>
        <p:nvSpPr>
          <p:cNvPr id="35"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80" fill="hold"/>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280" fill="hold"/>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280" fill="hold"/>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280" fill="hold"/>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280" fill="hold"/>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280" fill="hold"/>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280" fill="hold"/>
                                        <p:tgtEl>
                                          <p:spTgt spid="2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280" fill="hold"/>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280" fill="hold"/>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280" fill="hold"/>
                                        <p:tgtEl>
                                          <p:spTgt spid="2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280" fill="hold"/>
                                        <p:tgtEl>
                                          <p:spTgt spid="2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280" fill="hold"/>
                                        <p:tgtEl>
                                          <p:spTgt spid="2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280" fill="hold"/>
                                        <p:tgtEl>
                                          <p:spTgt spid="2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280" fill="hold"/>
                                        <p:tgtEl>
                                          <p:spTgt spid="2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280" fill="hold"/>
                                        <p:tgtEl>
                                          <p:spTgt spid="2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280" fill="hold"/>
                                        <p:tgtEl>
                                          <p:spTgt spid="2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280" fill="hold"/>
                                        <p:tgtEl>
                                          <p:spTgt spid="3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280" fill="hold"/>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allAtOnce" animBg="1"/>
      <p:bldP spid="15" grpId="0" build="allAtOnce" animBg="1"/>
      <p:bldP spid="16" grpId="0" build="allAtOnce" animBg="1"/>
      <p:bldP spid="17" grpId="0" build="allAtOnce" animBg="1"/>
      <p:bldP spid="18" grpId="0" build="allAtOnce" animBg="1"/>
      <p:bldP spid="19" grpId="0" build="allAtOnce" animBg="1"/>
      <p:bldP spid="20" grpId="0" build="allAtOnce" animBg="1"/>
      <p:bldP spid="21" grpId="0" build="allAtOnce" animBg="1"/>
      <p:bldP spid="22" grpId="0" build="allAtOnce" animBg="1"/>
      <p:bldP spid="23" grpId="0" build="allAtOnce" animBg="1"/>
      <p:bldP spid="24" grpId="0" build="allAtOnce" animBg="1"/>
      <p:bldP spid="25" grpId="0" build="allAtOnce" animBg="1"/>
      <p:bldP spid="26" grpId="0" build="allAtOnce" animBg="1"/>
      <p:bldP spid="27" grpId="0" build="allAtOnce" animBg="1"/>
      <p:bldP spid="28" grpId="0" build="allAtOnce" animBg="1"/>
      <p:bldP spid="29" grpId="0" build="allAtOnce" animBg="1"/>
      <p:bldP spid="30" grpId="0" build="allAtOnce" animBg="1"/>
      <p:bldP spid="31" grpId="0" build="allAtOnce"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FINANCE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Fund the deepest cash gap, not just the annual loss</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The proposed ask includes a clearly defined reserve</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24</a:t>
            </a:r>
          </a:p>
        </p:txBody>
      </p:sp>
      <p:graphicFrame>
        <p:nvGraphicFramePr>
          <p:cNvPr id="8" name="Chart 7"/>
          <p:cNvGraphicFramePr>
            <a:graphicFrameLocks noGrp="1"/>
          </p:cNvGraphicFramePr>
          <p:nvPr/>
        </p:nvGraphicFramePr>
        <p:xfrm>
          <a:off x="640080" y="2331720"/>
          <a:ext cx="6629400" cy="1572768"/>
        </p:xfrm>
        <a:graphic>
          <a:graphicData uri="http://schemas.openxmlformats.org/drawingml/2006/chart">
            <c:chart xmlns:c="http://schemas.openxmlformats.org/drawingml/2006/chart" r:id="rId2"/>
          </a:graphicData>
        </a:graphic>
      </p:graphicFrame>
      <p:graphicFrame>
        <p:nvGraphicFramePr>
          <p:cNvPr id="9" name="Chart 8"/>
          <p:cNvGraphicFramePr>
            <a:graphicFrameLocks noGrp="1"/>
          </p:cNvGraphicFramePr>
          <p:nvPr/>
        </p:nvGraphicFramePr>
        <p:xfrm>
          <a:off x="640080" y="4224528"/>
          <a:ext cx="6629400" cy="1572768"/>
        </p:xfrm>
        <a:graphic>
          <a:graphicData uri="http://schemas.openxmlformats.org/drawingml/2006/chart">
            <c:chart xmlns:c="http://schemas.openxmlformats.org/drawingml/2006/chart" r:id="rId3"/>
          </a:graphicData>
        </a:graphic>
      </p:graphicFrame>
      <p:sp>
        <p:nvSpPr>
          <p:cNvPr id="10" name="Text 9"/>
          <p:cNvSpPr txBox="1"/>
          <p:nvPr/>
        </p:nvSpPr>
        <p:spPr>
          <a:xfrm>
            <a:off x="795528" y="2057400"/>
            <a:ext cx="585216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A8B8AC"/>
                </a:solidFill>
                <a:latin typeface="Arial"/>
              </a:defRPr>
            </a:pPr>
            <a:r>
              <a:t>MONTHLY OPERATING RESULT · MILLION UZS</a:t>
            </a:r>
          </a:p>
        </p:txBody>
      </p:sp>
      <p:sp>
        <p:nvSpPr>
          <p:cNvPr id="11" name="Text 10"/>
          <p:cNvSpPr txBox="1"/>
          <p:nvPr/>
        </p:nvSpPr>
        <p:spPr>
          <a:xfrm>
            <a:off x="795528" y="3922776"/>
            <a:ext cx="585216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A8B8AC"/>
                </a:solidFill>
                <a:latin typeface="Arial"/>
              </a:defRPr>
            </a:pPr>
            <a:r>
              <a:t>CUMULATIVE CASH AFTER BUILD · MILLION UZS</a:t>
            </a:r>
          </a:p>
        </p:txBody>
      </p:sp>
      <p:sp>
        <p:nvSpPr>
          <p:cNvPr id="12" name="Panel 11"/>
          <p:cNvSpPr/>
          <p:nvPr/>
        </p:nvSpPr>
        <p:spPr>
          <a:xfrm>
            <a:off x="7772400" y="2377440"/>
            <a:ext cx="3749039" cy="3383280"/>
          </a:xfrm>
          <a:prstGeom prst="roundRect">
            <a:avLst>
              <a:gd name="adj" fmla="val 9000"/>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7955279" y="2542032"/>
            <a:ext cx="3383279"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267353"/>
                </a:solidFill>
                <a:latin typeface="Arial"/>
              </a:defRPr>
            </a:pPr>
            <a:r>
              <a:t>351.94 m UZS</a:t>
            </a:r>
          </a:p>
        </p:txBody>
      </p:sp>
      <p:sp>
        <p:nvSpPr>
          <p:cNvPr id="14" name="Text 13"/>
          <p:cNvSpPr txBox="1"/>
          <p:nvPr/>
        </p:nvSpPr>
        <p:spPr>
          <a:xfrm>
            <a:off x="7955279" y="3182112"/>
            <a:ext cx="3383279"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14251B"/>
                </a:solidFill>
                <a:latin typeface="Arial"/>
              </a:defRPr>
            </a:pPr>
            <a:r>
              <a:t>Proposed funding ask</a:t>
            </a:r>
          </a:p>
        </p:txBody>
      </p:sp>
      <p:sp>
        <p:nvSpPr>
          <p:cNvPr id="15" name="Text 14"/>
          <p:cNvSpPr txBox="1"/>
          <p:nvPr/>
        </p:nvSpPr>
        <p:spPr>
          <a:xfrm>
            <a:off x="7955279" y="3739896"/>
            <a:ext cx="3383279" cy="191109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14251B"/>
                </a:solidFill>
                <a:latin typeface="Arial"/>
              </a:defRPr>
            </a:pPr>
            <a:r>
              <a:t>Peak in Month 11</a:t>
            </a:r>
          </a:p>
          <a:p>
            <a:pPr algn="l">
              <a:lnSpc>
                <a:spcPct val="108000"/>
              </a:lnSpc>
              <a:spcAft>
                <a:spcPts val="300"/>
              </a:spcAft>
              <a:defRPr sz="1800" b="0">
                <a:solidFill>
                  <a:srgbClr val="14251B"/>
                </a:solidFill>
                <a:latin typeface="Arial"/>
              </a:defRPr>
            </a:pPr>
            <a:r>
              <a:t>319.94 m cash gap</a:t>
            </a:r>
          </a:p>
          <a:p>
            <a:pPr algn="l">
              <a:lnSpc>
                <a:spcPct val="108000"/>
              </a:lnSpc>
              <a:spcAft>
                <a:spcPts val="300"/>
              </a:spcAft>
              <a:defRPr sz="1800" b="0">
                <a:solidFill>
                  <a:srgbClr val="14251B"/>
                </a:solidFill>
                <a:latin typeface="Arial"/>
              </a:defRPr>
            </a:pPr>
            <a:r>
              <a:t>31.99 m reserve</a:t>
            </a:r>
          </a:p>
          <a:p>
            <a:pPr algn="l">
              <a:lnSpc>
                <a:spcPct val="108000"/>
              </a:lnSpc>
              <a:spcAft>
                <a:spcPts val="300"/>
              </a:spcAft>
              <a:defRPr sz="1800" b="0">
                <a:solidFill>
                  <a:srgbClr val="14251B"/>
                </a:solidFill>
                <a:latin typeface="Arial"/>
              </a:defRPr>
            </a:pPr>
            <a:r>
              <a:t>10 percent of the peak</a:t>
            </a:r>
          </a:p>
        </p:txBody>
      </p:sp>
      <p:sp>
        <p:nvSpPr>
          <p:cNvPr id="16" name="Text 15"/>
          <p:cNvSpPr txBox="1"/>
          <p:nvPr/>
        </p:nvSpPr>
        <p:spPr>
          <a:xfrm>
            <a:off x="7955279" y="5879592"/>
            <a:ext cx="3474720" cy="256032"/>
          </a:xfrm>
          <a:prstGeom prst="rect">
            <a:avLst/>
          </a:prstGeom>
          <a:noFill/>
        </p:spPr>
        <p:txBody>
          <a:bodyPr wrap="square" lIns="13716" rIns="13716" tIns="13716" bIns="13716" anchor="t">
            <a:spAutoFit/>
          </a:bodyPr>
          <a:lstStyle/>
          <a:p>
            <a:pPr algn="l">
              <a:lnSpc>
                <a:spcPct val="108000"/>
              </a:lnSpc>
              <a:spcAft>
                <a:spcPts val="300"/>
              </a:spcAft>
              <a:defRPr sz="1200" b="1">
                <a:solidFill>
                  <a:srgbClr val="79DCAF"/>
                </a:solidFill>
                <a:latin typeface="Arial"/>
              </a:defRPr>
            </a:pPr>
            <a:r>
              <a:t>Month 12 operating result +1.83 m</a:t>
            </a:r>
          </a:p>
        </p:txBody>
      </p:sp>
      <p:sp>
        <p:nvSpPr>
          <p:cNvPr id="17" name="Source reference">
            <a:hlinkClick action="ppaction://hlinksldjump" r:id="rId5"/>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80" fill="hold"/>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80" fill="hold"/>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280" fill="hold"/>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280" fill="hold"/>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animBg="1"/>
      <p:bldP spid="13" grpId="0" build="allAtOnce" animBg="1"/>
      <p:bldP spid="14" grpId="0" build="allAtOnce" animBg="1"/>
      <p:bldP spid="15" grpId="0" build="allAtOnce"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FINANCE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Validate the assumptions before scaling</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The next stage is a controlled pilot with clear stop rules</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25</a:t>
            </a:r>
          </a:p>
        </p:txBody>
      </p:sp>
      <p:sp>
        <p:nvSpPr>
          <p:cNvPr id="8" name="Panel 7"/>
          <p:cNvSpPr/>
          <p:nvPr/>
        </p:nvSpPr>
        <p:spPr>
          <a:xfrm>
            <a:off x="640080" y="2240280"/>
            <a:ext cx="10927080" cy="521207"/>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868680" y="2350008"/>
            <a:ext cx="2011680" cy="27432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79DCAF"/>
                </a:solidFill>
                <a:latin typeface="Arial"/>
              </a:defRPr>
            </a:pPr>
            <a:r>
              <a:t>Data</a:t>
            </a:r>
          </a:p>
        </p:txBody>
      </p:sp>
      <p:sp>
        <p:nvSpPr>
          <p:cNvPr id="10" name="Text 9"/>
          <p:cNvSpPr txBox="1"/>
          <p:nvPr/>
        </p:nvSpPr>
        <p:spPr>
          <a:xfrm>
            <a:off x="2971800" y="2350008"/>
            <a:ext cx="8138160" cy="274320"/>
          </a:xfrm>
          <a:prstGeom prst="rect">
            <a:avLst/>
          </a:prstGeom>
          <a:noFill/>
        </p:spPr>
        <p:txBody>
          <a:bodyPr wrap="square" lIns="13716" rIns="13716" tIns="13716" bIns="13716" anchor="t">
            <a:spAutoFit/>
          </a:bodyPr>
          <a:lstStyle/>
          <a:p>
            <a:pPr algn="l">
              <a:lnSpc>
                <a:spcPct val="108000"/>
              </a:lnSpc>
              <a:spcAft>
                <a:spcPts val="300"/>
              </a:spcAft>
              <a:defRPr sz="1900" b="0">
                <a:solidFill>
                  <a:srgbClr val="F2F5EE"/>
                </a:solidFill>
                <a:latin typeface="Arial"/>
              </a:defRPr>
            </a:pPr>
            <a:r>
              <a:t>Height and access coverage</a:t>
            </a:r>
          </a:p>
        </p:txBody>
      </p:sp>
      <p:sp>
        <p:nvSpPr>
          <p:cNvPr id="11" name="Panel 10"/>
          <p:cNvSpPr/>
          <p:nvPr/>
        </p:nvSpPr>
        <p:spPr>
          <a:xfrm>
            <a:off x="640080" y="2898648"/>
            <a:ext cx="10927080" cy="521207"/>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868680" y="3008376"/>
            <a:ext cx="2011680" cy="27432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79DCAF"/>
                </a:solidFill>
                <a:latin typeface="Arial"/>
              </a:defRPr>
            </a:pPr>
            <a:r>
              <a:t>Demand</a:t>
            </a:r>
          </a:p>
        </p:txBody>
      </p:sp>
      <p:sp>
        <p:nvSpPr>
          <p:cNvPr id="13" name="Text 12"/>
          <p:cNvSpPr txBox="1"/>
          <p:nvPr/>
        </p:nvSpPr>
        <p:spPr>
          <a:xfrm>
            <a:off x="2971800" y="3008376"/>
            <a:ext cx="8138160" cy="274320"/>
          </a:xfrm>
          <a:prstGeom prst="rect">
            <a:avLst/>
          </a:prstGeom>
          <a:noFill/>
        </p:spPr>
        <p:txBody>
          <a:bodyPr wrap="square" lIns="13716" rIns="13716" tIns="13716" bIns="13716" anchor="t">
            <a:spAutoFit/>
          </a:bodyPr>
          <a:lstStyle/>
          <a:p>
            <a:pPr algn="l">
              <a:lnSpc>
                <a:spcPct val="108000"/>
              </a:lnSpc>
              <a:spcAft>
                <a:spcPts val="300"/>
              </a:spcAft>
              <a:defRPr sz="1900" b="0">
                <a:solidFill>
                  <a:srgbClr val="F2F5EE"/>
                </a:solidFill>
                <a:latin typeface="Arial"/>
              </a:defRPr>
            </a:pPr>
            <a:r>
              <a:t>Repeat walks and conversion</a:t>
            </a:r>
          </a:p>
        </p:txBody>
      </p:sp>
      <p:sp>
        <p:nvSpPr>
          <p:cNvPr id="14" name="Panel 13"/>
          <p:cNvSpPr/>
          <p:nvPr/>
        </p:nvSpPr>
        <p:spPr>
          <a:xfrm>
            <a:off x="640080" y="3557016"/>
            <a:ext cx="10927080" cy="521207"/>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868680" y="3666744"/>
            <a:ext cx="2011680" cy="27432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79DCAF"/>
                </a:solidFill>
                <a:latin typeface="Arial"/>
              </a:defRPr>
            </a:pPr>
            <a:r>
              <a:t>Payments</a:t>
            </a:r>
          </a:p>
        </p:txBody>
      </p:sp>
      <p:sp>
        <p:nvSpPr>
          <p:cNvPr id="16" name="Text 15"/>
          <p:cNvSpPr txBox="1"/>
          <p:nvPr/>
        </p:nvSpPr>
        <p:spPr>
          <a:xfrm>
            <a:off x="2971800" y="3666744"/>
            <a:ext cx="8138160" cy="274320"/>
          </a:xfrm>
          <a:prstGeom prst="rect">
            <a:avLst/>
          </a:prstGeom>
          <a:noFill/>
        </p:spPr>
        <p:txBody>
          <a:bodyPr wrap="square" lIns="13716" rIns="13716" tIns="13716" bIns="13716" anchor="t">
            <a:spAutoFit/>
          </a:bodyPr>
          <a:lstStyle/>
          <a:p>
            <a:pPr algn="l">
              <a:lnSpc>
                <a:spcPct val="108000"/>
              </a:lnSpc>
              <a:spcAft>
                <a:spcPts val="300"/>
              </a:spcAft>
              <a:defRPr sz="1900" b="0">
                <a:solidFill>
                  <a:srgbClr val="F2F5EE"/>
                </a:solidFill>
                <a:latin typeface="Arial"/>
              </a:defRPr>
            </a:pPr>
            <a:r>
              <a:t>Permitted channel and actual fees</a:t>
            </a:r>
          </a:p>
        </p:txBody>
      </p:sp>
      <p:sp>
        <p:nvSpPr>
          <p:cNvPr id="17" name="Panel 16"/>
          <p:cNvSpPr/>
          <p:nvPr/>
        </p:nvSpPr>
        <p:spPr>
          <a:xfrm>
            <a:off x="640080" y="4215384"/>
            <a:ext cx="10927080" cy="521207"/>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868680" y="4325112"/>
            <a:ext cx="2011680" cy="27432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79DCAF"/>
                </a:solidFill>
                <a:latin typeface="Arial"/>
              </a:defRPr>
            </a:pPr>
            <a:r>
              <a:t>Seasonality</a:t>
            </a:r>
          </a:p>
        </p:txBody>
      </p:sp>
      <p:sp>
        <p:nvSpPr>
          <p:cNvPr id="19" name="Text 18"/>
          <p:cNvSpPr txBox="1"/>
          <p:nvPr/>
        </p:nvSpPr>
        <p:spPr>
          <a:xfrm>
            <a:off x="2971800" y="4325112"/>
            <a:ext cx="8138160" cy="274320"/>
          </a:xfrm>
          <a:prstGeom prst="rect">
            <a:avLst/>
          </a:prstGeom>
          <a:noFill/>
        </p:spPr>
        <p:txBody>
          <a:bodyPr wrap="square" lIns="13716" rIns="13716" tIns="13716" bIns="13716" anchor="t">
            <a:spAutoFit/>
          </a:bodyPr>
          <a:lstStyle/>
          <a:p>
            <a:pPr algn="l">
              <a:lnSpc>
                <a:spcPct val="108000"/>
              </a:lnSpc>
              <a:spcAft>
                <a:spcPts val="300"/>
              </a:spcAft>
              <a:defRPr sz="1900" b="0">
                <a:solidFill>
                  <a:srgbClr val="F2F5EE"/>
                </a:solidFill>
                <a:latin typeface="Arial"/>
              </a:defRPr>
            </a:pPr>
            <a:r>
              <a:t>Value beyond hot afternoons</a:t>
            </a:r>
          </a:p>
        </p:txBody>
      </p:sp>
      <p:sp>
        <p:nvSpPr>
          <p:cNvPr id="20" name="Panel 19"/>
          <p:cNvSpPr/>
          <p:nvPr/>
        </p:nvSpPr>
        <p:spPr>
          <a:xfrm>
            <a:off x="640080" y="4873752"/>
            <a:ext cx="10927080" cy="521207"/>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20"/>
          <p:cNvSpPr txBox="1"/>
          <p:nvPr/>
        </p:nvSpPr>
        <p:spPr>
          <a:xfrm>
            <a:off x="868680" y="4983480"/>
            <a:ext cx="2011680" cy="27432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79DCAF"/>
                </a:solidFill>
                <a:latin typeface="Arial"/>
              </a:defRPr>
            </a:pPr>
            <a:r>
              <a:t>Team</a:t>
            </a:r>
          </a:p>
        </p:txBody>
      </p:sp>
      <p:sp>
        <p:nvSpPr>
          <p:cNvPr id="22" name="Text 21"/>
          <p:cNvSpPr txBox="1"/>
          <p:nvPr/>
        </p:nvSpPr>
        <p:spPr>
          <a:xfrm>
            <a:off x="2971800" y="4983480"/>
            <a:ext cx="8138160" cy="274320"/>
          </a:xfrm>
          <a:prstGeom prst="rect">
            <a:avLst/>
          </a:prstGeom>
          <a:noFill/>
        </p:spPr>
        <p:txBody>
          <a:bodyPr wrap="square" lIns="13716" rIns="13716" tIns="13716" bIns="13716" anchor="t">
            <a:spAutoFit/>
          </a:bodyPr>
          <a:lstStyle/>
          <a:p>
            <a:pPr algn="l">
              <a:lnSpc>
                <a:spcPct val="108000"/>
              </a:lnSpc>
              <a:spcAft>
                <a:spcPts val="300"/>
              </a:spcAft>
              <a:defRPr sz="1900" b="0">
                <a:solidFill>
                  <a:srgbClr val="F2F5EE"/>
                </a:solidFill>
                <a:latin typeface="Arial"/>
              </a:defRPr>
            </a:pPr>
            <a:r>
              <a:t>Capacity, review and rehearsal</a:t>
            </a:r>
          </a:p>
        </p:txBody>
      </p:sp>
      <p:sp>
        <p:nvSpPr>
          <p:cNvPr id="23" name="Text 22"/>
          <p:cNvSpPr txBox="1"/>
          <p:nvPr/>
        </p:nvSpPr>
        <p:spPr>
          <a:xfrm>
            <a:off x="777240" y="5806440"/>
            <a:ext cx="10607040" cy="320040"/>
          </a:xfrm>
          <a:prstGeom prst="rect">
            <a:avLst/>
          </a:prstGeom>
          <a:noFill/>
        </p:spPr>
        <p:txBody>
          <a:bodyPr wrap="square" lIns="13716" rIns="13716" tIns="13716" bIns="13716" anchor="t">
            <a:spAutoFit/>
          </a:bodyPr>
          <a:lstStyle/>
          <a:p>
            <a:pPr algn="l">
              <a:lnSpc>
                <a:spcPct val="108000"/>
              </a:lnSpc>
              <a:spcAft>
                <a:spcPts val="300"/>
              </a:spcAft>
              <a:defRPr sz="2300" b="1">
                <a:solidFill>
                  <a:srgbClr val="EDC76C"/>
                </a:solidFill>
                <a:latin typeface="Arial"/>
              </a:defRPr>
            </a:pPr>
            <a:r>
              <a:t>A pilot is a decision process, not a promise of scale</a:t>
            </a:r>
          </a:p>
        </p:txBody>
      </p:sp>
      <p:sp>
        <p:nvSpPr>
          <p:cNvPr id="24" name="Source reference">
            <a:hlinkClick action="ppaction://hlinksldjump" r:id="rId3"/>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CW2 brief · Soya planning model</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80" fill="hold"/>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80" fill="hold"/>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80" fill="hold"/>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80" fill="hold"/>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80" fill="hold"/>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80" fill="hold"/>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280" fill="hold"/>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280" fill="hold"/>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280" fill="hold"/>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280" fill="hold"/>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280" fill="hold"/>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280" fill="hold"/>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280" fill="hold"/>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280" fill="hold"/>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280" fill="hold"/>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1" grpId="0" build="allAtOnce" animBg="1"/>
      <p:bldP spid="12" grpId="0" build="allAtOnce" animBg="1"/>
      <p:bldP spid="13" grpId="0" build="allAtOnce" animBg="1"/>
      <p:bldP spid="14" grpId="0" build="allAtOnce" animBg="1"/>
      <p:bldP spid="15" grpId="0" build="allAtOnce" animBg="1"/>
      <p:bldP spid="16" grpId="0" build="allAtOnce" animBg="1"/>
      <p:bldP spid="17" grpId="0" build="allAtOnce" animBg="1"/>
      <p:bldP spid="18" grpId="0" build="allAtOnce" animBg="1"/>
      <p:bldP spid="19" grpId="0" build="allAtOnce" animBg="1"/>
      <p:bldP spid="20" grpId="0" build="allAtOnce" animBg="1"/>
      <p:bldP spid="21" grpId="0" build="allAtOnce" animBg="1"/>
      <p:bldP spid="22" grpId="0" build="allAtOnce"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FINANCE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Questions and discussion</a:t>
            </a:r>
          </a:p>
        </p:txBody>
      </p:sp>
      <p:sp>
        <p:nvSpPr>
          <p:cNvPr id="4" name="Slide takeaway"/>
          <p:cNvSpPr txBox="1"/>
          <p:nvPr/>
        </p:nvSpPr>
        <p:spPr>
          <a:xfrm>
            <a:off x="521207" y="1591056"/>
            <a:ext cx="10927080" cy="502920"/>
          </a:xfrm>
          <a:prstGeom prst="rect">
            <a:avLst/>
          </a:prstGeom>
          <a:noFill/>
        </p:spPr>
        <p:txBody>
          <a:bodyPr wrap="square" lIns="13716" rIns="13716" tIns="13716" bIns="13716" anchor="t">
            <a:spAutoFit/>
          </a:bodyPr>
          <a:lstStyle/>
          <a:p>
            <a:pPr algn="l">
              <a:lnSpc>
                <a:spcPct val="108000"/>
              </a:lnSpc>
              <a:spcAft>
                <a:spcPts val="300"/>
              </a:spcAft>
              <a:defRPr sz="1700" b="0">
                <a:solidFill>
                  <a:srgbClr val="A8B8AC"/>
                </a:solidFill>
                <a:latin typeface="Arial"/>
              </a:defRPr>
            </a:pPr>
            <a:r>
              <a:t>Inspect the evidence behind the proposal</a:t>
            </a:r>
          </a:p>
        </p:txBody>
      </p:sp>
      <p:cxnSp>
        <p:nvCxnSpPr>
          <p:cNvPr id="5"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7"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26</a:t>
            </a:r>
          </a:p>
        </p:txBody>
      </p:sp>
      <p:sp>
        <p:nvSpPr>
          <p:cNvPr id="8" name="Button Product and shade">
            <a:hlinkClick action="ppaction://hlinksldjump" r:id="rId3"/>
          </p:cNvPr>
          <p:cNvSpPr/>
          <p:nvPr/>
        </p:nvSpPr>
        <p:spPr>
          <a:xfrm>
            <a:off x="685800" y="2331720"/>
            <a:ext cx="5422392" cy="8503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a:pPr>
          </a:p>
        </p:txBody>
      </p:sp>
      <p:sp>
        <p:nvSpPr>
          <p:cNvPr id="9" name="Button label Product and shade">
            <a:hlinkClick action="ppaction://hlinksldjump" r:id="rId3"/>
          </p:cNvPr>
          <p:cNvSpPr txBox="1"/>
          <p:nvPr/>
        </p:nvSpPr>
        <p:spPr>
          <a:xfrm>
            <a:off x="795528" y="2587752"/>
            <a:ext cx="5202936" cy="36576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Product and shade</a:t>
            </a:r>
          </a:p>
        </p:txBody>
      </p:sp>
      <p:sp>
        <p:nvSpPr>
          <p:cNvPr id="10" name="Button Data and access">
            <a:hlinkClick action="ppaction://hlinksldjump" r:id="rId4"/>
          </p:cNvPr>
          <p:cNvSpPr/>
          <p:nvPr/>
        </p:nvSpPr>
        <p:spPr>
          <a:xfrm>
            <a:off x="6492240" y="2331720"/>
            <a:ext cx="5422392" cy="8503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a:pPr>
          </a:p>
        </p:txBody>
      </p:sp>
      <p:sp>
        <p:nvSpPr>
          <p:cNvPr id="11" name="Button label Data and access">
            <a:hlinkClick action="ppaction://hlinksldjump" r:id="rId4"/>
          </p:cNvPr>
          <p:cNvSpPr txBox="1"/>
          <p:nvPr/>
        </p:nvSpPr>
        <p:spPr>
          <a:xfrm>
            <a:off x="6601968" y="2587752"/>
            <a:ext cx="5202936" cy="36576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Data and access</a:t>
            </a:r>
          </a:p>
        </p:txBody>
      </p:sp>
      <p:sp>
        <p:nvSpPr>
          <p:cNvPr id="12" name="Button Market and subscriptions">
            <a:hlinkClick action="ppaction://hlinksldjump" r:id="rId5"/>
          </p:cNvPr>
          <p:cNvSpPr/>
          <p:nvPr/>
        </p:nvSpPr>
        <p:spPr>
          <a:xfrm>
            <a:off x="685800" y="3447287"/>
            <a:ext cx="5422392" cy="8503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a:pPr>
          </a:p>
        </p:txBody>
      </p:sp>
      <p:sp>
        <p:nvSpPr>
          <p:cNvPr id="13" name="Button label Market and subscriptions">
            <a:hlinkClick action="ppaction://hlinksldjump" r:id="rId5"/>
          </p:cNvPr>
          <p:cNvSpPr txBox="1"/>
          <p:nvPr/>
        </p:nvSpPr>
        <p:spPr>
          <a:xfrm>
            <a:off x="795528" y="3703320"/>
            <a:ext cx="5202936" cy="36576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Market and subscriptions</a:t>
            </a:r>
          </a:p>
        </p:txBody>
      </p:sp>
      <p:sp>
        <p:nvSpPr>
          <p:cNvPr id="14" name="Button Leadership and operations">
            <a:hlinkClick action="ppaction://hlinksldjump" r:id="rId6"/>
          </p:cNvPr>
          <p:cNvSpPr/>
          <p:nvPr/>
        </p:nvSpPr>
        <p:spPr>
          <a:xfrm>
            <a:off x="6492240" y="3447287"/>
            <a:ext cx="5422392" cy="8503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a:pPr>
          </a:p>
        </p:txBody>
      </p:sp>
      <p:sp>
        <p:nvSpPr>
          <p:cNvPr id="15" name="Button label Leadership and operations">
            <a:hlinkClick action="ppaction://hlinksldjump" r:id="rId6"/>
          </p:cNvPr>
          <p:cNvSpPr txBox="1"/>
          <p:nvPr/>
        </p:nvSpPr>
        <p:spPr>
          <a:xfrm>
            <a:off x="6601968" y="3703320"/>
            <a:ext cx="5202936" cy="36576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Leadership and operations</a:t>
            </a:r>
          </a:p>
        </p:txBody>
      </p:sp>
      <p:sp>
        <p:nvSpPr>
          <p:cNvPr id="16" name="Button Costs and cash">
            <a:hlinkClick action="ppaction://hlinksldjump" r:id="rId7"/>
          </p:cNvPr>
          <p:cNvSpPr/>
          <p:nvPr/>
        </p:nvSpPr>
        <p:spPr>
          <a:xfrm>
            <a:off x="685800" y="4562856"/>
            <a:ext cx="5422392" cy="8503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a:pPr>
          </a:p>
        </p:txBody>
      </p:sp>
      <p:sp>
        <p:nvSpPr>
          <p:cNvPr id="17" name="Button label Costs and cash">
            <a:hlinkClick action="ppaction://hlinksldjump" r:id="rId7"/>
          </p:cNvPr>
          <p:cNvSpPr txBox="1"/>
          <p:nvPr/>
        </p:nvSpPr>
        <p:spPr>
          <a:xfrm>
            <a:off x="795528" y="4818888"/>
            <a:ext cx="5202936" cy="36576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Costs and cash</a:t>
            </a:r>
          </a:p>
        </p:txBody>
      </p:sp>
      <p:sp>
        <p:nvSpPr>
          <p:cNvPr id="18" name="Button Sources and production">
            <a:hlinkClick action="ppaction://hlinksldjump" r:id="rId8"/>
          </p:cNvPr>
          <p:cNvSpPr/>
          <p:nvPr/>
        </p:nvSpPr>
        <p:spPr>
          <a:xfrm>
            <a:off x="6492240" y="4562856"/>
            <a:ext cx="5422392" cy="8503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a:pPr>
          </a:p>
        </p:txBody>
      </p:sp>
      <p:sp>
        <p:nvSpPr>
          <p:cNvPr id="19" name="Button label Sources and production">
            <a:hlinkClick action="ppaction://hlinksldjump" r:id="rId8"/>
          </p:cNvPr>
          <p:cNvSpPr txBox="1"/>
          <p:nvPr/>
        </p:nvSpPr>
        <p:spPr>
          <a:xfrm>
            <a:off x="6601968" y="4818888"/>
            <a:ext cx="5202936" cy="36576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Sources and production</a:t>
            </a:r>
          </a:p>
        </p:txBody>
      </p:sp>
      <p:sp>
        <p:nvSpPr>
          <p:cNvPr id="20" name="Text 19"/>
          <p:cNvSpPr txBox="1"/>
          <p:nvPr/>
        </p:nvSpPr>
        <p:spPr>
          <a:xfrm>
            <a:off x="841248" y="5870448"/>
            <a:ext cx="10424160" cy="274320"/>
          </a:xfrm>
          <a:prstGeom prst="rect">
            <a:avLst/>
          </a:prstGeom>
          <a:noFill/>
        </p:spPr>
        <p:txBody>
          <a:bodyPr wrap="square" lIns="13716" rIns="13716" tIns="13716" bIns="13716" anchor="t">
            <a:spAutoFit/>
          </a:bodyPr>
          <a:lstStyle/>
          <a:p>
            <a:pPr algn="l">
              <a:lnSpc>
                <a:spcPct val="108000"/>
              </a:lnSpc>
              <a:spcAft>
                <a:spcPts val="300"/>
              </a:spcAft>
              <a:defRPr sz="2000" b="1">
                <a:solidFill>
                  <a:srgbClr val="79DCAF"/>
                </a:solidFill>
                <a:latin typeface="Arial"/>
              </a:defRPr>
            </a:pPr>
            <a:r>
              <a:t>Thank you · Select a topic for a complete answer</a:t>
            </a:r>
          </a:p>
        </p:txBody>
      </p:sp>
      <p:sp>
        <p:nvSpPr>
          <p:cNvPr id="21" name="Source reference">
            <a:hlinkClick action="ppaction://hlinksldjump" r:id="rId8"/>
          </p:cNvPr>
          <p:cNvSpPr txBox="1"/>
          <p:nvPr/>
        </p:nvSpPr>
        <p:spPr>
          <a:xfrm>
            <a:off x="521207" y="6163056"/>
            <a:ext cx="978408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Sources and assumptions · Soya planning model · CW2 brief</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27.xml><?xml version="1.0" encoding="utf-8"?>
<p:sld xmlns:a="http://schemas.openxmlformats.org/drawingml/2006/main" xmlns:p="http://schemas.openxmlformats.org/presentationml/2006/main" xmlns:r="http://schemas.openxmlformats.org/officeDocument/2006/relationships" show="0">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QUESTIONS AND EVIDENCE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Evidence and production notes</a:t>
            </a:r>
          </a:p>
        </p:txBody>
      </p:sp>
      <p:cxnSp>
        <p:nvCxnSpPr>
          <p:cNvPr id="4"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6"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27</a:t>
            </a:r>
          </a:p>
        </p:txBody>
      </p:sp>
      <p:sp>
        <p:nvSpPr>
          <p:cNvPr id="7" name="Button Back to questions">
            <a:hlinkClick action="ppaction://hlinksldjump" r:id="rId2"/>
          </p:cNvPr>
          <p:cNvSpPr/>
          <p:nvPr/>
        </p:nvSpPr>
        <p:spPr>
          <a:xfrm>
            <a:off x="9692640" y="246888"/>
            <a:ext cx="192024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tton label Back to questions">
            <a:hlinkClick action="ppaction://hlinksldjump" r:id="rId2"/>
          </p:cNvPr>
          <p:cNvSpPr txBox="1"/>
          <p:nvPr/>
        </p:nvSpPr>
        <p:spPr>
          <a:xfrm>
            <a:off x="9802367" y="320040"/>
            <a:ext cx="17007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questions</a:t>
            </a:r>
          </a:p>
        </p:txBody>
      </p:sp>
      <p:sp>
        <p:nvSpPr>
          <p:cNvPr id="9" name="Text 8"/>
          <p:cNvSpPr txBox="1"/>
          <p:nvPr/>
        </p:nvSpPr>
        <p:spPr>
          <a:xfrm>
            <a:off x="731520" y="1920240"/>
            <a:ext cx="10698480" cy="502920"/>
          </a:xfrm>
          <a:prstGeom prst="rect">
            <a:avLst/>
          </a:prstGeom>
          <a:noFill/>
        </p:spPr>
        <p:txBody>
          <a:bodyPr wrap="square" lIns="13716" rIns="13716" tIns="13716" bIns="13716" anchor="t">
            <a:spAutoFit/>
          </a:bodyPr>
          <a:lstStyle/>
          <a:p>
            <a:pPr algn="l">
              <a:lnSpc>
                <a:spcPct val="108000"/>
              </a:lnSpc>
              <a:spcAft>
                <a:spcPts val="300"/>
              </a:spcAft>
              <a:defRPr sz="2200" b="1">
                <a:solidFill>
                  <a:srgbClr val="F2F5EE"/>
                </a:solidFill>
                <a:latin typeface="Arial"/>
              </a:defRPr>
            </a:pPr>
            <a:r>
              <a:t>Technical sources and course literature are kept separate from scenario assumptions.</a:t>
            </a:r>
          </a:p>
        </p:txBody>
      </p:sp>
      <p:sp>
        <p:nvSpPr>
          <p:cNvPr id="10" name="Button Open course literature">
            <a:hlinkClick action="ppaction://hlinksldjump" r:id="rId3"/>
          </p:cNvPr>
          <p:cNvSpPr/>
          <p:nvPr/>
        </p:nvSpPr>
        <p:spPr>
          <a:xfrm>
            <a:off x="777240" y="2788920"/>
            <a:ext cx="521208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utton label Open course literature">
            <a:hlinkClick action="ppaction://hlinksldjump" r:id="rId3"/>
          </p:cNvPr>
          <p:cNvSpPr txBox="1"/>
          <p:nvPr/>
        </p:nvSpPr>
        <p:spPr>
          <a:xfrm>
            <a:off x="886968" y="2862072"/>
            <a:ext cx="499262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Open course literature</a:t>
            </a:r>
          </a:p>
        </p:txBody>
      </p:sp>
      <p:sp>
        <p:nvSpPr>
          <p:cNvPr id="12" name="Button Open technical sources">
            <a:hlinkClick action="ppaction://hlinksldjump" r:id="rId4"/>
          </p:cNvPr>
          <p:cNvSpPr/>
          <p:nvPr/>
        </p:nvSpPr>
        <p:spPr>
          <a:xfrm>
            <a:off x="6263640" y="2788920"/>
            <a:ext cx="521208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utton label Open technical sources">
            <a:hlinkClick action="ppaction://hlinksldjump" r:id="rId4"/>
          </p:cNvPr>
          <p:cNvSpPr txBox="1"/>
          <p:nvPr/>
        </p:nvSpPr>
        <p:spPr>
          <a:xfrm>
            <a:off x="6373368" y="2862072"/>
            <a:ext cx="499262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Open technical sources</a:t>
            </a:r>
          </a:p>
        </p:txBody>
      </p:sp>
      <p:sp>
        <p:nvSpPr>
          <p:cNvPr id="14" name="Text 13"/>
          <p:cNvSpPr txBox="1"/>
          <p:nvPr/>
        </p:nvSpPr>
        <p:spPr>
          <a:xfrm>
            <a:off x="804672" y="3685032"/>
            <a:ext cx="10515600" cy="530352"/>
          </a:xfrm>
          <a:prstGeom prst="rect">
            <a:avLst/>
          </a:prstGeom>
          <a:noFill/>
        </p:spPr>
        <p:txBody>
          <a:bodyPr wrap="square" lIns="13716" rIns="13716" tIns="13716" bIns="13716" anchor="t">
            <a:spAutoFit/>
          </a:bodyPr>
          <a:lstStyle/>
          <a:p>
            <a:pPr algn="l">
              <a:lnSpc>
                <a:spcPct val="108000"/>
              </a:lnSpc>
              <a:spcAft>
                <a:spcPts val="300"/>
              </a:spcAft>
              <a:defRPr sz="2100" b="0">
                <a:solidFill>
                  <a:srgbClr val="A8B8AC"/>
                </a:solidFill>
                <a:latin typeface="Arial"/>
              </a:defRPr>
            </a:pPr>
            <a:r>
              <a:t>Financial figures are a planning scenario, not reported trading results.</a:t>
            </a:r>
          </a:p>
        </p:txBody>
      </p:sp>
      <p:sp>
        <p:nvSpPr>
          <p:cNvPr id="15" name="Text 14"/>
          <p:cNvSpPr txBox="1"/>
          <p:nvPr/>
        </p:nvSpPr>
        <p:spPr>
          <a:xfrm>
            <a:off x="804672" y="4370832"/>
            <a:ext cx="10515600" cy="530352"/>
          </a:xfrm>
          <a:prstGeom prst="rect">
            <a:avLst/>
          </a:prstGeom>
          <a:noFill/>
        </p:spPr>
        <p:txBody>
          <a:bodyPr wrap="square" lIns="13716" rIns="13716" tIns="13716" bIns="13716" anchor="t">
            <a:spAutoFit/>
          </a:bodyPr>
          <a:lstStyle/>
          <a:p>
            <a:pPr algn="l">
              <a:lnSpc>
                <a:spcPct val="108000"/>
              </a:lnSpc>
              <a:spcAft>
                <a:spcPts val="300"/>
              </a:spcAft>
              <a:defRPr sz="2100" b="0">
                <a:solidFill>
                  <a:srgbClr val="A8B8AC"/>
                </a:solidFill>
                <a:latin typeface="Arial"/>
              </a:defRPr>
            </a:pPr>
            <a:r>
              <a:t>AI assisted research, drafting, calculations, visual design and code.</a:t>
            </a:r>
          </a:p>
        </p:txBody>
      </p:sp>
      <p:sp>
        <p:nvSpPr>
          <p:cNvPr id="16" name="Text 15"/>
          <p:cNvSpPr txBox="1"/>
          <p:nvPr/>
        </p:nvSpPr>
        <p:spPr>
          <a:xfrm>
            <a:off x="804672" y="5056632"/>
            <a:ext cx="10515600" cy="530352"/>
          </a:xfrm>
          <a:prstGeom prst="rect">
            <a:avLst/>
          </a:prstGeom>
          <a:noFill/>
        </p:spPr>
        <p:txBody>
          <a:bodyPr wrap="square" lIns="13716" rIns="13716" tIns="13716" bIns="13716" anchor="t">
            <a:spAutoFit/>
          </a:bodyPr>
          <a:lstStyle/>
          <a:p>
            <a:pPr algn="l">
              <a:lnSpc>
                <a:spcPct val="108000"/>
              </a:lnSpc>
              <a:spcAft>
                <a:spcPts val="300"/>
              </a:spcAft>
              <a:defRPr sz="2100" b="0">
                <a:solidFill>
                  <a:srgbClr val="A8B8AC"/>
                </a:solidFill>
                <a:latin typeface="Arial"/>
              </a:defRPr>
            </a:pPr>
            <a:r>
              <a:t>No interviews, field checks or completed pilot results are claimed.</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28.xml><?xml version="1.0" encoding="utf-8"?>
<p:sld xmlns:a="http://schemas.openxmlformats.org/drawingml/2006/main" xmlns:p="http://schemas.openxmlformats.org/presentationml/2006/main" xmlns:r="http://schemas.openxmlformats.org/officeDocument/2006/relationships" show="0">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QUESTIONS AND EVIDENCE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Course literature</a:t>
            </a:r>
          </a:p>
        </p:txBody>
      </p:sp>
      <p:cxnSp>
        <p:nvCxnSpPr>
          <p:cNvPr id="4"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6"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28</a:t>
            </a:r>
          </a:p>
        </p:txBody>
      </p:sp>
      <p:sp>
        <p:nvSpPr>
          <p:cNvPr id="7" name="Button Back to questions">
            <a:hlinkClick action="ppaction://hlinksldjump" r:id="rId2"/>
          </p:cNvPr>
          <p:cNvSpPr/>
          <p:nvPr/>
        </p:nvSpPr>
        <p:spPr>
          <a:xfrm>
            <a:off x="9692640" y="246888"/>
            <a:ext cx="192024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tton label Back to questions">
            <a:hlinkClick action="ppaction://hlinksldjump" r:id="rId2"/>
          </p:cNvPr>
          <p:cNvSpPr txBox="1"/>
          <p:nvPr/>
        </p:nvSpPr>
        <p:spPr>
          <a:xfrm>
            <a:off x="9802367" y="320040"/>
            <a:ext cx="17007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questions</a:t>
            </a:r>
          </a:p>
        </p:txBody>
      </p:sp>
      <p:sp>
        <p:nvSpPr>
          <p:cNvPr id="9" name="Text 8"/>
          <p:cNvSpPr txBox="1"/>
          <p:nvPr/>
        </p:nvSpPr>
        <p:spPr>
          <a:xfrm>
            <a:off x="758952" y="2011680"/>
            <a:ext cx="10698480" cy="320040"/>
          </a:xfrm>
          <a:prstGeom prst="rect">
            <a:avLst/>
          </a:prstGeom>
          <a:noFill/>
        </p:spPr>
        <p:txBody>
          <a:bodyPr wrap="square" lIns="13716" rIns="13716" tIns="13716" bIns="13716" anchor="t">
            <a:spAutoFit/>
          </a:bodyPr>
          <a:lstStyle/>
          <a:p>
            <a:pPr algn="l">
              <a:lnSpc>
                <a:spcPct val="108000"/>
              </a:lnSpc>
              <a:spcAft>
                <a:spcPts val="300"/>
              </a:spcAft>
              <a:defRPr sz="2000" b="1">
                <a:solidFill>
                  <a:srgbClr val="F2F5EE"/>
                </a:solidFill>
                <a:latin typeface="Arial"/>
              </a:defRPr>
            </a:pPr>
            <a:r>
              <a:t>Business in Action · edition 9</a:t>
            </a:r>
          </a:p>
        </p:txBody>
      </p:sp>
      <p:sp>
        <p:nvSpPr>
          <p:cNvPr id="10" name="Text 9"/>
          <p:cNvSpPr txBox="1"/>
          <p:nvPr/>
        </p:nvSpPr>
        <p:spPr>
          <a:xfrm>
            <a:off x="777240" y="2368296"/>
            <a:ext cx="10607040" cy="228600"/>
          </a:xfrm>
          <a:prstGeom prst="rect">
            <a:avLst/>
          </a:prstGeom>
          <a:noFill/>
        </p:spPr>
        <p:txBody>
          <a:bodyPr wrap="square" lIns="13716" rIns="13716" tIns="13716" bIns="13716" anchor="t">
            <a:spAutoFit/>
          </a:bodyPr>
          <a:lstStyle/>
          <a:p>
            <a:pPr algn="l">
              <a:lnSpc>
                <a:spcPct val="108000"/>
              </a:lnSpc>
              <a:spcAft>
                <a:spcPts val="300"/>
              </a:spcAft>
              <a:defRPr sz="1300" b="0">
                <a:solidFill>
                  <a:srgbClr val="A8B8AC"/>
                </a:solidFill>
                <a:latin typeface="Arial"/>
              </a:defRPr>
            </a:pPr>
            <a:r>
              <a:t>Bovée C L and Thill J V · 2020 · Pearson</a:t>
            </a:r>
          </a:p>
        </p:txBody>
      </p:sp>
      <p:sp>
        <p:nvSpPr>
          <p:cNvPr id="11" name="Text 10"/>
          <p:cNvSpPr txBox="1"/>
          <p:nvPr/>
        </p:nvSpPr>
        <p:spPr>
          <a:xfrm>
            <a:off x="758952" y="2761488"/>
            <a:ext cx="10698480" cy="320040"/>
          </a:xfrm>
          <a:prstGeom prst="rect">
            <a:avLst/>
          </a:prstGeom>
          <a:noFill/>
        </p:spPr>
        <p:txBody>
          <a:bodyPr wrap="square" lIns="13716" rIns="13716" tIns="13716" bIns="13716" anchor="t">
            <a:spAutoFit/>
          </a:bodyPr>
          <a:lstStyle/>
          <a:p>
            <a:pPr algn="l">
              <a:lnSpc>
                <a:spcPct val="108000"/>
              </a:lnSpc>
              <a:spcAft>
                <a:spcPts val="300"/>
              </a:spcAft>
              <a:defRPr sz="2000" b="1">
                <a:solidFill>
                  <a:srgbClr val="F2F5EE"/>
                </a:solidFill>
                <a:latin typeface="Arial"/>
              </a:defRPr>
            </a:pPr>
            <a:r>
              <a:t>Business Foundations · A Changing World · edition 12</a:t>
            </a:r>
          </a:p>
        </p:txBody>
      </p:sp>
      <p:sp>
        <p:nvSpPr>
          <p:cNvPr id="12" name="Text 11"/>
          <p:cNvSpPr txBox="1"/>
          <p:nvPr/>
        </p:nvSpPr>
        <p:spPr>
          <a:xfrm>
            <a:off x="777240" y="3118103"/>
            <a:ext cx="10607040" cy="228600"/>
          </a:xfrm>
          <a:prstGeom prst="rect">
            <a:avLst/>
          </a:prstGeom>
          <a:noFill/>
        </p:spPr>
        <p:txBody>
          <a:bodyPr wrap="square" lIns="13716" rIns="13716" tIns="13716" bIns="13716" anchor="t">
            <a:spAutoFit/>
          </a:bodyPr>
          <a:lstStyle/>
          <a:p>
            <a:pPr algn="l">
              <a:lnSpc>
                <a:spcPct val="108000"/>
              </a:lnSpc>
              <a:spcAft>
                <a:spcPts val="300"/>
              </a:spcAft>
              <a:defRPr sz="1300" b="0">
                <a:solidFill>
                  <a:srgbClr val="A8B8AC"/>
                </a:solidFill>
                <a:latin typeface="Arial"/>
              </a:defRPr>
            </a:pPr>
            <a:r>
              <a:t>Ferrell O C, Hirt G and Ferrell L · 2019 · McGraw Hill Education</a:t>
            </a:r>
          </a:p>
        </p:txBody>
      </p:sp>
      <p:sp>
        <p:nvSpPr>
          <p:cNvPr id="13" name="Text 12"/>
          <p:cNvSpPr txBox="1"/>
          <p:nvPr/>
        </p:nvSpPr>
        <p:spPr>
          <a:xfrm>
            <a:off x="758952" y="3511296"/>
            <a:ext cx="10698480" cy="320040"/>
          </a:xfrm>
          <a:prstGeom prst="rect">
            <a:avLst/>
          </a:prstGeom>
          <a:noFill/>
        </p:spPr>
        <p:txBody>
          <a:bodyPr wrap="square" lIns="13716" rIns="13716" tIns="13716" bIns="13716" anchor="t">
            <a:spAutoFit/>
          </a:bodyPr>
          <a:lstStyle/>
          <a:p>
            <a:pPr algn="l">
              <a:lnSpc>
                <a:spcPct val="108000"/>
              </a:lnSpc>
              <a:spcAft>
                <a:spcPts val="300"/>
              </a:spcAft>
              <a:defRPr sz="2000" b="1">
                <a:solidFill>
                  <a:srgbClr val="F2F5EE"/>
                </a:solidFill>
                <a:latin typeface="Arial"/>
              </a:defRPr>
            </a:pPr>
            <a:r>
              <a:t>Fundamentals of Management · edition 8</a:t>
            </a:r>
          </a:p>
        </p:txBody>
      </p:sp>
      <p:sp>
        <p:nvSpPr>
          <p:cNvPr id="14" name="Text 13"/>
          <p:cNvSpPr txBox="1"/>
          <p:nvPr/>
        </p:nvSpPr>
        <p:spPr>
          <a:xfrm>
            <a:off x="777240" y="3867911"/>
            <a:ext cx="10607040" cy="228600"/>
          </a:xfrm>
          <a:prstGeom prst="rect">
            <a:avLst/>
          </a:prstGeom>
          <a:noFill/>
        </p:spPr>
        <p:txBody>
          <a:bodyPr wrap="square" lIns="13716" rIns="13716" tIns="13716" bIns="13716" anchor="t">
            <a:spAutoFit/>
          </a:bodyPr>
          <a:lstStyle/>
          <a:p>
            <a:pPr algn="l">
              <a:lnSpc>
                <a:spcPct val="108000"/>
              </a:lnSpc>
              <a:spcAft>
                <a:spcPts val="300"/>
              </a:spcAft>
              <a:defRPr sz="1300" b="0">
                <a:solidFill>
                  <a:srgbClr val="A8B8AC"/>
                </a:solidFill>
                <a:latin typeface="Arial"/>
              </a:defRPr>
            </a:pPr>
            <a:r>
              <a:t>Griffin R W · 2020 · Cengage Learning</a:t>
            </a:r>
          </a:p>
        </p:txBody>
      </p:sp>
      <p:sp>
        <p:nvSpPr>
          <p:cNvPr id="15" name="Text 14"/>
          <p:cNvSpPr txBox="1"/>
          <p:nvPr/>
        </p:nvSpPr>
        <p:spPr>
          <a:xfrm>
            <a:off x="758952" y="4261104"/>
            <a:ext cx="10698480" cy="320040"/>
          </a:xfrm>
          <a:prstGeom prst="rect">
            <a:avLst/>
          </a:prstGeom>
          <a:noFill/>
        </p:spPr>
        <p:txBody>
          <a:bodyPr wrap="square" lIns="13716" rIns="13716" tIns="13716" bIns="13716" anchor="t">
            <a:spAutoFit/>
          </a:bodyPr>
          <a:lstStyle/>
          <a:p>
            <a:pPr algn="l">
              <a:lnSpc>
                <a:spcPct val="108000"/>
              </a:lnSpc>
              <a:spcAft>
                <a:spcPts val="300"/>
              </a:spcAft>
              <a:defRPr sz="2000" b="1">
                <a:solidFill>
                  <a:srgbClr val="F2F5EE"/>
                </a:solidFill>
                <a:latin typeface="Arial"/>
              </a:defRPr>
            </a:pPr>
            <a:r>
              <a:t>The Business Environment · Themes and Issues · edition 4</a:t>
            </a:r>
          </a:p>
        </p:txBody>
      </p:sp>
      <p:sp>
        <p:nvSpPr>
          <p:cNvPr id="16" name="Text 15"/>
          <p:cNvSpPr txBox="1"/>
          <p:nvPr/>
        </p:nvSpPr>
        <p:spPr>
          <a:xfrm>
            <a:off x="777240" y="4617720"/>
            <a:ext cx="10607040" cy="228600"/>
          </a:xfrm>
          <a:prstGeom prst="rect">
            <a:avLst/>
          </a:prstGeom>
          <a:noFill/>
        </p:spPr>
        <p:txBody>
          <a:bodyPr wrap="square" lIns="13716" rIns="13716" tIns="13716" bIns="13716" anchor="t">
            <a:spAutoFit/>
          </a:bodyPr>
          <a:lstStyle/>
          <a:p>
            <a:pPr algn="l">
              <a:lnSpc>
                <a:spcPct val="108000"/>
              </a:lnSpc>
              <a:spcAft>
                <a:spcPts val="300"/>
              </a:spcAft>
              <a:defRPr sz="1300" b="0">
                <a:solidFill>
                  <a:srgbClr val="A8B8AC"/>
                </a:solidFill>
                <a:latin typeface="Arial"/>
              </a:defRPr>
            </a:pPr>
            <a:r>
              <a:t>Wetherly P and Otter D · 2018 · Oxford University Press</a:t>
            </a:r>
          </a:p>
        </p:txBody>
      </p:sp>
      <p:sp>
        <p:nvSpPr>
          <p:cNvPr id="17" name="Text 16"/>
          <p:cNvSpPr txBox="1"/>
          <p:nvPr/>
        </p:nvSpPr>
        <p:spPr>
          <a:xfrm>
            <a:off x="758952" y="5010912"/>
            <a:ext cx="10698480" cy="320040"/>
          </a:xfrm>
          <a:prstGeom prst="rect">
            <a:avLst/>
          </a:prstGeom>
          <a:noFill/>
        </p:spPr>
        <p:txBody>
          <a:bodyPr wrap="square" lIns="13716" rIns="13716" tIns="13716" bIns="13716" anchor="t">
            <a:spAutoFit/>
          </a:bodyPr>
          <a:lstStyle/>
          <a:p>
            <a:pPr algn="l">
              <a:lnSpc>
                <a:spcPct val="108000"/>
              </a:lnSpc>
              <a:spcAft>
                <a:spcPts val="300"/>
              </a:spcAft>
              <a:defRPr sz="2000" b="1">
                <a:solidFill>
                  <a:srgbClr val="F2F5EE"/>
                </a:solidFill>
                <a:latin typeface="Arial"/>
              </a:defRPr>
            </a:pPr>
            <a:r>
              <a:t>Fundamentals of Business</a:t>
            </a:r>
          </a:p>
        </p:txBody>
      </p:sp>
      <p:sp>
        <p:nvSpPr>
          <p:cNvPr id="18" name="Text 17"/>
          <p:cNvSpPr txBox="1"/>
          <p:nvPr/>
        </p:nvSpPr>
        <p:spPr>
          <a:xfrm>
            <a:off x="777240" y="5367527"/>
            <a:ext cx="10607040" cy="228600"/>
          </a:xfrm>
          <a:prstGeom prst="rect">
            <a:avLst/>
          </a:prstGeom>
          <a:noFill/>
        </p:spPr>
        <p:txBody>
          <a:bodyPr wrap="square" lIns="13716" rIns="13716" tIns="13716" bIns="13716" anchor="t">
            <a:spAutoFit/>
          </a:bodyPr>
          <a:lstStyle/>
          <a:p>
            <a:pPr algn="l">
              <a:lnSpc>
                <a:spcPct val="108000"/>
              </a:lnSpc>
              <a:spcAft>
                <a:spcPts val="300"/>
              </a:spcAft>
              <a:defRPr sz="1300" b="0">
                <a:solidFill>
                  <a:srgbClr val="A8B8AC"/>
                </a:solidFill>
                <a:latin typeface="Arial"/>
              </a:defRPr>
            </a:pPr>
            <a:r>
              <a:t>Skripak S · 2016 · Virginia Tech</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29.xml><?xml version="1.0" encoding="utf-8"?>
<p:sld xmlns:a="http://schemas.openxmlformats.org/drawingml/2006/main" xmlns:p="http://schemas.openxmlformats.org/presentationml/2006/main" xmlns:r="http://schemas.openxmlformats.org/officeDocument/2006/relationships" show="0">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QUESTIONS AND EVIDENCE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Primary technical sources</a:t>
            </a:r>
          </a:p>
        </p:txBody>
      </p:sp>
      <p:cxnSp>
        <p:nvCxnSpPr>
          <p:cNvPr id="4"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6"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29</a:t>
            </a:r>
          </a:p>
        </p:txBody>
      </p:sp>
      <p:sp>
        <p:nvSpPr>
          <p:cNvPr id="7" name="Button Back to questions">
            <a:hlinkClick action="ppaction://hlinksldjump" r:id="rId9"/>
          </p:cNvPr>
          <p:cNvSpPr/>
          <p:nvPr/>
        </p:nvSpPr>
        <p:spPr>
          <a:xfrm>
            <a:off x="9692640" y="246888"/>
            <a:ext cx="192024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tton label Back to questions">
            <a:hlinkClick action="ppaction://hlinksldjump" r:id="rId9"/>
          </p:cNvPr>
          <p:cNvSpPr txBox="1"/>
          <p:nvPr/>
        </p:nvSpPr>
        <p:spPr>
          <a:xfrm>
            <a:off x="9802367" y="320040"/>
            <a:ext cx="17007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questions</a:t>
            </a:r>
          </a:p>
        </p:txBody>
      </p:sp>
      <p:sp>
        <p:nvSpPr>
          <p:cNvPr id="9" name="Text 8">
            <a:hlinkClick r:id="rId2"/>
          </p:cNvPr>
          <p:cNvSpPr txBox="1"/>
          <p:nvPr/>
        </p:nvSpPr>
        <p:spPr>
          <a:xfrm>
            <a:off x="758952" y="2011680"/>
            <a:ext cx="5212080" cy="411480"/>
          </a:xfrm>
          <a:prstGeom prst="rect">
            <a:avLst/>
          </a:prstGeom>
          <a:noFill/>
        </p:spPr>
        <p:txBody>
          <a:bodyPr wrap="square" lIns="13716" rIns="13716" tIns="13716" bIns="13716" anchor="t">
            <a:spAutoFit/>
          </a:bodyPr>
          <a:lstStyle/>
          <a:p>
            <a:pPr algn="l">
              <a:lnSpc>
                <a:spcPct val="108000"/>
              </a:lnSpc>
              <a:spcAft>
                <a:spcPts val="300"/>
              </a:spcAft>
              <a:defRPr sz="1600" b="1">
                <a:solidFill>
                  <a:srgbClr val="F2F5EE"/>
                </a:solidFill>
                <a:latin typeface="Arial"/>
              </a:defRPr>
            </a:pPr>
            <a:r>
              <a:t>Overture Maps · Buildings Guide</a:t>
            </a:r>
          </a:p>
        </p:txBody>
      </p:sp>
      <p:sp>
        <p:nvSpPr>
          <p:cNvPr id="10" name="Text 9"/>
          <p:cNvSpPr txBox="1"/>
          <p:nvPr/>
        </p:nvSpPr>
        <p:spPr>
          <a:xfrm>
            <a:off x="758952" y="2468880"/>
            <a:ext cx="5212080" cy="256032"/>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Official source · checked 22 October 2026</a:t>
            </a:r>
          </a:p>
        </p:txBody>
      </p:sp>
      <p:sp>
        <p:nvSpPr>
          <p:cNvPr id="11" name="Text 10">
            <a:hlinkClick r:id="rId3"/>
          </p:cNvPr>
          <p:cNvSpPr txBox="1"/>
          <p:nvPr/>
        </p:nvSpPr>
        <p:spPr>
          <a:xfrm>
            <a:off x="6336792" y="2011680"/>
            <a:ext cx="5212080" cy="411480"/>
          </a:xfrm>
          <a:prstGeom prst="rect">
            <a:avLst/>
          </a:prstGeom>
          <a:noFill/>
        </p:spPr>
        <p:txBody>
          <a:bodyPr wrap="square" lIns="13716" rIns="13716" tIns="13716" bIns="13716" anchor="t">
            <a:spAutoFit/>
          </a:bodyPr>
          <a:lstStyle/>
          <a:p>
            <a:pPr algn="l">
              <a:lnSpc>
                <a:spcPct val="108000"/>
              </a:lnSpc>
              <a:spcAft>
                <a:spcPts val="300"/>
              </a:spcAft>
              <a:defRPr sz="1600" b="1">
                <a:solidFill>
                  <a:srgbClr val="F2F5EE"/>
                </a:solidFill>
                <a:latin typeface="Arial"/>
              </a:defRPr>
            </a:pPr>
            <a:r>
              <a:t>Overture Maps · Attribution</a:t>
            </a:r>
          </a:p>
        </p:txBody>
      </p:sp>
      <p:sp>
        <p:nvSpPr>
          <p:cNvPr id="12" name="Text 11"/>
          <p:cNvSpPr txBox="1"/>
          <p:nvPr/>
        </p:nvSpPr>
        <p:spPr>
          <a:xfrm>
            <a:off x="6336792" y="2468880"/>
            <a:ext cx="5212080" cy="256032"/>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Official source · checked 22 October 2026</a:t>
            </a:r>
          </a:p>
        </p:txBody>
      </p:sp>
      <p:sp>
        <p:nvSpPr>
          <p:cNvPr id="13" name="Text 12">
            <a:hlinkClick r:id="rId4"/>
          </p:cNvPr>
          <p:cNvSpPr txBox="1"/>
          <p:nvPr/>
        </p:nvSpPr>
        <p:spPr>
          <a:xfrm>
            <a:off x="758952" y="2971800"/>
            <a:ext cx="5212080" cy="411480"/>
          </a:xfrm>
          <a:prstGeom prst="rect">
            <a:avLst/>
          </a:prstGeom>
          <a:noFill/>
        </p:spPr>
        <p:txBody>
          <a:bodyPr wrap="square" lIns="13716" rIns="13716" tIns="13716" bIns="13716" anchor="t">
            <a:spAutoFit/>
          </a:bodyPr>
          <a:lstStyle/>
          <a:p>
            <a:pPr algn="l">
              <a:lnSpc>
                <a:spcPct val="108000"/>
              </a:lnSpc>
              <a:spcAft>
                <a:spcPts val="300"/>
              </a:spcAft>
              <a:defRPr sz="1600" b="1">
                <a:solidFill>
                  <a:srgbClr val="F2F5EE"/>
                </a:solidFill>
                <a:latin typeface="Arial"/>
              </a:defRPr>
            </a:pPr>
            <a:r>
              <a:t>GlobalBuildingAtlas · Data and licences</a:t>
            </a:r>
          </a:p>
        </p:txBody>
      </p:sp>
      <p:sp>
        <p:nvSpPr>
          <p:cNvPr id="14" name="Text 13"/>
          <p:cNvSpPr txBox="1"/>
          <p:nvPr/>
        </p:nvSpPr>
        <p:spPr>
          <a:xfrm>
            <a:off x="758952" y="3429000"/>
            <a:ext cx="5212080" cy="256032"/>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Official source · checked 22 October 2026</a:t>
            </a:r>
          </a:p>
        </p:txBody>
      </p:sp>
      <p:sp>
        <p:nvSpPr>
          <p:cNvPr id="15" name="Text 14">
            <a:hlinkClick r:id="rId5"/>
          </p:cNvPr>
          <p:cNvSpPr txBox="1"/>
          <p:nvPr/>
        </p:nvSpPr>
        <p:spPr>
          <a:xfrm>
            <a:off x="6336792" y="2971800"/>
            <a:ext cx="5212080" cy="411480"/>
          </a:xfrm>
          <a:prstGeom prst="rect">
            <a:avLst/>
          </a:prstGeom>
          <a:noFill/>
        </p:spPr>
        <p:txBody>
          <a:bodyPr wrap="square" lIns="13716" rIns="13716" tIns="13716" bIns="13716" anchor="t">
            <a:spAutoFit/>
          </a:bodyPr>
          <a:lstStyle/>
          <a:p>
            <a:pPr algn="l">
              <a:lnSpc>
                <a:spcPct val="108000"/>
              </a:lnSpc>
              <a:spcAft>
                <a:spcPts val="300"/>
              </a:spcAft>
              <a:defRPr sz="1600" b="1">
                <a:solidFill>
                  <a:srgbClr val="F2F5EE"/>
                </a:solidFill>
                <a:latin typeface="Arial"/>
              </a:defRPr>
            </a:pPr>
            <a:r>
              <a:t>OpenStreetMap · Raster tile policy</a:t>
            </a:r>
          </a:p>
        </p:txBody>
      </p:sp>
      <p:sp>
        <p:nvSpPr>
          <p:cNvPr id="16" name="Text 15"/>
          <p:cNvSpPr txBox="1"/>
          <p:nvPr/>
        </p:nvSpPr>
        <p:spPr>
          <a:xfrm>
            <a:off x="6336792" y="3429000"/>
            <a:ext cx="5212080" cy="256032"/>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Official source · checked 22 October 2026</a:t>
            </a:r>
          </a:p>
        </p:txBody>
      </p:sp>
      <p:sp>
        <p:nvSpPr>
          <p:cNvPr id="17" name="Text 16">
            <a:hlinkClick r:id="rId6"/>
          </p:cNvPr>
          <p:cNvSpPr txBox="1"/>
          <p:nvPr/>
        </p:nvSpPr>
        <p:spPr>
          <a:xfrm>
            <a:off x="758952" y="3931920"/>
            <a:ext cx="5212080" cy="411480"/>
          </a:xfrm>
          <a:prstGeom prst="rect">
            <a:avLst/>
          </a:prstGeom>
          <a:noFill/>
        </p:spPr>
        <p:txBody>
          <a:bodyPr wrap="square" lIns="13716" rIns="13716" tIns="13716" bIns="13716" anchor="t">
            <a:spAutoFit/>
          </a:bodyPr>
          <a:lstStyle/>
          <a:p>
            <a:pPr algn="l">
              <a:lnSpc>
                <a:spcPct val="108000"/>
              </a:lnSpc>
              <a:spcAft>
                <a:spcPts val="300"/>
              </a:spcAft>
              <a:defRPr sz="1600" b="1">
                <a:solidFill>
                  <a:srgbClr val="F2F5EE"/>
                </a:solidFill>
                <a:latin typeface="Arial"/>
              </a:defRPr>
            </a:pPr>
            <a:r>
              <a:t>OpenStreetMap · Vector tile policy</a:t>
            </a:r>
          </a:p>
        </p:txBody>
      </p:sp>
      <p:sp>
        <p:nvSpPr>
          <p:cNvPr id="18" name="Text 17"/>
          <p:cNvSpPr txBox="1"/>
          <p:nvPr/>
        </p:nvSpPr>
        <p:spPr>
          <a:xfrm>
            <a:off x="758952" y="4389120"/>
            <a:ext cx="5212080" cy="256032"/>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Official source · checked 22 October 2026</a:t>
            </a:r>
          </a:p>
        </p:txBody>
      </p:sp>
      <p:sp>
        <p:nvSpPr>
          <p:cNvPr id="19" name="Text 18">
            <a:hlinkClick r:id="rId7"/>
          </p:cNvPr>
          <p:cNvSpPr txBox="1"/>
          <p:nvPr/>
        </p:nvSpPr>
        <p:spPr>
          <a:xfrm>
            <a:off x="6336792" y="3931920"/>
            <a:ext cx="5212080" cy="411480"/>
          </a:xfrm>
          <a:prstGeom prst="rect">
            <a:avLst/>
          </a:prstGeom>
          <a:noFill/>
        </p:spPr>
        <p:txBody>
          <a:bodyPr wrap="square" lIns="13716" rIns="13716" tIns="13716" bIns="13716" anchor="t">
            <a:spAutoFit/>
          </a:bodyPr>
          <a:lstStyle/>
          <a:p>
            <a:pPr algn="l">
              <a:lnSpc>
                <a:spcPct val="108000"/>
              </a:lnSpc>
              <a:spcAft>
                <a:spcPts val="300"/>
              </a:spcAft>
              <a:defRPr sz="1600" b="1">
                <a:solidFill>
                  <a:srgbClr val="F2F5EE"/>
                </a:solidFill>
                <a:latin typeface="Arial"/>
              </a:defRPr>
            </a:pPr>
            <a:r>
              <a:t>Protomaps · PMTiles</a:t>
            </a:r>
          </a:p>
        </p:txBody>
      </p:sp>
      <p:sp>
        <p:nvSpPr>
          <p:cNvPr id="20" name="Text 19"/>
          <p:cNvSpPr txBox="1"/>
          <p:nvPr/>
        </p:nvSpPr>
        <p:spPr>
          <a:xfrm>
            <a:off x="6336792" y="4389120"/>
            <a:ext cx="5212080" cy="256032"/>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Official source · checked 22 October 2026</a:t>
            </a:r>
          </a:p>
        </p:txBody>
      </p:sp>
      <p:sp>
        <p:nvSpPr>
          <p:cNvPr id="21" name="Text 20">
            <a:hlinkClick r:id="rId8"/>
          </p:cNvPr>
          <p:cNvSpPr txBox="1"/>
          <p:nvPr/>
        </p:nvSpPr>
        <p:spPr>
          <a:xfrm>
            <a:off x="758952" y="4892040"/>
            <a:ext cx="5212080" cy="411480"/>
          </a:xfrm>
          <a:prstGeom prst="rect">
            <a:avLst/>
          </a:prstGeom>
          <a:noFill/>
        </p:spPr>
        <p:txBody>
          <a:bodyPr wrap="square" lIns="13716" rIns="13716" tIns="13716" bIns="13716" anchor="t">
            <a:spAutoFit/>
          </a:bodyPr>
          <a:lstStyle/>
          <a:p>
            <a:pPr algn="l">
              <a:lnSpc>
                <a:spcPct val="108000"/>
              </a:lnSpc>
              <a:spcAft>
                <a:spcPts val="300"/>
              </a:spcAft>
              <a:defRPr sz="1600" b="1">
                <a:solidFill>
                  <a:srgbClr val="F2F5EE"/>
                </a:solidFill>
                <a:latin typeface="Arial"/>
              </a:defRPr>
            </a:pPr>
            <a:r>
              <a:t>CoolWalks · Author research repository</a:t>
            </a:r>
          </a:p>
        </p:txBody>
      </p:sp>
      <p:sp>
        <p:nvSpPr>
          <p:cNvPr id="22" name="Text 21"/>
          <p:cNvSpPr txBox="1"/>
          <p:nvPr/>
        </p:nvSpPr>
        <p:spPr>
          <a:xfrm>
            <a:off x="758952" y="5349240"/>
            <a:ext cx="5212080" cy="256032"/>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Official source · checked 22 October 2026</a:t>
            </a:r>
          </a:p>
        </p:txBody>
      </p:sp>
      <p:sp>
        <p:nvSpPr>
          <p:cNvPr id="23" name="Text 22"/>
          <p:cNvSpPr txBox="1"/>
          <p:nvPr/>
        </p:nvSpPr>
        <p:spPr>
          <a:xfrm>
            <a:off x="822960" y="5934456"/>
            <a:ext cx="10424160" cy="237744"/>
          </a:xfrm>
          <a:prstGeom prst="rect">
            <a:avLst/>
          </a:prstGeom>
          <a:noFill/>
        </p:spPr>
        <p:txBody>
          <a:bodyPr wrap="square" lIns="13716" rIns="13716" tIns="13716" bIns="13716" anchor="t">
            <a:spAutoFit/>
          </a:bodyPr>
          <a:lstStyle/>
          <a:p>
            <a:pPr algn="l">
              <a:lnSpc>
                <a:spcPct val="108000"/>
              </a:lnSpc>
              <a:spcAft>
                <a:spcPts val="300"/>
              </a:spcAft>
              <a:defRPr sz="1100" b="0">
                <a:solidFill>
                  <a:srgbClr val="A8B8AC"/>
                </a:solidFill>
                <a:latin typeface="Arial"/>
              </a:defRPr>
            </a:pPr>
            <a:r>
              <a:t>Click a source title to open its document. Access checked 22 October 2026.</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30.xml><?xml version="1.0" encoding="utf-8"?>
<p:sld xmlns:a="http://schemas.openxmlformats.org/drawingml/2006/main" xmlns:p="http://schemas.openxmlformats.org/presentationml/2006/main" xmlns:r="http://schemas.openxmlformats.org/officeDocument/2006/relationships" show="0">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QUESTIONS AND EVIDENCE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Monthly sales scenario</a:t>
            </a:r>
          </a:p>
        </p:txBody>
      </p:sp>
      <p:cxnSp>
        <p:nvCxnSpPr>
          <p:cNvPr id="4"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6"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30</a:t>
            </a:r>
          </a:p>
        </p:txBody>
      </p:sp>
      <p:sp>
        <p:nvSpPr>
          <p:cNvPr id="7" name="Button Back to questions">
            <a:hlinkClick action="ppaction://hlinksldjump" r:id="rId2"/>
          </p:cNvPr>
          <p:cNvSpPr/>
          <p:nvPr/>
        </p:nvSpPr>
        <p:spPr>
          <a:xfrm>
            <a:off x="9692640" y="246888"/>
            <a:ext cx="192024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tton label Back to questions">
            <a:hlinkClick action="ppaction://hlinksldjump" r:id="rId2"/>
          </p:cNvPr>
          <p:cNvSpPr txBox="1"/>
          <p:nvPr/>
        </p:nvSpPr>
        <p:spPr>
          <a:xfrm>
            <a:off x="9802367" y="320040"/>
            <a:ext cx="17007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questions</a:t>
            </a:r>
          </a:p>
        </p:txBody>
      </p:sp>
      <p:graphicFrame>
        <p:nvGraphicFramePr>
          <p:cNvPr id="9" name="Editable evidence table"/>
          <p:cNvGraphicFramePr>
            <a:graphicFrameLocks noGrp="1"/>
          </p:cNvGraphicFramePr>
          <p:nvPr/>
        </p:nvGraphicFramePr>
        <p:xfrm>
          <a:off x="731520" y="1828800"/>
          <a:ext cx="10698480" cy="4160520"/>
        </p:xfrm>
        <a:graphic>
          <a:graphicData uri="http://schemas.openxmlformats.org/drawingml/2006/table">
            <a:tbl>
              <a:tblPr firstRow="1" bandRow="1">
                <a:tableStyleId>{5C22544A-7EE6-4342-B048-85BDC9FD1C3A}</a:tableStyleId>
              </a:tblPr>
              <a:tblGrid>
                <a:gridCol w="2139696"/>
                <a:gridCol w="2139696"/>
                <a:gridCol w="2139696"/>
                <a:gridCol w="2139696"/>
                <a:gridCol w="2139696"/>
              </a:tblGrid>
              <a:tr h="320040">
                <a:tc>
                  <a:txBody>
                    <a:bodyPr/>
                    <a:lstStyle/>
                    <a:p>
                      <a:pPr>
                        <a:defRPr sz="1500" b="1">
                          <a:solidFill>
                            <a:srgbClr val="79DCAF"/>
                          </a:solidFill>
                          <a:latin typeface="Arial"/>
                        </a:defRPr>
                      </a:pPr>
                      <a:r>
                        <a:t>Month</a:t>
                      </a:r>
                    </a:p>
                  </a:txBody>
                  <a:tcPr marL="118872" marT="54864">
                    <a:solidFill>
                      <a:srgbClr val="22352A"/>
                    </a:solidFill>
                  </a:tcPr>
                </a:tc>
                <a:tc>
                  <a:txBody>
                    <a:bodyPr/>
                    <a:lstStyle/>
                    <a:p>
                      <a:pPr>
                        <a:defRPr sz="1500" b="1">
                          <a:solidFill>
                            <a:srgbClr val="79DCAF"/>
                          </a:solidFill>
                          <a:latin typeface="Arial"/>
                        </a:defRPr>
                      </a:pPr>
                      <a:r>
                        <a:t>MAU</a:t>
                      </a:r>
                    </a:p>
                  </a:txBody>
                  <a:tcPr marL="118872" marT="54864">
                    <a:solidFill>
                      <a:srgbClr val="22352A"/>
                    </a:solidFill>
                  </a:tcPr>
                </a:tc>
                <a:tc>
                  <a:txBody>
                    <a:bodyPr/>
                    <a:lstStyle/>
                    <a:p>
                      <a:pPr>
                        <a:defRPr sz="1500" b="1">
                          <a:solidFill>
                            <a:srgbClr val="79DCAF"/>
                          </a:solidFill>
                          <a:latin typeface="Arial"/>
                        </a:defRPr>
                      </a:pPr>
                      <a:r>
                        <a:t>Plus</a:t>
                      </a:r>
                    </a:p>
                  </a:txBody>
                  <a:tcPr marL="118872" marT="54864">
                    <a:solidFill>
                      <a:srgbClr val="22352A"/>
                    </a:solidFill>
                  </a:tcPr>
                </a:tc>
                <a:tc>
                  <a:txBody>
                    <a:bodyPr/>
                    <a:lstStyle/>
                    <a:p>
                      <a:pPr>
                        <a:defRPr sz="1500" b="1">
                          <a:solidFill>
                            <a:srgbClr val="79DCAF"/>
                          </a:solidFill>
                          <a:latin typeface="Arial"/>
                        </a:defRPr>
                      </a:pPr>
                      <a:r>
                        <a:t>Campaigns</a:t>
                      </a:r>
                    </a:p>
                  </a:txBody>
                  <a:tcPr marL="118872" marT="54864">
                    <a:solidFill>
                      <a:srgbClr val="22352A"/>
                    </a:solidFill>
                  </a:tcPr>
                </a:tc>
                <a:tc>
                  <a:txBody>
                    <a:bodyPr/>
                    <a:lstStyle/>
                    <a:p>
                      <a:pPr>
                        <a:defRPr sz="1500" b="1">
                          <a:solidFill>
                            <a:srgbClr val="79DCAF"/>
                          </a:solidFill>
                          <a:latin typeface="Arial"/>
                        </a:defRPr>
                      </a:pPr>
                      <a:r>
                        <a:t>Receipts m UZS</a:t>
                      </a:r>
                    </a:p>
                  </a:txBody>
                  <a:tcPr marL="118872" marT="54864">
                    <a:solidFill>
                      <a:srgbClr val="22352A"/>
                    </a:solidFill>
                  </a:tcPr>
                </a:tc>
              </a:tr>
              <a:tr h="320040">
                <a:tc>
                  <a:txBody>
                    <a:bodyPr/>
                    <a:lstStyle/>
                    <a:p>
                      <a:pPr>
                        <a:defRPr sz="1500" b="0">
                          <a:solidFill>
                            <a:srgbClr val="F2F5EE"/>
                          </a:solidFill>
                          <a:latin typeface="Arial"/>
                        </a:defRPr>
                      </a:pPr>
                      <a:r>
                        <a:t>1</a:t>
                      </a:r>
                    </a:p>
                  </a:txBody>
                  <a:tcPr marL="118872" marT="54864">
                    <a:solidFill>
                      <a:srgbClr val="19271F"/>
                    </a:solidFill>
                  </a:tcPr>
                </a:tc>
                <a:tc>
                  <a:txBody>
                    <a:bodyPr/>
                    <a:lstStyle/>
                    <a:p>
                      <a:pPr>
                        <a:defRPr sz="1500" b="0">
                          <a:solidFill>
                            <a:srgbClr val="F2F5EE"/>
                          </a:solidFill>
                          <a:latin typeface="Arial"/>
                        </a:defRPr>
                      </a:pPr>
                      <a:r>
                        <a:t>0</a:t>
                      </a:r>
                    </a:p>
                  </a:txBody>
                  <a:tcPr marL="118872" marT="54864">
                    <a:solidFill>
                      <a:srgbClr val="19271F"/>
                    </a:solidFill>
                  </a:tcPr>
                </a:tc>
                <a:tc>
                  <a:txBody>
                    <a:bodyPr/>
                    <a:lstStyle/>
                    <a:p>
                      <a:pPr>
                        <a:defRPr sz="1500" b="0">
                          <a:solidFill>
                            <a:srgbClr val="F2F5EE"/>
                          </a:solidFill>
                          <a:latin typeface="Arial"/>
                        </a:defRPr>
                      </a:pPr>
                      <a:r>
                        <a:t>0</a:t>
                      </a:r>
                    </a:p>
                  </a:txBody>
                  <a:tcPr marL="118872" marT="54864">
                    <a:solidFill>
                      <a:srgbClr val="19271F"/>
                    </a:solidFill>
                  </a:tcPr>
                </a:tc>
                <a:tc>
                  <a:txBody>
                    <a:bodyPr/>
                    <a:lstStyle/>
                    <a:p>
                      <a:pPr>
                        <a:defRPr sz="1500" b="0">
                          <a:solidFill>
                            <a:srgbClr val="F2F5EE"/>
                          </a:solidFill>
                          <a:latin typeface="Arial"/>
                        </a:defRPr>
                      </a:pPr>
                      <a:r>
                        <a:t>0</a:t>
                      </a:r>
                    </a:p>
                  </a:txBody>
                  <a:tcPr marL="118872" marT="54864">
                    <a:solidFill>
                      <a:srgbClr val="19271F"/>
                    </a:solidFill>
                  </a:tcPr>
                </a:tc>
                <a:tc>
                  <a:txBody>
                    <a:bodyPr/>
                    <a:lstStyle/>
                    <a:p>
                      <a:pPr>
                        <a:defRPr sz="1500" b="0">
                          <a:solidFill>
                            <a:srgbClr val="F2F5EE"/>
                          </a:solidFill>
                          <a:latin typeface="Arial"/>
                        </a:defRPr>
                      </a:pPr>
                      <a:r>
                        <a:t>0.000</a:t>
                      </a:r>
                    </a:p>
                  </a:txBody>
                  <a:tcPr marL="118872" marT="54864">
                    <a:solidFill>
                      <a:srgbClr val="19271F"/>
                    </a:solidFill>
                  </a:tcPr>
                </a:tc>
              </a:tr>
              <a:tr h="320040">
                <a:tc>
                  <a:txBody>
                    <a:bodyPr/>
                    <a:lstStyle/>
                    <a:p>
                      <a:pPr>
                        <a:defRPr sz="1500" b="0">
                          <a:solidFill>
                            <a:srgbClr val="F2F5EE"/>
                          </a:solidFill>
                          <a:latin typeface="Arial"/>
                        </a:defRPr>
                      </a:pPr>
                      <a:r>
                        <a:t>2</a:t>
                      </a:r>
                    </a:p>
                  </a:txBody>
                  <a:tcPr marL="118872" marT="54864">
                    <a:solidFill>
                      <a:srgbClr val="101A16"/>
                    </a:solidFill>
                  </a:tcPr>
                </a:tc>
                <a:tc>
                  <a:txBody>
                    <a:bodyPr/>
                    <a:lstStyle/>
                    <a:p>
                      <a:pPr>
                        <a:defRPr sz="1500" b="0">
                          <a:solidFill>
                            <a:srgbClr val="F2F5EE"/>
                          </a:solidFill>
                          <a:latin typeface="Arial"/>
                        </a:defRPr>
                      </a:pPr>
                      <a:r>
                        <a:t>500</a:t>
                      </a:r>
                    </a:p>
                  </a:txBody>
                  <a:tcPr marL="118872" marT="54864">
                    <a:solidFill>
                      <a:srgbClr val="101A16"/>
                    </a:solidFill>
                  </a:tcPr>
                </a:tc>
                <a:tc>
                  <a:txBody>
                    <a:bodyPr/>
                    <a:lstStyle/>
                    <a:p>
                      <a:pPr>
                        <a:defRPr sz="1500" b="0">
                          <a:solidFill>
                            <a:srgbClr val="F2F5EE"/>
                          </a:solidFill>
                          <a:latin typeface="Arial"/>
                        </a:defRPr>
                      </a:pPr>
                      <a:r>
                        <a:t>10</a:t>
                      </a:r>
                    </a:p>
                  </a:txBody>
                  <a:tcPr marL="118872" marT="54864">
                    <a:solidFill>
                      <a:srgbClr val="101A16"/>
                    </a:solidFill>
                  </a:tcPr>
                </a:tc>
                <a:tc>
                  <a:txBody>
                    <a:bodyPr/>
                    <a:lstStyle/>
                    <a:p>
                      <a:pPr>
                        <a:defRPr sz="1500" b="0">
                          <a:solidFill>
                            <a:srgbClr val="F2F5EE"/>
                          </a:solidFill>
                          <a:latin typeface="Arial"/>
                        </a:defRPr>
                      </a:pPr>
                      <a:r>
                        <a:t>0</a:t>
                      </a:r>
                    </a:p>
                  </a:txBody>
                  <a:tcPr marL="118872" marT="54864">
                    <a:solidFill>
                      <a:srgbClr val="101A16"/>
                    </a:solidFill>
                  </a:tcPr>
                </a:tc>
                <a:tc>
                  <a:txBody>
                    <a:bodyPr/>
                    <a:lstStyle/>
                    <a:p>
                      <a:pPr>
                        <a:defRPr sz="1500" b="0">
                          <a:solidFill>
                            <a:srgbClr val="F2F5EE"/>
                          </a:solidFill>
                          <a:latin typeface="Arial"/>
                        </a:defRPr>
                      </a:pPr>
                      <a:r>
                        <a:t>0.409</a:t>
                      </a:r>
                    </a:p>
                  </a:txBody>
                  <a:tcPr marL="118872" marT="54864">
                    <a:solidFill>
                      <a:srgbClr val="101A16"/>
                    </a:solidFill>
                  </a:tcPr>
                </a:tc>
              </a:tr>
              <a:tr h="320040">
                <a:tc>
                  <a:txBody>
                    <a:bodyPr/>
                    <a:lstStyle/>
                    <a:p>
                      <a:pPr>
                        <a:defRPr sz="1500" b="0">
                          <a:solidFill>
                            <a:srgbClr val="F2F5EE"/>
                          </a:solidFill>
                          <a:latin typeface="Arial"/>
                        </a:defRPr>
                      </a:pPr>
                      <a:r>
                        <a:t>3</a:t>
                      </a:r>
                    </a:p>
                  </a:txBody>
                  <a:tcPr marL="118872" marT="54864">
                    <a:solidFill>
                      <a:srgbClr val="19271F"/>
                    </a:solidFill>
                  </a:tcPr>
                </a:tc>
                <a:tc>
                  <a:txBody>
                    <a:bodyPr/>
                    <a:lstStyle/>
                    <a:p>
                      <a:pPr>
                        <a:defRPr sz="1500" b="0">
                          <a:solidFill>
                            <a:srgbClr val="F2F5EE"/>
                          </a:solidFill>
                          <a:latin typeface="Arial"/>
                        </a:defRPr>
                      </a:pPr>
                      <a:r>
                        <a:t>1 500</a:t>
                      </a:r>
                    </a:p>
                  </a:txBody>
                  <a:tcPr marL="118872" marT="54864">
                    <a:solidFill>
                      <a:srgbClr val="19271F"/>
                    </a:solidFill>
                  </a:tcPr>
                </a:tc>
                <a:tc>
                  <a:txBody>
                    <a:bodyPr/>
                    <a:lstStyle/>
                    <a:p>
                      <a:pPr>
                        <a:defRPr sz="1500" b="0">
                          <a:solidFill>
                            <a:srgbClr val="F2F5EE"/>
                          </a:solidFill>
                          <a:latin typeface="Arial"/>
                        </a:defRPr>
                      </a:pPr>
                      <a:r>
                        <a:t>37</a:t>
                      </a:r>
                    </a:p>
                  </a:txBody>
                  <a:tcPr marL="118872" marT="54864">
                    <a:solidFill>
                      <a:srgbClr val="19271F"/>
                    </a:solidFill>
                  </a:tcPr>
                </a:tc>
                <a:tc>
                  <a:txBody>
                    <a:bodyPr/>
                    <a:lstStyle/>
                    <a:p>
                      <a:pPr>
                        <a:defRPr sz="1500" b="0">
                          <a:solidFill>
                            <a:srgbClr val="F2F5EE"/>
                          </a:solidFill>
                          <a:latin typeface="Arial"/>
                        </a:defRPr>
                      </a:pPr>
                      <a:r>
                        <a:t>1</a:t>
                      </a:r>
                    </a:p>
                  </a:txBody>
                  <a:tcPr marL="118872" marT="54864">
                    <a:solidFill>
                      <a:srgbClr val="19271F"/>
                    </a:solidFill>
                  </a:tcPr>
                </a:tc>
                <a:tc>
                  <a:txBody>
                    <a:bodyPr/>
                    <a:lstStyle/>
                    <a:p>
                      <a:pPr>
                        <a:defRPr sz="1500" b="0">
                          <a:solidFill>
                            <a:srgbClr val="F2F5EE"/>
                          </a:solidFill>
                          <a:latin typeface="Arial"/>
                        </a:defRPr>
                      </a:pPr>
                      <a:r>
                        <a:t>2.081</a:t>
                      </a:r>
                    </a:p>
                  </a:txBody>
                  <a:tcPr marL="118872" marT="54864">
                    <a:solidFill>
                      <a:srgbClr val="19271F"/>
                    </a:solidFill>
                  </a:tcPr>
                </a:tc>
              </a:tr>
              <a:tr h="320040">
                <a:tc>
                  <a:txBody>
                    <a:bodyPr/>
                    <a:lstStyle/>
                    <a:p>
                      <a:pPr>
                        <a:defRPr sz="1500" b="0">
                          <a:solidFill>
                            <a:srgbClr val="F2F5EE"/>
                          </a:solidFill>
                          <a:latin typeface="Arial"/>
                        </a:defRPr>
                      </a:pPr>
                      <a:r>
                        <a:t>4</a:t>
                      </a:r>
                    </a:p>
                  </a:txBody>
                  <a:tcPr marL="118872" marT="54864">
                    <a:solidFill>
                      <a:srgbClr val="101A16"/>
                    </a:solidFill>
                  </a:tcPr>
                </a:tc>
                <a:tc>
                  <a:txBody>
                    <a:bodyPr/>
                    <a:lstStyle/>
                    <a:p>
                      <a:pPr>
                        <a:defRPr sz="1500" b="0">
                          <a:solidFill>
                            <a:srgbClr val="F2F5EE"/>
                          </a:solidFill>
                          <a:latin typeface="Arial"/>
                        </a:defRPr>
                      </a:pPr>
                      <a:r>
                        <a:t>3 000</a:t>
                      </a:r>
                    </a:p>
                  </a:txBody>
                  <a:tcPr marL="118872" marT="54864">
                    <a:solidFill>
                      <a:srgbClr val="101A16"/>
                    </a:solidFill>
                  </a:tcPr>
                </a:tc>
                <a:tc>
                  <a:txBody>
                    <a:bodyPr/>
                    <a:lstStyle/>
                    <a:p>
                      <a:pPr>
                        <a:defRPr sz="1500" b="0">
                          <a:solidFill>
                            <a:srgbClr val="F2F5EE"/>
                          </a:solidFill>
                          <a:latin typeface="Arial"/>
                        </a:defRPr>
                      </a:pPr>
                      <a:r>
                        <a:t>90</a:t>
                      </a:r>
                    </a:p>
                  </a:txBody>
                  <a:tcPr marL="118872" marT="54864">
                    <a:solidFill>
                      <a:srgbClr val="101A16"/>
                    </a:solidFill>
                  </a:tcPr>
                </a:tc>
                <a:tc>
                  <a:txBody>
                    <a:bodyPr/>
                    <a:lstStyle/>
                    <a:p>
                      <a:pPr>
                        <a:defRPr sz="1500" b="0">
                          <a:solidFill>
                            <a:srgbClr val="F2F5EE"/>
                          </a:solidFill>
                          <a:latin typeface="Arial"/>
                        </a:defRPr>
                      </a:pPr>
                      <a:r>
                        <a:t>2</a:t>
                      </a:r>
                    </a:p>
                  </a:txBody>
                  <a:tcPr marL="118872" marT="54864">
                    <a:solidFill>
                      <a:srgbClr val="101A16"/>
                    </a:solidFill>
                  </a:tcPr>
                </a:tc>
                <a:tc>
                  <a:txBody>
                    <a:bodyPr/>
                    <a:lstStyle/>
                    <a:p>
                      <a:pPr>
                        <a:defRPr sz="1500" b="0">
                          <a:solidFill>
                            <a:srgbClr val="F2F5EE"/>
                          </a:solidFill>
                          <a:latin typeface="Arial"/>
                        </a:defRPr>
                      </a:pPr>
                      <a:r>
                        <a:t>4.776</a:t>
                      </a:r>
                    </a:p>
                  </a:txBody>
                  <a:tcPr marL="118872" marT="54864">
                    <a:solidFill>
                      <a:srgbClr val="101A16"/>
                    </a:solidFill>
                  </a:tcPr>
                </a:tc>
              </a:tr>
              <a:tr h="320040">
                <a:tc>
                  <a:txBody>
                    <a:bodyPr/>
                    <a:lstStyle/>
                    <a:p>
                      <a:pPr>
                        <a:defRPr sz="1500" b="0">
                          <a:solidFill>
                            <a:srgbClr val="F2F5EE"/>
                          </a:solidFill>
                          <a:latin typeface="Arial"/>
                        </a:defRPr>
                      </a:pPr>
                      <a:r>
                        <a:t>5</a:t>
                      </a:r>
                    </a:p>
                  </a:txBody>
                  <a:tcPr marL="118872" marT="54864">
                    <a:solidFill>
                      <a:srgbClr val="19271F"/>
                    </a:solidFill>
                  </a:tcPr>
                </a:tc>
                <a:tc>
                  <a:txBody>
                    <a:bodyPr/>
                    <a:lstStyle/>
                    <a:p>
                      <a:pPr>
                        <a:defRPr sz="1500" b="0">
                          <a:solidFill>
                            <a:srgbClr val="F2F5EE"/>
                          </a:solidFill>
                          <a:latin typeface="Arial"/>
                        </a:defRPr>
                      </a:pPr>
                      <a:r>
                        <a:t>5 000</a:t>
                      </a:r>
                    </a:p>
                  </a:txBody>
                  <a:tcPr marL="118872" marT="54864">
                    <a:solidFill>
                      <a:srgbClr val="19271F"/>
                    </a:solidFill>
                  </a:tcPr>
                </a:tc>
                <a:tc>
                  <a:txBody>
                    <a:bodyPr/>
                    <a:lstStyle/>
                    <a:p>
                      <a:pPr>
                        <a:defRPr sz="1500" b="0">
                          <a:solidFill>
                            <a:srgbClr val="F2F5EE"/>
                          </a:solidFill>
                          <a:latin typeface="Arial"/>
                        </a:defRPr>
                      </a:pPr>
                      <a:r>
                        <a:t>150</a:t>
                      </a:r>
                    </a:p>
                  </a:txBody>
                  <a:tcPr marL="118872" marT="54864">
                    <a:solidFill>
                      <a:srgbClr val="19271F"/>
                    </a:solidFill>
                  </a:tcPr>
                </a:tc>
                <a:tc>
                  <a:txBody>
                    <a:bodyPr/>
                    <a:lstStyle/>
                    <a:p>
                      <a:pPr>
                        <a:defRPr sz="1500" b="0">
                          <a:solidFill>
                            <a:srgbClr val="F2F5EE"/>
                          </a:solidFill>
                          <a:latin typeface="Arial"/>
                        </a:defRPr>
                      </a:pPr>
                      <a:r>
                        <a:t>3</a:t>
                      </a:r>
                    </a:p>
                  </a:txBody>
                  <a:tcPr marL="118872" marT="54864">
                    <a:solidFill>
                      <a:srgbClr val="19271F"/>
                    </a:solidFill>
                  </a:tcPr>
                </a:tc>
                <a:tc>
                  <a:txBody>
                    <a:bodyPr/>
                    <a:lstStyle/>
                    <a:p>
                      <a:pPr>
                        <a:defRPr sz="1500" b="0">
                          <a:solidFill>
                            <a:srgbClr val="F2F5EE"/>
                          </a:solidFill>
                          <a:latin typeface="Arial"/>
                        </a:defRPr>
                      </a:pPr>
                      <a:r>
                        <a:t>7.765</a:t>
                      </a:r>
                    </a:p>
                  </a:txBody>
                  <a:tcPr marL="118872" marT="54864">
                    <a:solidFill>
                      <a:srgbClr val="19271F"/>
                    </a:solidFill>
                  </a:tcPr>
                </a:tc>
              </a:tr>
              <a:tr h="320040">
                <a:tc>
                  <a:txBody>
                    <a:bodyPr/>
                    <a:lstStyle/>
                    <a:p>
                      <a:pPr>
                        <a:defRPr sz="1500" b="0">
                          <a:solidFill>
                            <a:srgbClr val="F2F5EE"/>
                          </a:solidFill>
                          <a:latin typeface="Arial"/>
                        </a:defRPr>
                      </a:pPr>
                      <a:r>
                        <a:t>6</a:t>
                      </a:r>
                    </a:p>
                  </a:txBody>
                  <a:tcPr marL="118872" marT="54864">
                    <a:solidFill>
                      <a:srgbClr val="101A16"/>
                    </a:solidFill>
                  </a:tcPr>
                </a:tc>
                <a:tc>
                  <a:txBody>
                    <a:bodyPr/>
                    <a:lstStyle/>
                    <a:p>
                      <a:pPr>
                        <a:defRPr sz="1500" b="0">
                          <a:solidFill>
                            <a:srgbClr val="F2F5EE"/>
                          </a:solidFill>
                          <a:latin typeface="Arial"/>
                        </a:defRPr>
                      </a:pPr>
                      <a:r>
                        <a:t>7 500</a:t>
                      </a:r>
                    </a:p>
                  </a:txBody>
                  <a:tcPr marL="118872" marT="54864">
                    <a:solidFill>
                      <a:srgbClr val="101A16"/>
                    </a:solidFill>
                  </a:tcPr>
                </a:tc>
                <a:tc>
                  <a:txBody>
                    <a:bodyPr/>
                    <a:lstStyle/>
                    <a:p>
                      <a:pPr>
                        <a:defRPr sz="1500" b="0">
                          <a:solidFill>
                            <a:srgbClr val="F2F5EE"/>
                          </a:solidFill>
                          <a:latin typeface="Arial"/>
                        </a:defRPr>
                      </a:pPr>
                      <a:r>
                        <a:t>262</a:t>
                      </a:r>
                    </a:p>
                  </a:txBody>
                  <a:tcPr marL="118872" marT="54864">
                    <a:solidFill>
                      <a:srgbClr val="101A16"/>
                    </a:solidFill>
                  </a:tcPr>
                </a:tc>
                <a:tc>
                  <a:txBody>
                    <a:bodyPr/>
                    <a:lstStyle/>
                    <a:p>
                      <a:pPr>
                        <a:defRPr sz="1500" b="0">
                          <a:solidFill>
                            <a:srgbClr val="F2F5EE"/>
                          </a:solidFill>
                          <a:latin typeface="Arial"/>
                        </a:defRPr>
                      </a:pPr>
                      <a:r>
                        <a:t>4</a:t>
                      </a:r>
                    </a:p>
                  </a:txBody>
                  <a:tcPr marL="118872" marT="54864">
                    <a:solidFill>
                      <a:srgbClr val="101A16"/>
                    </a:solidFill>
                  </a:tcPr>
                </a:tc>
                <a:tc>
                  <a:txBody>
                    <a:bodyPr/>
                    <a:lstStyle/>
                    <a:p>
                      <a:pPr>
                        <a:defRPr sz="1500" b="0">
                          <a:solidFill>
                            <a:srgbClr val="F2F5EE"/>
                          </a:solidFill>
                          <a:latin typeface="Arial"/>
                        </a:defRPr>
                      </a:pPr>
                      <a:r>
                        <a:t>12.775</a:t>
                      </a:r>
                    </a:p>
                  </a:txBody>
                  <a:tcPr marL="118872" marT="54864">
                    <a:solidFill>
                      <a:srgbClr val="101A16"/>
                    </a:solidFill>
                  </a:tcPr>
                </a:tc>
              </a:tr>
              <a:tr h="320040">
                <a:tc>
                  <a:txBody>
                    <a:bodyPr/>
                    <a:lstStyle/>
                    <a:p>
                      <a:pPr>
                        <a:defRPr sz="1500" b="0">
                          <a:solidFill>
                            <a:srgbClr val="F2F5EE"/>
                          </a:solidFill>
                          <a:latin typeface="Arial"/>
                        </a:defRPr>
                      </a:pPr>
                      <a:r>
                        <a:t>7</a:t>
                      </a:r>
                    </a:p>
                  </a:txBody>
                  <a:tcPr marL="118872" marT="54864">
                    <a:solidFill>
                      <a:srgbClr val="19271F"/>
                    </a:solidFill>
                  </a:tcPr>
                </a:tc>
                <a:tc>
                  <a:txBody>
                    <a:bodyPr/>
                    <a:lstStyle/>
                    <a:p>
                      <a:pPr>
                        <a:defRPr sz="1500" b="0">
                          <a:solidFill>
                            <a:srgbClr val="F2F5EE"/>
                          </a:solidFill>
                          <a:latin typeface="Arial"/>
                        </a:defRPr>
                      </a:pPr>
                      <a:r>
                        <a:t>10 000</a:t>
                      </a:r>
                    </a:p>
                  </a:txBody>
                  <a:tcPr marL="118872" marT="54864">
                    <a:solidFill>
                      <a:srgbClr val="19271F"/>
                    </a:solidFill>
                  </a:tcPr>
                </a:tc>
                <a:tc>
                  <a:txBody>
                    <a:bodyPr/>
                    <a:lstStyle/>
                    <a:p>
                      <a:pPr>
                        <a:defRPr sz="1500" b="0">
                          <a:solidFill>
                            <a:srgbClr val="F2F5EE"/>
                          </a:solidFill>
                          <a:latin typeface="Arial"/>
                        </a:defRPr>
                      </a:pPr>
                      <a:r>
                        <a:t>400</a:t>
                      </a:r>
                    </a:p>
                  </a:txBody>
                  <a:tcPr marL="118872" marT="54864">
                    <a:solidFill>
                      <a:srgbClr val="19271F"/>
                    </a:solidFill>
                  </a:tcPr>
                </a:tc>
                <a:tc>
                  <a:txBody>
                    <a:bodyPr/>
                    <a:lstStyle/>
                    <a:p>
                      <a:pPr>
                        <a:defRPr sz="1500" b="0">
                          <a:solidFill>
                            <a:srgbClr val="F2F5EE"/>
                          </a:solidFill>
                          <a:latin typeface="Arial"/>
                        </a:defRPr>
                      </a:pPr>
                      <a:r>
                        <a:t>6</a:t>
                      </a:r>
                    </a:p>
                  </a:txBody>
                  <a:tcPr marL="118872" marT="54864">
                    <a:solidFill>
                      <a:srgbClr val="19271F"/>
                    </a:solidFill>
                  </a:tcPr>
                </a:tc>
                <a:tc>
                  <a:txBody>
                    <a:bodyPr/>
                    <a:lstStyle/>
                    <a:p>
                      <a:pPr>
                        <a:defRPr sz="1500" b="0">
                          <a:solidFill>
                            <a:srgbClr val="F2F5EE"/>
                          </a:solidFill>
                          <a:latin typeface="Arial"/>
                        </a:defRPr>
                      </a:pPr>
                      <a:r>
                        <a:t>19.369</a:t>
                      </a:r>
                    </a:p>
                  </a:txBody>
                  <a:tcPr marL="118872" marT="54864">
                    <a:solidFill>
                      <a:srgbClr val="19271F"/>
                    </a:solidFill>
                  </a:tcPr>
                </a:tc>
              </a:tr>
              <a:tr h="320040">
                <a:tc>
                  <a:txBody>
                    <a:bodyPr/>
                    <a:lstStyle/>
                    <a:p>
                      <a:pPr>
                        <a:defRPr sz="1500" b="0">
                          <a:solidFill>
                            <a:srgbClr val="F2F5EE"/>
                          </a:solidFill>
                          <a:latin typeface="Arial"/>
                        </a:defRPr>
                      </a:pPr>
                      <a:r>
                        <a:t>8</a:t>
                      </a:r>
                    </a:p>
                  </a:txBody>
                  <a:tcPr marL="118872" marT="54864">
                    <a:solidFill>
                      <a:srgbClr val="101A16"/>
                    </a:solidFill>
                  </a:tcPr>
                </a:tc>
                <a:tc>
                  <a:txBody>
                    <a:bodyPr/>
                    <a:lstStyle/>
                    <a:p>
                      <a:pPr>
                        <a:defRPr sz="1500" b="0">
                          <a:solidFill>
                            <a:srgbClr val="F2F5EE"/>
                          </a:solidFill>
                          <a:latin typeface="Arial"/>
                        </a:defRPr>
                      </a:pPr>
                      <a:r>
                        <a:t>12 500</a:t>
                      </a:r>
                    </a:p>
                  </a:txBody>
                  <a:tcPr marL="118872" marT="54864">
                    <a:solidFill>
                      <a:srgbClr val="101A16"/>
                    </a:solidFill>
                  </a:tcPr>
                </a:tc>
                <a:tc>
                  <a:txBody>
                    <a:bodyPr/>
                    <a:lstStyle/>
                    <a:p>
                      <a:pPr>
                        <a:defRPr sz="1500" b="0">
                          <a:solidFill>
                            <a:srgbClr val="F2F5EE"/>
                          </a:solidFill>
                          <a:latin typeface="Arial"/>
                        </a:defRPr>
                      </a:pPr>
                      <a:r>
                        <a:t>500</a:t>
                      </a:r>
                    </a:p>
                  </a:txBody>
                  <a:tcPr marL="118872" marT="54864">
                    <a:solidFill>
                      <a:srgbClr val="101A16"/>
                    </a:solidFill>
                  </a:tcPr>
                </a:tc>
                <a:tc>
                  <a:txBody>
                    <a:bodyPr/>
                    <a:lstStyle/>
                    <a:p>
                      <a:pPr>
                        <a:defRPr sz="1500" b="0">
                          <a:solidFill>
                            <a:srgbClr val="F2F5EE"/>
                          </a:solidFill>
                          <a:latin typeface="Arial"/>
                        </a:defRPr>
                      </a:pPr>
                      <a:r>
                        <a:t>8</a:t>
                      </a:r>
                    </a:p>
                  </a:txBody>
                  <a:tcPr marL="118872" marT="54864">
                    <a:solidFill>
                      <a:srgbClr val="101A16"/>
                    </a:solidFill>
                  </a:tcPr>
                </a:tc>
                <a:tc>
                  <a:txBody>
                    <a:bodyPr/>
                    <a:lstStyle/>
                    <a:p>
                      <a:pPr>
                        <a:defRPr sz="1500" b="0">
                          <a:solidFill>
                            <a:srgbClr val="F2F5EE"/>
                          </a:solidFill>
                          <a:latin typeface="Arial"/>
                        </a:defRPr>
                      </a:pPr>
                      <a:r>
                        <a:t>24.504</a:t>
                      </a:r>
                    </a:p>
                  </a:txBody>
                  <a:tcPr marL="118872" marT="54864">
                    <a:solidFill>
                      <a:srgbClr val="101A16"/>
                    </a:solidFill>
                  </a:tcPr>
                </a:tc>
              </a:tr>
              <a:tr h="320040">
                <a:tc>
                  <a:txBody>
                    <a:bodyPr/>
                    <a:lstStyle/>
                    <a:p>
                      <a:pPr>
                        <a:defRPr sz="1500" b="0">
                          <a:solidFill>
                            <a:srgbClr val="F2F5EE"/>
                          </a:solidFill>
                          <a:latin typeface="Arial"/>
                        </a:defRPr>
                      </a:pPr>
                      <a:r>
                        <a:t>9</a:t>
                      </a:r>
                    </a:p>
                  </a:txBody>
                  <a:tcPr marL="118872" marT="54864">
                    <a:solidFill>
                      <a:srgbClr val="19271F"/>
                    </a:solidFill>
                  </a:tcPr>
                </a:tc>
                <a:tc>
                  <a:txBody>
                    <a:bodyPr/>
                    <a:lstStyle/>
                    <a:p>
                      <a:pPr>
                        <a:defRPr sz="1500" b="0">
                          <a:solidFill>
                            <a:srgbClr val="F2F5EE"/>
                          </a:solidFill>
                          <a:latin typeface="Arial"/>
                        </a:defRPr>
                      </a:pPr>
                      <a:r>
                        <a:t>15 000</a:t>
                      </a:r>
                    </a:p>
                  </a:txBody>
                  <a:tcPr marL="118872" marT="54864">
                    <a:solidFill>
                      <a:srgbClr val="19271F"/>
                    </a:solidFill>
                  </a:tcPr>
                </a:tc>
                <a:tc>
                  <a:txBody>
                    <a:bodyPr/>
                    <a:lstStyle/>
                    <a:p>
                      <a:pPr>
                        <a:defRPr sz="1500" b="0">
                          <a:solidFill>
                            <a:srgbClr val="F2F5EE"/>
                          </a:solidFill>
                          <a:latin typeface="Arial"/>
                        </a:defRPr>
                      </a:pPr>
                      <a:r>
                        <a:t>675</a:t>
                      </a:r>
                    </a:p>
                  </a:txBody>
                  <a:tcPr marL="118872" marT="54864">
                    <a:solidFill>
                      <a:srgbClr val="19271F"/>
                    </a:solidFill>
                  </a:tcPr>
                </a:tc>
                <a:tc>
                  <a:txBody>
                    <a:bodyPr/>
                    <a:lstStyle/>
                    <a:p>
                      <a:pPr>
                        <a:defRPr sz="1500" b="0">
                          <a:solidFill>
                            <a:srgbClr val="F2F5EE"/>
                          </a:solidFill>
                          <a:latin typeface="Arial"/>
                        </a:defRPr>
                      </a:pPr>
                      <a:r>
                        <a:t>10</a:t>
                      </a:r>
                    </a:p>
                  </a:txBody>
                  <a:tcPr marL="118872" marT="54864">
                    <a:solidFill>
                      <a:srgbClr val="19271F"/>
                    </a:solidFill>
                  </a:tcPr>
                </a:tc>
                <a:tc>
                  <a:txBody>
                    <a:bodyPr/>
                    <a:lstStyle/>
                    <a:p>
                      <a:pPr>
                        <a:defRPr sz="1500" b="0">
                          <a:solidFill>
                            <a:srgbClr val="F2F5EE"/>
                          </a:solidFill>
                          <a:latin typeface="Arial"/>
                        </a:defRPr>
                      </a:pPr>
                      <a:r>
                        <a:t>32.519</a:t>
                      </a:r>
                    </a:p>
                  </a:txBody>
                  <a:tcPr marL="118872" marT="54864">
                    <a:solidFill>
                      <a:srgbClr val="19271F"/>
                    </a:solidFill>
                  </a:tcPr>
                </a:tc>
              </a:tr>
              <a:tr h="320040">
                <a:tc>
                  <a:txBody>
                    <a:bodyPr/>
                    <a:lstStyle/>
                    <a:p>
                      <a:pPr>
                        <a:defRPr sz="1500" b="0">
                          <a:solidFill>
                            <a:srgbClr val="F2F5EE"/>
                          </a:solidFill>
                          <a:latin typeface="Arial"/>
                        </a:defRPr>
                      </a:pPr>
                      <a:r>
                        <a:t>10</a:t>
                      </a:r>
                    </a:p>
                  </a:txBody>
                  <a:tcPr marL="118872" marT="54864">
                    <a:solidFill>
                      <a:srgbClr val="101A16"/>
                    </a:solidFill>
                  </a:tcPr>
                </a:tc>
                <a:tc>
                  <a:txBody>
                    <a:bodyPr/>
                    <a:lstStyle/>
                    <a:p>
                      <a:pPr>
                        <a:defRPr sz="1500" b="0">
                          <a:solidFill>
                            <a:srgbClr val="F2F5EE"/>
                          </a:solidFill>
                          <a:latin typeface="Arial"/>
                        </a:defRPr>
                      </a:pPr>
                      <a:r>
                        <a:t>18 000</a:t>
                      </a:r>
                    </a:p>
                  </a:txBody>
                  <a:tcPr marL="118872" marT="54864">
                    <a:solidFill>
                      <a:srgbClr val="101A16"/>
                    </a:solidFill>
                  </a:tcPr>
                </a:tc>
                <a:tc>
                  <a:txBody>
                    <a:bodyPr/>
                    <a:lstStyle/>
                    <a:p>
                      <a:pPr>
                        <a:defRPr sz="1500" b="0">
                          <a:solidFill>
                            <a:srgbClr val="F2F5EE"/>
                          </a:solidFill>
                          <a:latin typeface="Arial"/>
                        </a:defRPr>
                      </a:pPr>
                      <a:r>
                        <a:t>810</a:t>
                      </a:r>
                    </a:p>
                  </a:txBody>
                  <a:tcPr marL="118872" marT="54864">
                    <a:solidFill>
                      <a:srgbClr val="101A16"/>
                    </a:solidFill>
                  </a:tcPr>
                </a:tc>
                <a:tc>
                  <a:txBody>
                    <a:bodyPr/>
                    <a:lstStyle/>
                    <a:p>
                      <a:pPr>
                        <a:defRPr sz="1500" b="0">
                          <a:solidFill>
                            <a:srgbClr val="F2F5EE"/>
                          </a:solidFill>
                          <a:latin typeface="Arial"/>
                        </a:defRPr>
                      </a:pPr>
                      <a:r>
                        <a:t>12</a:t>
                      </a:r>
                    </a:p>
                  </a:txBody>
                  <a:tcPr marL="118872" marT="54864">
                    <a:solidFill>
                      <a:srgbClr val="101A16"/>
                    </a:solidFill>
                  </a:tcPr>
                </a:tc>
                <a:tc>
                  <a:txBody>
                    <a:bodyPr/>
                    <a:lstStyle/>
                    <a:p>
                      <a:pPr>
                        <a:defRPr sz="1500" b="0">
                          <a:solidFill>
                            <a:srgbClr val="F2F5EE"/>
                          </a:solidFill>
                          <a:latin typeface="Arial"/>
                        </a:defRPr>
                      </a:pPr>
                      <a:r>
                        <a:t>39.022</a:t>
                      </a:r>
                    </a:p>
                  </a:txBody>
                  <a:tcPr marL="118872" marT="54864">
                    <a:solidFill>
                      <a:srgbClr val="101A16"/>
                    </a:solidFill>
                  </a:tcPr>
                </a:tc>
              </a:tr>
              <a:tr h="320040">
                <a:tc>
                  <a:txBody>
                    <a:bodyPr/>
                    <a:lstStyle/>
                    <a:p>
                      <a:pPr>
                        <a:defRPr sz="1500" b="0">
                          <a:solidFill>
                            <a:srgbClr val="F2F5EE"/>
                          </a:solidFill>
                          <a:latin typeface="Arial"/>
                        </a:defRPr>
                      </a:pPr>
                      <a:r>
                        <a:t>11</a:t>
                      </a:r>
                    </a:p>
                  </a:txBody>
                  <a:tcPr marL="118872" marT="54864">
                    <a:solidFill>
                      <a:srgbClr val="19271F"/>
                    </a:solidFill>
                  </a:tcPr>
                </a:tc>
                <a:tc>
                  <a:txBody>
                    <a:bodyPr/>
                    <a:lstStyle/>
                    <a:p>
                      <a:pPr>
                        <a:defRPr sz="1500" b="0">
                          <a:solidFill>
                            <a:srgbClr val="F2F5EE"/>
                          </a:solidFill>
                          <a:latin typeface="Arial"/>
                        </a:defRPr>
                      </a:pPr>
                      <a:r>
                        <a:t>21 000</a:t>
                      </a:r>
                    </a:p>
                  </a:txBody>
                  <a:tcPr marL="118872" marT="54864">
                    <a:solidFill>
                      <a:srgbClr val="19271F"/>
                    </a:solidFill>
                  </a:tcPr>
                </a:tc>
                <a:tc>
                  <a:txBody>
                    <a:bodyPr/>
                    <a:lstStyle/>
                    <a:p>
                      <a:pPr>
                        <a:defRPr sz="1500" b="0">
                          <a:solidFill>
                            <a:srgbClr val="F2F5EE"/>
                          </a:solidFill>
                          <a:latin typeface="Arial"/>
                        </a:defRPr>
                      </a:pPr>
                      <a:r>
                        <a:t>1050</a:t>
                      </a:r>
                    </a:p>
                  </a:txBody>
                  <a:tcPr marL="118872" marT="54864">
                    <a:solidFill>
                      <a:srgbClr val="19271F"/>
                    </a:solidFill>
                  </a:tcPr>
                </a:tc>
                <a:tc>
                  <a:txBody>
                    <a:bodyPr/>
                    <a:lstStyle/>
                    <a:p>
                      <a:pPr>
                        <a:defRPr sz="1500" b="0">
                          <a:solidFill>
                            <a:srgbClr val="F2F5EE"/>
                          </a:solidFill>
                          <a:latin typeface="Arial"/>
                        </a:defRPr>
                      </a:pPr>
                      <a:r>
                        <a:t>14</a:t>
                      </a:r>
                    </a:p>
                  </a:txBody>
                  <a:tcPr marL="118872" marT="54864">
                    <a:solidFill>
                      <a:srgbClr val="19271F"/>
                    </a:solidFill>
                  </a:tcPr>
                </a:tc>
                <a:tc>
                  <a:txBody>
                    <a:bodyPr/>
                    <a:lstStyle/>
                    <a:p>
                      <a:pPr>
                        <a:defRPr sz="1500" b="0">
                          <a:solidFill>
                            <a:srgbClr val="F2F5EE"/>
                          </a:solidFill>
                          <a:latin typeface="Arial"/>
                        </a:defRPr>
                      </a:pPr>
                      <a:r>
                        <a:t>49.558</a:t>
                      </a:r>
                    </a:p>
                  </a:txBody>
                  <a:tcPr marL="118872" marT="54864">
                    <a:solidFill>
                      <a:srgbClr val="19271F"/>
                    </a:solidFill>
                  </a:tcPr>
                </a:tc>
              </a:tr>
              <a:tr h="320040">
                <a:tc>
                  <a:txBody>
                    <a:bodyPr/>
                    <a:lstStyle/>
                    <a:p>
                      <a:pPr>
                        <a:defRPr sz="1500" b="0">
                          <a:solidFill>
                            <a:srgbClr val="F2F5EE"/>
                          </a:solidFill>
                          <a:latin typeface="Arial"/>
                        </a:defRPr>
                      </a:pPr>
                      <a:r>
                        <a:t>12</a:t>
                      </a:r>
                    </a:p>
                  </a:txBody>
                  <a:tcPr marL="118872" marT="54864">
                    <a:solidFill>
                      <a:srgbClr val="101A16"/>
                    </a:solidFill>
                  </a:tcPr>
                </a:tc>
                <a:tc>
                  <a:txBody>
                    <a:bodyPr/>
                    <a:lstStyle/>
                    <a:p>
                      <a:pPr>
                        <a:defRPr sz="1500" b="0">
                          <a:solidFill>
                            <a:srgbClr val="F2F5EE"/>
                          </a:solidFill>
                          <a:latin typeface="Arial"/>
                        </a:defRPr>
                      </a:pPr>
                      <a:r>
                        <a:t>25 000</a:t>
                      </a:r>
                    </a:p>
                  </a:txBody>
                  <a:tcPr marL="118872" marT="54864">
                    <a:solidFill>
                      <a:srgbClr val="101A16"/>
                    </a:solidFill>
                  </a:tcPr>
                </a:tc>
                <a:tc>
                  <a:txBody>
                    <a:bodyPr/>
                    <a:lstStyle/>
                    <a:p>
                      <a:pPr>
                        <a:defRPr sz="1500" b="0">
                          <a:solidFill>
                            <a:srgbClr val="F2F5EE"/>
                          </a:solidFill>
                          <a:latin typeface="Arial"/>
                        </a:defRPr>
                      </a:pPr>
                      <a:r>
                        <a:t>1250</a:t>
                      </a:r>
                    </a:p>
                  </a:txBody>
                  <a:tcPr marL="118872" marT="54864">
                    <a:solidFill>
                      <a:srgbClr val="101A16"/>
                    </a:solidFill>
                  </a:tcPr>
                </a:tc>
                <a:tc>
                  <a:txBody>
                    <a:bodyPr/>
                    <a:lstStyle/>
                    <a:p>
                      <a:pPr>
                        <a:defRPr sz="1500" b="0">
                          <a:solidFill>
                            <a:srgbClr val="F2F5EE"/>
                          </a:solidFill>
                          <a:latin typeface="Arial"/>
                        </a:defRPr>
                      </a:pPr>
                      <a:r>
                        <a:t>16</a:t>
                      </a:r>
                    </a:p>
                  </a:txBody>
                  <a:tcPr marL="118872" marT="54864">
                    <a:solidFill>
                      <a:srgbClr val="101A16"/>
                    </a:solidFill>
                  </a:tcPr>
                </a:tc>
                <a:tc>
                  <a:txBody>
                    <a:bodyPr/>
                    <a:lstStyle/>
                    <a:p>
                      <a:pPr>
                        <a:defRPr sz="1500" b="0">
                          <a:solidFill>
                            <a:srgbClr val="F2F5EE"/>
                          </a:solidFill>
                          <a:latin typeface="Arial"/>
                        </a:defRPr>
                      </a:pPr>
                      <a:r>
                        <a:t>58.608</a:t>
                      </a:r>
                    </a:p>
                  </a:txBody>
                  <a:tcPr marL="118872" marT="54864">
                    <a:solidFill>
                      <a:srgbClr val="101A16"/>
                    </a:solidFill>
                  </a:tcPr>
                </a:tc>
              </a:tr>
            </a:tbl>
          </a:graphicData>
        </a:graphic>
      </p:graphicFrame>
    </p:spTree>
  </p:cSld>
  <p:clrMapOvr>
    <a:masterClrMapping/>
  </p:clrMapOvr>
  <p:transition xmlns:p14="http://schemas.microsoft.com/office/powerpoint/2010/main" xmlns:mc="http://schemas.openxmlformats.org/markup-compatibility/2006" spd="fast" p14:dur="320" mc:Ignorable="p14" advClick="1">
    <p:fade/>
  </p:transition>
</p:sld>
</file>

<file path=ppt/slides/slide31.xml><?xml version="1.0" encoding="utf-8"?>
<p:sld xmlns:a="http://schemas.openxmlformats.org/drawingml/2006/main" xmlns:p="http://schemas.openxmlformats.org/presentationml/2006/main" xmlns:r="http://schemas.openxmlformats.org/officeDocument/2006/relationships" show="0">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QUESTIONS AND EVIDENCE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Profit and loss assumptions</a:t>
            </a:r>
          </a:p>
        </p:txBody>
      </p:sp>
      <p:cxnSp>
        <p:nvCxnSpPr>
          <p:cNvPr id="4"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6"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31</a:t>
            </a:r>
          </a:p>
        </p:txBody>
      </p:sp>
      <p:sp>
        <p:nvSpPr>
          <p:cNvPr id="7" name="Button Back to questions">
            <a:hlinkClick action="ppaction://hlinksldjump" r:id="rId2"/>
          </p:cNvPr>
          <p:cNvSpPr/>
          <p:nvPr/>
        </p:nvSpPr>
        <p:spPr>
          <a:xfrm>
            <a:off x="9692640" y="246888"/>
            <a:ext cx="192024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tton label Back to questions">
            <a:hlinkClick action="ppaction://hlinksldjump" r:id="rId2"/>
          </p:cNvPr>
          <p:cNvSpPr txBox="1"/>
          <p:nvPr/>
        </p:nvSpPr>
        <p:spPr>
          <a:xfrm>
            <a:off x="9802367" y="320040"/>
            <a:ext cx="17007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questions</a:t>
            </a:r>
          </a:p>
        </p:txBody>
      </p:sp>
      <p:graphicFrame>
        <p:nvGraphicFramePr>
          <p:cNvPr id="9" name="Editable evidence table"/>
          <p:cNvGraphicFramePr>
            <a:graphicFrameLocks noGrp="1"/>
          </p:cNvGraphicFramePr>
          <p:nvPr/>
        </p:nvGraphicFramePr>
        <p:xfrm>
          <a:off x="777240" y="1965960"/>
          <a:ext cx="6492240" cy="3749039"/>
        </p:xfrm>
        <a:graphic>
          <a:graphicData uri="http://schemas.openxmlformats.org/drawingml/2006/table">
            <a:tbl>
              <a:tblPr firstRow="1" bandRow="1">
                <a:tableStyleId>{5C22544A-7EE6-4342-B048-85BDC9FD1C3A}</a:tableStyleId>
              </a:tblPr>
              <a:tblGrid>
                <a:gridCol w="3246120"/>
                <a:gridCol w="3246120"/>
              </a:tblGrid>
              <a:tr h="535577">
                <a:tc>
                  <a:txBody>
                    <a:bodyPr/>
                    <a:lstStyle/>
                    <a:p>
                      <a:pPr>
                        <a:defRPr sz="1800" b="1">
                          <a:solidFill>
                            <a:srgbClr val="79DCAF"/>
                          </a:solidFill>
                          <a:latin typeface="Arial"/>
                        </a:defRPr>
                      </a:pPr>
                      <a:r>
                        <a:t>Year 1 · million UZS</a:t>
                      </a:r>
                    </a:p>
                  </a:txBody>
                  <a:tcPr marL="118872" marT="54864">
                    <a:solidFill>
                      <a:srgbClr val="22352A"/>
                    </a:solidFill>
                  </a:tcPr>
                </a:tc>
                <a:tc>
                  <a:txBody>
                    <a:bodyPr/>
                    <a:lstStyle/>
                    <a:p>
                      <a:pPr>
                        <a:defRPr sz="1800" b="1">
                          <a:solidFill>
                            <a:srgbClr val="79DCAF"/>
                          </a:solidFill>
                          <a:latin typeface="Arial"/>
                        </a:defRPr>
                      </a:pPr>
                      <a:r>
                        <a:t>Value</a:t>
                      </a:r>
                    </a:p>
                  </a:txBody>
                  <a:tcPr marL="118872" marT="54864">
                    <a:solidFill>
                      <a:srgbClr val="22352A"/>
                    </a:solidFill>
                  </a:tcPr>
                </a:tc>
              </a:tr>
              <a:tr h="535577">
                <a:tc>
                  <a:txBody>
                    <a:bodyPr/>
                    <a:lstStyle/>
                    <a:p>
                      <a:pPr>
                        <a:defRPr sz="1800" b="0">
                          <a:solidFill>
                            <a:srgbClr val="F2F5EE"/>
                          </a:solidFill>
                          <a:latin typeface="Arial"/>
                        </a:defRPr>
                      </a:pPr>
                      <a:r>
                        <a:t>Revenue</a:t>
                      </a:r>
                    </a:p>
                  </a:txBody>
                  <a:tcPr marL="118872" marT="54864">
                    <a:solidFill>
                      <a:srgbClr val="19271F"/>
                    </a:solidFill>
                  </a:tcPr>
                </a:tc>
                <a:tc>
                  <a:txBody>
                    <a:bodyPr/>
                    <a:lstStyle/>
                    <a:p>
                      <a:pPr>
                        <a:defRPr sz="1800" b="0">
                          <a:solidFill>
                            <a:srgbClr val="F2F5EE"/>
                          </a:solidFill>
                          <a:latin typeface="Arial"/>
                        </a:defRPr>
                      </a:pPr>
                      <a:r>
                        <a:t>251.384</a:t>
                      </a:r>
                    </a:p>
                  </a:txBody>
                  <a:tcPr marL="118872" marT="54864">
                    <a:solidFill>
                      <a:srgbClr val="19271F"/>
                    </a:solidFill>
                  </a:tcPr>
                </a:tc>
              </a:tr>
              <a:tr h="535577">
                <a:tc>
                  <a:txBody>
                    <a:bodyPr/>
                    <a:lstStyle/>
                    <a:p>
                      <a:pPr>
                        <a:defRPr sz="1800" b="0">
                          <a:solidFill>
                            <a:srgbClr val="F2F5EE"/>
                          </a:solidFill>
                          <a:latin typeface="Arial"/>
                        </a:defRPr>
                      </a:pPr>
                      <a:r>
                        <a:t>Direct costs</a:t>
                      </a:r>
                    </a:p>
                  </a:txBody>
                  <a:tcPr marL="118872" marT="54864">
                    <a:solidFill>
                      <a:srgbClr val="101A16"/>
                    </a:solidFill>
                  </a:tcPr>
                </a:tc>
                <a:tc>
                  <a:txBody>
                    <a:bodyPr/>
                    <a:lstStyle/>
                    <a:p>
                      <a:pPr>
                        <a:defRPr sz="1800" b="0">
                          <a:solidFill>
                            <a:srgbClr val="F2F5EE"/>
                          </a:solidFill>
                          <a:latin typeface="Arial"/>
                        </a:defRPr>
                      </a:pPr>
                      <a:r>
                        <a:t>90.941</a:t>
                      </a:r>
                    </a:p>
                  </a:txBody>
                  <a:tcPr marL="118872" marT="54864">
                    <a:solidFill>
                      <a:srgbClr val="101A16"/>
                    </a:solidFill>
                  </a:tcPr>
                </a:tc>
              </a:tr>
              <a:tr h="535577">
                <a:tc>
                  <a:txBody>
                    <a:bodyPr/>
                    <a:lstStyle/>
                    <a:p>
                      <a:pPr>
                        <a:defRPr sz="1800" b="0">
                          <a:solidFill>
                            <a:srgbClr val="F2F5EE"/>
                          </a:solidFill>
                          <a:latin typeface="Arial"/>
                        </a:defRPr>
                      </a:pPr>
                      <a:r>
                        <a:t>Gross profit</a:t>
                      </a:r>
                    </a:p>
                  </a:txBody>
                  <a:tcPr marL="118872" marT="54864">
                    <a:solidFill>
                      <a:srgbClr val="19271F"/>
                    </a:solidFill>
                  </a:tcPr>
                </a:tc>
                <a:tc>
                  <a:txBody>
                    <a:bodyPr/>
                    <a:lstStyle/>
                    <a:p>
                      <a:pPr>
                        <a:defRPr sz="1800" b="0">
                          <a:solidFill>
                            <a:srgbClr val="F2F5EE"/>
                          </a:solidFill>
                          <a:latin typeface="Arial"/>
                        </a:defRPr>
                      </a:pPr>
                      <a:r>
                        <a:t>160.443</a:t>
                      </a:r>
                    </a:p>
                  </a:txBody>
                  <a:tcPr marL="118872" marT="54864">
                    <a:solidFill>
                      <a:srgbClr val="19271F"/>
                    </a:solidFill>
                  </a:tcPr>
                </a:tc>
              </a:tr>
              <a:tr h="535577">
                <a:tc>
                  <a:txBody>
                    <a:bodyPr/>
                    <a:lstStyle/>
                    <a:p>
                      <a:pPr>
                        <a:defRPr sz="1800" b="0">
                          <a:solidFill>
                            <a:srgbClr val="F2F5EE"/>
                          </a:solidFill>
                          <a:latin typeface="Arial"/>
                        </a:defRPr>
                      </a:pPr>
                      <a:r>
                        <a:t>Operating expenses</a:t>
                      </a:r>
                    </a:p>
                  </a:txBody>
                  <a:tcPr marL="118872" marT="54864">
                    <a:solidFill>
                      <a:srgbClr val="101A16"/>
                    </a:solidFill>
                  </a:tcPr>
                </a:tc>
                <a:tc>
                  <a:txBody>
                    <a:bodyPr/>
                    <a:lstStyle/>
                    <a:p>
                      <a:pPr>
                        <a:defRPr sz="1800" b="0">
                          <a:solidFill>
                            <a:srgbClr val="F2F5EE"/>
                          </a:solidFill>
                          <a:latin typeface="Arial"/>
                        </a:defRPr>
                      </a:pPr>
                      <a:r>
                        <a:t>348.500</a:t>
                      </a:r>
                    </a:p>
                  </a:txBody>
                  <a:tcPr marL="118872" marT="54864">
                    <a:solidFill>
                      <a:srgbClr val="101A16"/>
                    </a:solidFill>
                  </a:tcPr>
                </a:tc>
              </a:tr>
              <a:tr h="535577">
                <a:tc>
                  <a:txBody>
                    <a:bodyPr/>
                    <a:lstStyle/>
                    <a:p>
                      <a:pPr>
                        <a:defRPr sz="1800" b="0">
                          <a:solidFill>
                            <a:srgbClr val="F2F5EE"/>
                          </a:solidFill>
                          <a:latin typeface="Arial"/>
                        </a:defRPr>
                      </a:pPr>
                      <a:r>
                        <a:t>Tax planning reserve</a:t>
                      </a:r>
                    </a:p>
                  </a:txBody>
                  <a:tcPr marL="118872" marT="54864">
                    <a:solidFill>
                      <a:srgbClr val="19271F"/>
                    </a:solidFill>
                  </a:tcPr>
                </a:tc>
                <a:tc>
                  <a:txBody>
                    <a:bodyPr/>
                    <a:lstStyle/>
                    <a:p>
                      <a:pPr>
                        <a:defRPr sz="1800" b="0">
                          <a:solidFill>
                            <a:srgbClr val="F2F5EE"/>
                          </a:solidFill>
                          <a:latin typeface="Arial"/>
                        </a:defRPr>
                      </a:pPr>
                      <a:r>
                        <a:t>10.055</a:t>
                      </a:r>
                    </a:p>
                  </a:txBody>
                  <a:tcPr marL="118872" marT="54864">
                    <a:solidFill>
                      <a:srgbClr val="19271F"/>
                    </a:solidFill>
                  </a:tcPr>
                </a:tc>
              </a:tr>
              <a:tr h="535577">
                <a:tc>
                  <a:txBody>
                    <a:bodyPr/>
                    <a:lstStyle/>
                    <a:p>
                      <a:pPr>
                        <a:defRPr sz="1800" b="0">
                          <a:solidFill>
                            <a:srgbClr val="F2F5EE"/>
                          </a:solidFill>
                          <a:latin typeface="Arial"/>
                        </a:defRPr>
                      </a:pPr>
                      <a:r>
                        <a:t>Operating loss</a:t>
                      </a:r>
                    </a:p>
                  </a:txBody>
                  <a:tcPr marL="118872" marT="54864">
                    <a:solidFill>
                      <a:srgbClr val="101A16"/>
                    </a:solidFill>
                  </a:tcPr>
                </a:tc>
                <a:tc>
                  <a:txBody>
                    <a:bodyPr/>
                    <a:lstStyle/>
                    <a:p>
                      <a:pPr>
                        <a:defRPr sz="1800" b="0">
                          <a:solidFill>
                            <a:srgbClr val="F2F5EE"/>
                          </a:solidFill>
                          <a:latin typeface="Arial"/>
                        </a:defRPr>
                      </a:pPr>
                      <a:r>
                        <a:t>198.112</a:t>
                      </a:r>
                    </a:p>
                  </a:txBody>
                  <a:tcPr marL="118872" marT="54864">
                    <a:solidFill>
                      <a:srgbClr val="101A16"/>
                    </a:solidFill>
                  </a:tcPr>
                </a:tc>
              </a:tr>
            </a:tbl>
          </a:graphicData>
        </a:graphic>
      </p:graphicFrame>
      <p:sp>
        <p:nvSpPr>
          <p:cNvPr id="10" name="Panel 9"/>
          <p:cNvSpPr/>
          <p:nvPr/>
        </p:nvSpPr>
        <p:spPr>
          <a:xfrm>
            <a:off x="7635240" y="1965960"/>
            <a:ext cx="3840480" cy="3474720"/>
          </a:xfrm>
          <a:prstGeom prst="roundRect">
            <a:avLst>
              <a:gd name="adj" fmla="val 9000"/>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7818119" y="2176272"/>
            <a:ext cx="347472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14251B"/>
                </a:solidFill>
                <a:latin typeface="Arial"/>
              </a:defRPr>
            </a:pPr>
            <a:r>
              <a:t>Model boundaries</a:t>
            </a:r>
          </a:p>
        </p:txBody>
      </p:sp>
      <p:sp>
        <p:nvSpPr>
          <p:cNvPr id="12" name="Text 11"/>
          <p:cNvSpPr txBox="1"/>
          <p:nvPr/>
        </p:nvSpPr>
        <p:spPr>
          <a:xfrm>
            <a:off x="7818119" y="2734056"/>
            <a:ext cx="3474720" cy="259689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14251B"/>
                </a:solidFill>
                <a:latin typeface="Arial"/>
              </a:defRPr>
            </a:pPr>
            <a:r>
              <a:t>Baseline payment fee 15 percent</a:t>
            </a:r>
          </a:p>
          <a:p>
            <a:pPr algn="l">
              <a:lnSpc>
                <a:spcPct val="108000"/>
              </a:lnSpc>
              <a:spcAft>
                <a:spcPts val="300"/>
              </a:spcAft>
              <a:defRPr sz="1800" b="0">
                <a:solidFill>
                  <a:srgbClr val="14251B"/>
                </a:solidFill>
                <a:latin typeface="Arial"/>
              </a:defRPr>
            </a:pPr>
            <a:r>
              <a:t>Refund reserve 2 percent</a:t>
            </a:r>
          </a:p>
          <a:p>
            <a:pPr algn="l">
              <a:lnSpc>
                <a:spcPct val="108000"/>
              </a:lnSpc>
              <a:spcAft>
                <a:spcPts val="300"/>
              </a:spcAft>
              <a:defRPr sz="1800" b="0">
                <a:solidFill>
                  <a:srgbClr val="14251B"/>
                </a:solidFill>
                <a:latin typeface="Arial"/>
              </a:defRPr>
            </a:pPr>
            <a:r>
              <a:t>Tax planning reserve 4 percent</a:t>
            </a:r>
          </a:p>
          <a:p>
            <a:pPr algn="l">
              <a:lnSpc>
                <a:spcPct val="108000"/>
              </a:lnSpc>
              <a:spcAft>
                <a:spcPts val="300"/>
              </a:spcAft>
              <a:defRPr sz="1800" b="0">
                <a:solidFill>
                  <a:srgbClr val="14251B"/>
                </a:solidFill>
                <a:latin typeface="Arial"/>
              </a:defRPr>
            </a:pPr>
            <a:r>
              <a:t>Not verified legal entitlements</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32.xml><?xml version="1.0" encoding="utf-8"?>
<p:sld xmlns:a="http://schemas.openxmlformats.org/drawingml/2006/main" xmlns:p="http://schemas.openxmlformats.org/presentationml/2006/main" xmlns:r="http://schemas.openxmlformats.org/officeDocument/2006/relationships" show="0">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QUESTIONS AND EVIDENCE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Funding and capital recovery</a:t>
            </a:r>
          </a:p>
        </p:txBody>
      </p:sp>
      <p:cxnSp>
        <p:nvCxnSpPr>
          <p:cNvPr id="4"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6"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32</a:t>
            </a:r>
          </a:p>
        </p:txBody>
      </p:sp>
      <p:sp>
        <p:nvSpPr>
          <p:cNvPr id="7" name="Button Back to questions">
            <a:hlinkClick action="ppaction://hlinksldjump" r:id="rId2"/>
          </p:cNvPr>
          <p:cNvSpPr/>
          <p:nvPr/>
        </p:nvSpPr>
        <p:spPr>
          <a:xfrm>
            <a:off x="9692640" y="246888"/>
            <a:ext cx="192024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tton label Back to questions">
            <a:hlinkClick action="ppaction://hlinksldjump" r:id="rId2"/>
          </p:cNvPr>
          <p:cNvSpPr txBox="1"/>
          <p:nvPr/>
        </p:nvSpPr>
        <p:spPr>
          <a:xfrm>
            <a:off x="9802367" y="320040"/>
            <a:ext cx="17007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questions</a:t>
            </a:r>
          </a:p>
        </p:txBody>
      </p:sp>
      <p:sp>
        <p:nvSpPr>
          <p:cNvPr id="9" name="Text 8"/>
          <p:cNvSpPr txBox="1"/>
          <p:nvPr/>
        </p:nvSpPr>
        <p:spPr>
          <a:xfrm>
            <a:off x="777240" y="2011680"/>
            <a:ext cx="10515600" cy="731520"/>
          </a:xfrm>
          <a:prstGeom prst="rect">
            <a:avLst/>
          </a:prstGeom>
          <a:noFill/>
        </p:spPr>
        <p:txBody>
          <a:bodyPr wrap="square" lIns="13716" rIns="13716" tIns="13716" bIns="13716" anchor="t">
            <a:spAutoFit/>
          </a:bodyPr>
          <a:lstStyle/>
          <a:p>
            <a:pPr algn="l">
              <a:lnSpc>
                <a:spcPct val="108000"/>
              </a:lnSpc>
              <a:spcAft>
                <a:spcPts val="300"/>
              </a:spcAft>
              <a:defRPr sz="2700" b="1">
                <a:solidFill>
                  <a:srgbClr val="79DCAF"/>
                </a:solidFill>
                <a:latin typeface="Arial"/>
              </a:defRPr>
            </a:pPr>
            <a:r>
              <a:t>319.944 m peak cash need + 31.994 m reserve = 351.939 m UZS</a:t>
            </a:r>
          </a:p>
        </p:txBody>
      </p:sp>
      <p:sp>
        <p:nvSpPr>
          <p:cNvPr id="10" name="Text 9"/>
          <p:cNvSpPr txBox="1"/>
          <p:nvPr/>
        </p:nvSpPr>
        <p:spPr>
          <a:xfrm>
            <a:off x="786384" y="2971800"/>
            <a:ext cx="10332720" cy="822960"/>
          </a:xfrm>
          <a:prstGeom prst="rect">
            <a:avLst/>
          </a:prstGeom>
          <a:noFill/>
        </p:spPr>
        <p:txBody>
          <a:bodyPr wrap="square" lIns="13716" rIns="13716" tIns="13716" bIns="13716" anchor="t">
            <a:spAutoFit/>
          </a:bodyPr>
          <a:lstStyle/>
          <a:p>
            <a:pPr algn="l">
              <a:lnSpc>
                <a:spcPct val="108000"/>
              </a:lnSpc>
              <a:spcAft>
                <a:spcPts val="300"/>
              </a:spcAft>
              <a:defRPr sz="2500" b="1">
                <a:solidFill>
                  <a:srgbClr val="F2F5EE"/>
                </a:solidFill>
                <a:latin typeface="Arial"/>
              </a:defRPr>
            </a:pPr>
            <a:r>
              <a:t>Rounded use of funds</a:t>
            </a:r>
          </a:p>
          <a:p>
            <a:pPr algn="l">
              <a:lnSpc>
                <a:spcPct val="108000"/>
              </a:lnSpc>
              <a:spcAft>
                <a:spcPts val="300"/>
              </a:spcAft>
              <a:defRPr sz="2500" b="1">
                <a:solidFill>
                  <a:srgbClr val="F2F5EE"/>
                </a:solidFill>
                <a:latin typeface="Arial"/>
              </a:defRPr>
            </a:pPr>
            <a:r>
              <a:t>120 m build + 200 m runway + 32 m reserve = 352 m UZS</a:t>
            </a:r>
          </a:p>
        </p:txBody>
      </p:sp>
      <p:sp>
        <p:nvSpPr>
          <p:cNvPr id="11" name="Panel 10"/>
          <p:cNvSpPr/>
          <p:nvPr/>
        </p:nvSpPr>
        <p:spPr>
          <a:xfrm>
            <a:off x="777240" y="4233672"/>
            <a:ext cx="5303520" cy="1389888"/>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978408" y="4416552"/>
            <a:ext cx="4901184" cy="484632"/>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12.1 months</a:t>
            </a:r>
          </a:p>
        </p:txBody>
      </p:sp>
      <p:sp>
        <p:nvSpPr>
          <p:cNvPr id="13" name="Text 12"/>
          <p:cNvSpPr txBox="1"/>
          <p:nvPr/>
        </p:nvSpPr>
        <p:spPr>
          <a:xfrm>
            <a:off x="978408" y="5129784"/>
            <a:ext cx="4901184" cy="320040"/>
          </a:xfrm>
          <a:prstGeom prst="rect">
            <a:avLst/>
          </a:prstGeom>
          <a:noFill/>
        </p:spPr>
        <p:txBody>
          <a:bodyPr wrap="square" lIns="13716" rIns="13716" tIns="13716" bIns="13716" anchor="t">
            <a:spAutoFit/>
          </a:bodyPr>
          <a:lstStyle/>
          <a:p>
            <a:pPr algn="l">
              <a:lnSpc>
                <a:spcPct val="108000"/>
              </a:lnSpc>
              <a:spcAft>
                <a:spcPts val="300"/>
              </a:spcAft>
              <a:defRPr sz="1700" b="1">
                <a:solidFill>
                  <a:srgbClr val="F2F5EE"/>
                </a:solidFill>
                <a:latin typeface="Arial"/>
              </a:defRPr>
            </a:pPr>
            <a:r>
              <a:t>Full ask at baseline steady profit</a:t>
            </a:r>
          </a:p>
        </p:txBody>
      </p:sp>
      <p:sp>
        <p:nvSpPr>
          <p:cNvPr id="14" name="Panel 13"/>
          <p:cNvSpPr/>
          <p:nvPr/>
        </p:nvSpPr>
        <p:spPr>
          <a:xfrm>
            <a:off x="6355079" y="4233672"/>
            <a:ext cx="5303520" cy="1389888"/>
          </a:xfrm>
          <a:prstGeom prst="roundRect">
            <a:avLst>
              <a:gd name="adj" fmla="val 9000"/>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6556247" y="4416552"/>
            <a:ext cx="4901184" cy="484632"/>
          </a:xfrm>
          <a:prstGeom prst="rect">
            <a:avLst/>
          </a:prstGeom>
          <a:noFill/>
        </p:spPr>
        <p:txBody>
          <a:bodyPr wrap="square" lIns="13716" rIns="13716" tIns="13716" bIns="13716" anchor="t">
            <a:spAutoFit/>
          </a:bodyPr>
          <a:lstStyle/>
          <a:p>
            <a:pPr algn="l">
              <a:lnSpc>
                <a:spcPct val="108000"/>
              </a:lnSpc>
              <a:spcAft>
                <a:spcPts val="300"/>
              </a:spcAft>
              <a:defRPr sz="3200" b="1">
                <a:solidFill>
                  <a:srgbClr val="267353"/>
                </a:solidFill>
                <a:latin typeface="Arial"/>
              </a:defRPr>
            </a:pPr>
            <a:r>
              <a:t>8.4 months</a:t>
            </a:r>
          </a:p>
        </p:txBody>
      </p:sp>
      <p:sp>
        <p:nvSpPr>
          <p:cNvPr id="16" name="Text 15"/>
          <p:cNvSpPr txBox="1"/>
          <p:nvPr/>
        </p:nvSpPr>
        <p:spPr>
          <a:xfrm>
            <a:off x="6556247" y="5129784"/>
            <a:ext cx="4901184" cy="320040"/>
          </a:xfrm>
          <a:prstGeom prst="rect">
            <a:avLst/>
          </a:prstGeom>
          <a:noFill/>
        </p:spPr>
        <p:txBody>
          <a:bodyPr wrap="square" lIns="13716" rIns="13716" tIns="13716" bIns="13716" anchor="t">
            <a:spAutoFit/>
          </a:bodyPr>
          <a:lstStyle/>
          <a:p>
            <a:pPr algn="l">
              <a:lnSpc>
                <a:spcPct val="108000"/>
              </a:lnSpc>
              <a:spcAft>
                <a:spcPts val="300"/>
              </a:spcAft>
              <a:defRPr sz="1700" b="1">
                <a:solidFill>
                  <a:srgbClr val="14251B"/>
                </a:solidFill>
                <a:latin typeface="Arial"/>
              </a:defRPr>
            </a:pPr>
            <a:r>
              <a:t>Same ask at conditional steady profit</a:t>
            </a:r>
          </a:p>
        </p:txBody>
      </p:sp>
      <p:sp>
        <p:nvSpPr>
          <p:cNvPr id="17" name="Text 16"/>
          <p:cNvSpPr txBox="1"/>
          <p:nvPr/>
        </p:nvSpPr>
        <p:spPr>
          <a:xfrm>
            <a:off x="795528" y="5897880"/>
            <a:ext cx="7589520" cy="256032"/>
          </a:xfrm>
          <a:prstGeom prst="rect">
            <a:avLst/>
          </a:prstGeom>
          <a:noFill/>
        </p:spPr>
        <p:txBody>
          <a:bodyPr wrap="square" lIns="13716" rIns="13716" tIns="13716" bIns="13716" anchor="t">
            <a:spAutoFit/>
          </a:bodyPr>
          <a:lstStyle/>
          <a:p>
            <a:pPr algn="l">
              <a:lnSpc>
                <a:spcPct val="108000"/>
              </a:lnSpc>
              <a:spcAft>
                <a:spcPts val="300"/>
              </a:spcAft>
              <a:defRPr sz="1200" b="0">
                <a:solidFill>
                  <a:srgbClr val="A8B8AC"/>
                </a:solidFill>
                <a:latin typeface="Arial"/>
              </a:defRPr>
            </a:pPr>
            <a:r>
              <a:t>From assumed Year 2 surplus · not guaranteed investor repayment</a:t>
            </a:r>
          </a:p>
        </p:txBody>
      </p:sp>
      <p:sp>
        <p:nvSpPr>
          <p:cNvPr id="18" name="Button Year 2 assumptions">
            <a:hlinkClick action="ppaction://hlinksldjump" r:id="rId3"/>
          </p:cNvPr>
          <p:cNvSpPr/>
          <p:nvPr/>
        </p:nvSpPr>
        <p:spPr>
          <a:xfrm>
            <a:off x="8778240" y="5833872"/>
            <a:ext cx="251460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utton label Year 2 assumptions">
            <a:hlinkClick action="ppaction://hlinksldjump" r:id="rId3"/>
          </p:cNvPr>
          <p:cNvSpPr txBox="1"/>
          <p:nvPr/>
        </p:nvSpPr>
        <p:spPr>
          <a:xfrm>
            <a:off x="8887967" y="5907024"/>
            <a:ext cx="229514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Year 2 assumptions</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33.xml><?xml version="1.0" encoding="utf-8"?>
<p:sld xmlns:a="http://schemas.openxmlformats.org/drawingml/2006/main" xmlns:p="http://schemas.openxmlformats.org/presentationml/2006/main" xmlns:r="http://schemas.openxmlformats.org/officeDocument/2006/relationships" show="0">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QUESTIONS AND EVIDENCE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Data, licence and payment gates</a:t>
            </a:r>
          </a:p>
        </p:txBody>
      </p:sp>
      <p:cxnSp>
        <p:nvCxnSpPr>
          <p:cNvPr id="4"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6"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33</a:t>
            </a:r>
          </a:p>
        </p:txBody>
      </p:sp>
      <p:sp>
        <p:nvSpPr>
          <p:cNvPr id="7" name="Button Back to questions">
            <a:hlinkClick action="ppaction://hlinksldjump" r:id="rId2"/>
          </p:cNvPr>
          <p:cNvSpPr/>
          <p:nvPr/>
        </p:nvSpPr>
        <p:spPr>
          <a:xfrm>
            <a:off x="9692640" y="246888"/>
            <a:ext cx="192024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tton label Back to questions">
            <a:hlinkClick action="ppaction://hlinksldjump" r:id="rId2"/>
          </p:cNvPr>
          <p:cNvSpPr txBox="1"/>
          <p:nvPr/>
        </p:nvSpPr>
        <p:spPr>
          <a:xfrm>
            <a:off x="9802367" y="320040"/>
            <a:ext cx="17007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questions</a:t>
            </a:r>
          </a:p>
        </p:txBody>
      </p:sp>
      <p:sp>
        <p:nvSpPr>
          <p:cNvPr id="9" name="Panel 8"/>
          <p:cNvSpPr/>
          <p:nvPr/>
        </p:nvSpPr>
        <p:spPr>
          <a:xfrm>
            <a:off x="731520" y="2103120"/>
            <a:ext cx="5394960" cy="155448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9"/>
          <p:cNvSpPr txBox="1"/>
          <p:nvPr/>
        </p:nvSpPr>
        <p:spPr>
          <a:xfrm>
            <a:off x="914400" y="2313432"/>
            <a:ext cx="50292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Data rights</a:t>
            </a:r>
          </a:p>
        </p:txBody>
      </p:sp>
      <p:sp>
        <p:nvSpPr>
          <p:cNvPr id="11" name="Text 10"/>
          <p:cNvSpPr txBox="1"/>
          <p:nvPr/>
        </p:nvSpPr>
        <p:spPr>
          <a:xfrm>
            <a:off x="914400" y="2871215"/>
            <a:ext cx="5029200" cy="67665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Confirm attribution and any derived database duties.</a:t>
            </a:r>
          </a:p>
        </p:txBody>
      </p:sp>
      <p:sp>
        <p:nvSpPr>
          <p:cNvPr id="12" name="Panel 11"/>
          <p:cNvSpPr/>
          <p:nvPr/>
        </p:nvSpPr>
        <p:spPr>
          <a:xfrm>
            <a:off x="6400800" y="2103120"/>
            <a:ext cx="5394960" cy="155448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6583680" y="2313432"/>
            <a:ext cx="50292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Data quality</a:t>
            </a:r>
          </a:p>
        </p:txBody>
      </p:sp>
      <p:sp>
        <p:nvSpPr>
          <p:cNvPr id="14" name="Text 13"/>
          <p:cNvSpPr txBox="1"/>
          <p:nvPr/>
        </p:nvSpPr>
        <p:spPr>
          <a:xfrm>
            <a:off x="6583680" y="2871215"/>
            <a:ext cx="5029200" cy="67665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Audit actual height coverage and access on the pilot.</a:t>
            </a:r>
          </a:p>
        </p:txBody>
      </p:sp>
      <p:sp>
        <p:nvSpPr>
          <p:cNvPr id="15" name="Panel 14"/>
          <p:cNvSpPr/>
          <p:nvPr/>
        </p:nvSpPr>
        <p:spPr>
          <a:xfrm>
            <a:off x="731520" y="3931920"/>
            <a:ext cx="5394960" cy="155448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914400" y="4142232"/>
            <a:ext cx="50292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Payments</a:t>
            </a:r>
          </a:p>
        </p:txBody>
      </p:sp>
      <p:sp>
        <p:nvSpPr>
          <p:cNvPr id="17" name="Text 16"/>
          <p:cNvSpPr txBox="1"/>
          <p:nvPr/>
        </p:nvSpPr>
        <p:spPr>
          <a:xfrm>
            <a:off x="914400" y="4700016"/>
            <a:ext cx="5029200" cy="676655"/>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Confirm digital purchase rules for the selected channel.</a:t>
            </a:r>
          </a:p>
        </p:txBody>
      </p:sp>
      <p:sp>
        <p:nvSpPr>
          <p:cNvPr id="18" name="Panel 17"/>
          <p:cNvSpPr/>
          <p:nvPr/>
        </p:nvSpPr>
        <p:spPr>
          <a:xfrm>
            <a:off x="6400800" y="3931920"/>
            <a:ext cx="5394960" cy="155448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583680" y="4142232"/>
            <a:ext cx="50292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Fees and tax</a:t>
            </a:r>
          </a:p>
        </p:txBody>
      </p:sp>
      <p:sp>
        <p:nvSpPr>
          <p:cNvPr id="20" name="Text 19"/>
          <p:cNvSpPr txBox="1"/>
          <p:nvPr/>
        </p:nvSpPr>
        <p:spPr>
          <a:xfrm>
            <a:off x="6583680" y="4700016"/>
            <a:ext cx="5029200" cy="676655"/>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Verify fees, refunds, settlement and applicable tax treatment.</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34.xml><?xml version="1.0" encoding="utf-8"?>
<p:sld xmlns:a="http://schemas.openxmlformats.org/drawingml/2006/main" xmlns:p="http://schemas.openxmlformats.org/presentationml/2006/main" xmlns:r="http://schemas.openxmlformats.org/officeDocument/2006/relationships" show="0">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QUESTIONS AND EVIDENCE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Accountability and collaboration</a:t>
            </a:r>
          </a:p>
        </p:txBody>
      </p:sp>
      <p:cxnSp>
        <p:nvCxnSpPr>
          <p:cNvPr id="4"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6"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34</a:t>
            </a:r>
          </a:p>
        </p:txBody>
      </p:sp>
      <p:sp>
        <p:nvSpPr>
          <p:cNvPr id="7" name="Button Back to questions">
            <a:hlinkClick action="ppaction://hlinksldjump" r:id="rId2"/>
          </p:cNvPr>
          <p:cNvSpPr/>
          <p:nvPr/>
        </p:nvSpPr>
        <p:spPr>
          <a:xfrm>
            <a:off x="9692640" y="246888"/>
            <a:ext cx="192024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tton label Back to questions">
            <a:hlinkClick action="ppaction://hlinksldjump" r:id="rId2"/>
          </p:cNvPr>
          <p:cNvSpPr txBox="1"/>
          <p:nvPr/>
        </p:nvSpPr>
        <p:spPr>
          <a:xfrm>
            <a:off x="9802367" y="320040"/>
            <a:ext cx="17007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questions</a:t>
            </a:r>
          </a:p>
        </p:txBody>
      </p:sp>
      <p:sp>
        <p:nvSpPr>
          <p:cNvPr id="9" name="Panel 8"/>
          <p:cNvSpPr/>
          <p:nvPr/>
        </p:nvSpPr>
        <p:spPr>
          <a:xfrm>
            <a:off x="731520" y="2057400"/>
            <a:ext cx="5394960" cy="132588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9"/>
          <p:cNvSpPr txBox="1"/>
          <p:nvPr/>
        </p:nvSpPr>
        <p:spPr>
          <a:xfrm>
            <a:off x="914400" y="2267712"/>
            <a:ext cx="50292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Bayrambek Bakbergenov</a:t>
            </a:r>
          </a:p>
        </p:txBody>
      </p:sp>
      <p:sp>
        <p:nvSpPr>
          <p:cNvPr id="11" name="Text 10"/>
          <p:cNvSpPr txBox="1"/>
          <p:nvPr/>
        </p:nvSpPr>
        <p:spPr>
          <a:xfrm>
            <a:off x="914400" y="2825496"/>
            <a:ext cx="5029200" cy="44805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CEO · Business and direction</a:t>
            </a:r>
          </a:p>
        </p:txBody>
      </p:sp>
      <p:sp>
        <p:nvSpPr>
          <p:cNvPr id="12" name="Panel 11"/>
          <p:cNvSpPr/>
          <p:nvPr/>
        </p:nvSpPr>
        <p:spPr>
          <a:xfrm>
            <a:off x="6400800" y="2057400"/>
            <a:ext cx="5394960" cy="132588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6583680" y="2267712"/>
            <a:ext cx="50292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Lobar Karimova</a:t>
            </a:r>
          </a:p>
        </p:txBody>
      </p:sp>
      <p:sp>
        <p:nvSpPr>
          <p:cNvPr id="14" name="Text 13"/>
          <p:cNvSpPr txBox="1"/>
          <p:nvPr/>
        </p:nvSpPr>
        <p:spPr>
          <a:xfrm>
            <a:off x="6583680" y="2825496"/>
            <a:ext cx="5029200" cy="44805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CFO · Finance and funding</a:t>
            </a:r>
          </a:p>
        </p:txBody>
      </p:sp>
      <p:sp>
        <p:nvSpPr>
          <p:cNvPr id="15" name="Panel 14"/>
          <p:cNvSpPr/>
          <p:nvPr/>
        </p:nvSpPr>
        <p:spPr>
          <a:xfrm>
            <a:off x="731520" y="3657600"/>
            <a:ext cx="5394960" cy="132588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914400" y="3867912"/>
            <a:ext cx="50292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Ergashev Marat</a:t>
            </a:r>
          </a:p>
        </p:txBody>
      </p:sp>
      <p:sp>
        <p:nvSpPr>
          <p:cNvPr id="17" name="Text 16"/>
          <p:cNvSpPr txBox="1"/>
          <p:nvPr/>
        </p:nvSpPr>
        <p:spPr>
          <a:xfrm>
            <a:off x="914400" y="4425696"/>
            <a:ext cx="5029200" cy="448055"/>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CTO · Product and technology</a:t>
            </a:r>
          </a:p>
        </p:txBody>
      </p:sp>
      <p:sp>
        <p:nvSpPr>
          <p:cNvPr id="18" name="Panel 17"/>
          <p:cNvSpPr/>
          <p:nvPr/>
        </p:nvSpPr>
        <p:spPr>
          <a:xfrm>
            <a:off x="6400800" y="3657600"/>
            <a:ext cx="5394960" cy="132588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583680" y="3867912"/>
            <a:ext cx="502920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Sharifjon Saidov</a:t>
            </a:r>
          </a:p>
        </p:txBody>
      </p:sp>
      <p:sp>
        <p:nvSpPr>
          <p:cNvPr id="20" name="Text 19"/>
          <p:cNvSpPr txBox="1"/>
          <p:nvPr/>
        </p:nvSpPr>
        <p:spPr>
          <a:xfrm>
            <a:off x="6583680" y="4425696"/>
            <a:ext cx="5029200" cy="448055"/>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COO · Operations and people</a:t>
            </a:r>
          </a:p>
        </p:txBody>
      </p:sp>
      <p:sp>
        <p:nvSpPr>
          <p:cNvPr id="21" name="Text 20"/>
          <p:cNvSpPr txBox="1"/>
          <p:nvPr/>
        </p:nvSpPr>
        <p:spPr>
          <a:xfrm>
            <a:off x="786384" y="5614416"/>
            <a:ext cx="10515600" cy="457200"/>
          </a:xfrm>
          <a:prstGeom prst="rect">
            <a:avLst/>
          </a:prstGeom>
          <a:noFill/>
        </p:spPr>
        <p:txBody>
          <a:bodyPr wrap="square" lIns="13716" rIns="13716" tIns="13716" bIns="13716" anchor="t">
            <a:spAutoFit/>
          </a:bodyPr>
          <a:lstStyle/>
          <a:p>
            <a:pPr algn="l">
              <a:lnSpc>
                <a:spcPct val="108000"/>
              </a:lnSpc>
              <a:spcAft>
                <a:spcPts val="300"/>
              </a:spcAft>
              <a:defRPr sz="2000" b="0">
                <a:solidFill>
                  <a:srgbClr val="EDC76C"/>
                </a:solidFill>
                <a:latin typeface="Arial"/>
              </a:defRPr>
            </a:pPr>
            <a:r>
              <a:t>Record actual meetings, decisions, contributions and rehearsal in the separate collaboration record.</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35.xml><?xml version="1.0" encoding="utf-8"?>
<p:sld xmlns:a="http://schemas.openxmlformats.org/drawingml/2006/main" xmlns:p="http://schemas.openxmlformats.org/presentationml/2006/main" xmlns:r="http://schemas.openxmlformats.org/officeDocument/2006/relationships" show="0">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QUESTIONS AND EVIDENCE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Market assumptions to validate</a:t>
            </a:r>
          </a:p>
        </p:txBody>
      </p:sp>
      <p:cxnSp>
        <p:nvCxnSpPr>
          <p:cNvPr id="4"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6"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35</a:t>
            </a:r>
          </a:p>
        </p:txBody>
      </p:sp>
      <p:sp>
        <p:nvSpPr>
          <p:cNvPr id="7" name="Button Back to questions">
            <a:hlinkClick action="ppaction://hlinksldjump" r:id="rId2"/>
          </p:cNvPr>
          <p:cNvSpPr/>
          <p:nvPr/>
        </p:nvSpPr>
        <p:spPr>
          <a:xfrm>
            <a:off x="9692640" y="246888"/>
            <a:ext cx="192024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tton label Back to questions">
            <a:hlinkClick action="ppaction://hlinksldjump" r:id="rId2"/>
          </p:cNvPr>
          <p:cNvSpPr txBox="1"/>
          <p:nvPr/>
        </p:nvSpPr>
        <p:spPr>
          <a:xfrm>
            <a:off x="9802367" y="320040"/>
            <a:ext cx="17007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questions</a:t>
            </a:r>
          </a:p>
        </p:txBody>
      </p:sp>
      <p:sp>
        <p:nvSpPr>
          <p:cNvPr id="9" name="Panel 8"/>
          <p:cNvSpPr/>
          <p:nvPr/>
        </p:nvSpPr>
        <p:spPr>
          <a:xfrm>
            <a:off x="685800" y="2468880"/>
            <a:ext cx="3611880" cy="25603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9"/>
          <p:cNvSpPr txBox="1"/>
          <p:nvPr/>
        </p:nvSpPr>
        <p:spPr>
          <a:xfrm>
            <a:off x="868680" y="2633472"/>
            <a:ext cx="324612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650 000</a:t>
            </a:r>
          </a:p>
        </p:txBody>
      </p:sp>
      <p:sp>
        <p:nvSpPr>
          <p:cNvPr id="11" name="Text 10"/>
          <p:cNvSpPr txBox="1"/>
          <p:nvPr/>
        </p:nvSpPr>
        <p:spPr>
          <a:xfrm>
            <a:off x="868680" y="3273552"/>
            <a:ext cx="324612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Illustrative walkers</a:t>
            </a:r>
          </a:p>
        </p:txBody>
      </p:sp>
      <p:sp>
        <p:nvSpPr>
          <p:cNvPr id="12" name="Panel 11"/>
          <p:cNvSpPr/>
          <p:nvPr/>
        </p:nvSpPr>
        <p:spPr>
          <a:xfrm>
            <a:off x="4526280" y="2468880"/>
            <a:ext cx="3611880" cy="25603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4709160" y="2633472"/>
            <a:ext cx="324612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1 500</a:t>
            </a:r>
          </a:p>
        </p:txBody>
      </p:sp>
      <p:sp>
        <p:nvSpPr>
          <p:cNvPr id="14" name="Text 13"/>
          <p:cNvSpPr txBox="1"/>
          <p:nvPr/>
        </p:nvSpPr>
        <p:spPr>
          <a:xfrm>
            <a:off x="4709160" y="3273552"/>
            <a:ext cx="324612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Illustrative venues</a:t>
            </a:r>
          </a:p>
        </p:txBody>
      </p:sp>
      <p:sp>
        <p:nvSpPr>
          <p:cNvPr id="15" name="Panel 14"/>
          <p:cNvSpPr/>
          <p:nvPr/>
        </p:nvSpPr>
        <p:spPr>
          <a:xfrm>
            <a:off x="8366760" y="2468880"/>
            <a:ext cx="3611880" cy="2560320"/>
          </a:xfrm>
          <a:prstGeom prst="roundRect">
            <a:avLst>
              <a:gd name="adj" fmla="val 9000"/>
            </a:avLst>
          </a:prstGeom>
          <a:solidFill>
            <a:srgbClr val="1927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8549640" y="2633472"/>
            <a:ext cx="3246120" cy="50292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79DCAF"/>
                </a:solidFill>
                <a:latin typeface="Arial"/>
              </a:defRPr>
            </a:pPr>
            <a:r>
              <a:t>5 percent</a:t>
            </a:r>
          </a:p>
        </p:txBody>
      </p:sp>
      <p:sp>
        <p:nvSpPr>
          <p:cNvPr id="17" name="Text 16"/>
          <p:cNvSpPr txBox="1"/>
          <p:nvPr/>
        </p:nvSpPr>
        <p:spPr>
          <a:xfrm>
            <a:off x="8549640" y="3273552"/>
            <a:ext cx="3246120" cy="457200"/>
          </a:xfrm>
          <a:prstGeom prst="rect">
            <a:avLst/>
          </a:prstGeom>
          <a:noFill/>
        </p:spPr>
        <p:txBody>
          <a:bodyPr wrap="square" lIns="13716" rIns="13716" tIns="13716" bIns="13716" anchor="t">
            <a:spAutoFit/>
          </a:bodyPr>
          <a:lstStyle/>
          <a:p>
            <a:pPr algn="l">
              <a:lnSpc>
                <a:spcPct val="108000"/>
              </a:lnSpc>
              <a:spcAft>
                <a:spcPts val="300"/>
              </a:spcAft>
              <a:defRPr sz="1900" b="1">
                <a:solidFill>
                  <a:srgbClr val="F2F5EE"/>
                </a:solidFill>
                <a:latin typeface="Arial"/>
              </a:defRPr>
            </a:pPr>
            <a:r>
              <a:t>Assumed Plus conversion</a:t>
            </a:r>
          </a:p>
        </p:txBody>
      </p:sp>
      <p:sp>
        <p:nvSpPr>
          <p:cNvPr id="18" name="Text 17"/>
          <p:cNvSpPr txBox="1"/>
          <p:nvPr/>
        </p:nvSpPr>
        <p:spPr>
          <a:xfrm>
            <a:off x="813816" y="5422392"/>
            <a:ext cx="10424160" cy="502920"/>
          </a:xfrm>
          <a:prstGeom prst="rect">
            <a:avLst/>
          </a:prstGeom>
          <a:noFill/>
        </p:spPr>
        <p:txBody>
          <a:bodyPr wrap="square" lIns="13716" rIns="13716" tIns="13716" bIns="13716" anchor="t">
            <a:spAutoFit/>
          </a:bodyPr>
          <a:lstStyle/>
          <a:p>
            <a:pPr algn="l">
              <a:lnSpc>
                <a:spcPct val="108000"/>
              </a:lnSpc>
              <a:spcAft>
                <a:spcPts val="300"/>
              </a:spcAft>
              <a:defRPr sz="2200" b="0">
                <a:solidFill>
                  <a:srgbClr val="EDC76C"/>
                </a:solidFill>
                <a:latin typeface="Arial"/>
              </a:defRPr>
            </a:pPr>
            <a:r>
              <a:t>These inputs are not independent market research. Define and measure the accessible pilot audience.</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36.xml><?xml version="1.0" encoding="utf-8"?>
<p:sld xmlns:a="http://schemas.openxmlformats.org/drawingml/2006/main" xmlns:p="http://schemas.openxmlformats.org/presentationml/2006/main" xmlns:r="http://schemas.openxmlformats.org/officeDocument/2006/relationships" show="0">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QUESTIONS AND EVIDENCE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Year 2 steady operating scenarios</a:t>
            </a:r>
          </a:p>
        </p:txBody>
      </p:sp>
      <p:cxnSp>
        <p:nvCxnSpPr>
          <p:cNvPr id="4"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6"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36</a:t>
            </a:r>
          </a:p>
        </p:txBody>
      </p:sp>
      <p:sp>
        <p:nvSpPr>
          <p:cNvPr id="7" name="Button Back to questions">
            <a:hlinkClick action="ppaction://hlinksldjump" r:id="rId2"/>
          </p:cNvPr>
          <p:cNvSpPr/>
          <p:nvPr/>
        </p:nvSpPr>
        <p:spPr>
          <a:xfrm>
            <a:off x="9692640" y="246888"/>
            <a:ext cx="192024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tton label Back to questions">
            <a:hlinkClick action="ppaction://hlinksldjump" r:id="rId2"/>
          </p:cNvPr>
          <p:cNvSpPr txBox="1"/>
          <p:nvPr/>
        </p:nvSpPr>
        <p:spPr>
          <a:xfrm>
            <a:off x="9802367" y="320040"/>
            <a:ext cx="17007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questions</a:t>
            </a:r>
          </a:p>
        </p:txBody>
      </p:sp>
      <p:graphicFrame>
        <p:nvGraphicFramePr>
          <p:cNvPr id="9" name="Editable evidence table"/>
          <p:cNvGraphicFramePr>
            <a:graphicFrameLocks noGrp="1"/>
          </p:cNvGraphicFramePr>
          <p:nvPr/>
        </p:nvGraphicFramePr>
        <p:xfrm>
          <a:off x="777240" y="2011680"/>
          <a:ext cx="10652760" cy="2971800"/>
        </p:xfrm>
        <a:graphic>
          <a:graphicData uri="http://schemas.openxmlformats.org/drawingml/2006/table">
            <a:tbl>
              <a:tblPr firstRow="1" bandRow="1">
                <a:tableStyleId>{5C22544A-7EE6-4342-B048-85BDC9FD1C3A}</a:tableStyleId>
              </a:tblPr>
              <a:tblGrid>
                <a:gridCol w="3550920"/>
                <a:gridCol w="3550920"/>
                <a:gridCol w="3550920"/>
              </a:tblGrid>
              <a:tr h="495300">
                <a:tc>
                  <a:txBody>
                    <a:bodyPr/>
                    <a:lstStyle/>
                    <a:p>
                      <a:pPr>
                        <a:defRPr sz="1900" b="1">
                          <a:solidFill>
                            <a:srgbClr val="79DCAF"/>
                          </a:solidFill>
                          <a:latin typeface="Arial"/>
                        </a:defRPr>
                      </a:pPr>
                      <a:r>
                        <a:t>Million UZS per year</a:t>
                      </a:r>
                    </a:p>
                  </a:txBody>
                  <a:tcPr marL="118872" marT="54864">
                    <a:solidFill>
                      <a:srgbClr val="22352A"/>
                    </a:solidFill>
                  </a:tcPr>
                </a:tc>
                <a:tc>
                  <a:txBody>
                    <a:bodyPr/>
                    <a:lstStyle/>
                    <a:p>
                      <a:pPr>
                        <a:defRPr sz="1900" b="1">
                          <a:solidFill>
                            <a:srgbClr val="79DCAF"/>
                          </a:solidFill>
                          <a:latin typeface="Arial"/>
                        </a:defRPr>
                      </a:pPr>
                      <a:r>
                        <a:t>Baseline</a:t>
                      </a:r>
                    </a:p>
                  </a:txBody>
                  <a:tcPr marL="118872" marT="54864">
                    <a:solidFill>
                      <a:srgbClr val="22352A"/>
                    </a:solidFill>
                  </a:tcPr>
                </a:tc>
                <a:tc>
                  <a:txBody>
                    <a:bodyPr/>
                    <a:lstStyle/>
                    <a:p>
                      <a:pPr>
                        <a:defRPr sz="1900" b="1">
                          <a:solidFill>
                            <a:srgbClr val="79DCAF"/>
                          </a:solidFill>
                          <a:latin typeface="Arial"/>
                        </a:defRPr>
                      </a:pPr>
                      <a:r>
                        <a:t>Conditional</a:t>
                      </a:r>
                    </a:p>
                  </a:txBody>
                  <a:tcPr marL="118872" marT="54864">
                    <a:solidFill>
                      <a:srgbClr val="22352A"/>
                    </a:solidFill>
                  </a:tcPr>
                </a:tc>
              </a:tr>
              <a:tr h="495300">
                <a:tc>
                  <a:txBody>
                    <a:bodyPr/>
                    <a:lstStyle/>
                    <a:p>
                      <a:pPr>
                        <a:defRPr sz="1900" b="0">
                          <a:solidFill>
                            <a:srgbClr val="F2F5EE"/>
                          </a:solidFill>
                          <a:latin typeface="Arial"/>
                        </a:defRPr>
                      </a:pPr>
                      <a:r>
                        <a:t>Receipts</a:t>
                      </a:r>
                    </a:p>
                  </a:txBody>
                  <a:tcPr marL="118872" marT="54864">
                    <a:solidFill>
                      <a:srgbClr val="19271F"/>
                    </a:solidFill>
                  </a:tcPr>
                </a:tc>
                <a:tc>
                  <a:txBody>
                    <a:bodyPr/>
                    <a:lstStyle/>
                    <a:p>
                      <a:pPr>
                        <a:defRPr sz="1900" b="0">
                          <a:solidFill>
                            <a:srgbClr val="F2F5EE"/>
                          </a:solidFill>
                          <a:latin typeface="Arial"/>
                        </a:defRPr>
                      </a:pPr>
                      <a:r>
                        <a:t>1126.047</a:t>
                      </a:r>
                    </a:p>
                  </a:txBody>
                  <a:tcPr marL="118872" marT="54864">
                    <a:solidFill>
                      <a:srgbClr val="19271F"/>
                    </a:solidFill>
                  </a:tcPr>
                </a:tc>
                <a:tc>
                  <a:txBody>
                    <a:bodyPr/>
                    <a:lstStyle/>
                    <a:p>
                      <a:pPr>
                        <a:defRPr sz="1900" b="0">
                          <a:solidFill>
                            <a:srgbClr val="F2F5EE"/>
                          </a:solidFill>
                          <a:latin typeface="Arial"/>
                        </a:defRPr>
                      </a:pPr>
                      <a:r>
                        <a:t>1126.047</a:t>
                      </a:r>
                    </a:p>
                  </a:txBody>
                  <a:tcPr marL="118872" marT="54864">
                    <a:solidFill>
                      <a:srgbClr val="19271F"/>
                    </a:solidFill>
                  </a:tcPr>
                </a:tc>
              </a:tr>
              <a:tr h="495300">
                <a:tc>
                  <a:txBody>
                    <a:bodyPr/>
                    <a:lstStyle/>
                    <a:p>
                      <a:pPr>
                        <a:defRPr sz="1900" b="0">
                          <a:solidFill>
                            <a:srgbClr val="F2F5EE"/>
                          </a:solidFill>
                          <a:latin typeface="Arial"/>
                        </a:defRPr>
                      </a:pPr>
                      <a:r>
                        <a:t>Direct costs</a:t>
                      </a:r>
                    </a:p>
                  </a:txBody>
                  <a:tcPr marL="118872" marT="54864">
                    <a:solidFill>
                      <a:srgbClr val="101A16"/>
                    </a:solidFill>
                  </a:tcPr>
                </a:tc>
                <a:tc>
                  <a:txBody>
                    <a:bodyPr/>
                    <a:lstStyle/>
                    <a:p>
                      <a:pPr>
                        <a:defRPr sz="1900" b="0">
                          <a:solidFill>
                            <a:srgbClr val="F2F5EE"/>
                          </a:solidFill>
                          <a:latin typeface="Arial"/>
                        </a:defRPr>
                      </a:pPr>
                      <a:r>
                        <a:t>342.722</a:t>
                      </a:r>
                    </a:p>
                  </a:txBody>
                  <a:tcPr marL="118872" marT="54864">
                    <a:solidFill>
                      <a:srgbClr val="101A16"/>
                    </a:solidFill>
                  </a:tcPr>
                </a:tc>
                <a:tc>
                  <a:txBody>
                    <a:bodyPr/>
                    <a:lstStyle/>
                    <a:p>
                      <a:pPr>
                        <a:defRPr sz="1900" b="0">
                          <a:solidFill>
                            <a:srgbClr val="F2F5EE"/>
                          </a:solidFill>
                          <a:latin typeface="Arial"/>
                        </a:defRPr>
                      </a:pPr>
                      <a:r>
                        <a:t>221.604</a:t>
                      </a:r>
                    </a:p>
                  </a:txBody>
                  <a:tcPr marL="118872" marT="54864">
                    <a:solidFill>
                      <a:srgbClr val="101A16"/>
                    </a:solidFill>
                  </a:tcPr>
                </a:tc>
              </a:tr>
              <a:tr h="495300">
                <a:tc>
                  <a:txBody>
                    <a:bodyPr/>
                    <a:lstStyle/>
                    <a:p>
                      <a:pPr>
                        <a:defRPr sz="1900" b="0">
                          <a:solidFill>
                            <a:srgbClr val="F2F5EE"/>
                          </a:solidFill>
                          <a:latin typeface="Arial"/>
                        </a:defRPr>
                      </a:pPr>
                      <a:r>
                        <a:t>Operating expenses</a:t>
                      </a:r>
                    </a:p>
                  </a:txBody>
                  <a:tcPr marL="118872" marT="54864">
                    <a:solidFill>
                      <a:srgbClr val="19271F"/>
                    </a:solidFill>
                  </a:tcPr>
                </a:tc>
                <a:tc>
                  <a:txBody>
                    <a:bodyPr/>
                    <a:lstStyle/>
                    <a:p>
                      <a:pPr>
                        <a:defRPr sz="1900" b="0">
                          <a:solidFill>
                            <a:srgbClr val="F2F5EE"/>
                          </a:solidFill>
                          <a:latin typeface="Arial"/>
                        </a:defRPr>
                      </a:pPr>
                      <a:r>
                        <a:t>390.000</a:t>
                      </a:r>
                    </a:p>
                  </a:txBody>
                  <a:tcPr marL="118872" marT="54864">
                    <a:solidFill>
                      <a:srgbClr val="19271F"/>
                    </a:solidFill>
                  </a:tcPr>
                </a:tc>
                <a:tc>
                  <a:txBody>
                    <a:bodyPr/>
                    <a:lstStyle/>
                    <a:p>
                      <a:pPr>
                        <a:defRPr sz="1900" b="0">
                          <a:solidFill>
                            <a:srgbClr val="F2F5EE"/>
                          </a:solidFill>
                          <a:latin typeface="Arial"/>
                        </a:defRPr>
                      </a:pPr>
                      <a:r>
                        <a:t>390.000</a:t>
                      </a:r>
                    </a:p>
                  </a:txBody>
                  <a:tcPr marL="118872" marT="54864">
                    <a:solidFill>
                      <a:srgbClr val="19271F"/>
                    </a:solidFill>
                  </a:tcPr>
                </a:tc>
              </a:tr>
              <a:tr h="495300">
                <a:tc>
                  <a:txBody>
                    <a:bodyPr/>
                    <a:lstStyle/>
                    <a:p>
                      <a:pPr>
                        <a:defRPr sz="1900" b="0">
                          <a:solidFill>
                            <a:srgbClr val="F2F5EE"/>
                          </a:solidFill>
                          <a:latin typeface="Arial"/>
                        </a:defRPr>
                      </a:pPr>
                      <a:r>
                        <a:t>Tax planning reserve</a:t>
                      </a:r>
                    </a:p>
                  </a:txBody>
                  <a:tcPr marL="118872" marT="54864">
                    <a:solidFill>
                      <a:srgbClr val="101A16"/>
                    </a:solidFill>
                  </a:tcPr>
                </a:tc>
                <a:tc>
                  <a:txBody>
                    <a:bodyPr/>
                    <a:lstStyle/>
                    <a:p>
                      <a:pPr>
                        <a:defRPr sz="1900" b="0">
                          <a:solidFill>
                            <a:srgbClr val="F2F5EE"/>
                          </a:solidFill>
                          <a:latin typeface="Arial"/>
                        </a:defRPr>
                      </a:pPr>
                      <a:r>
                        <a:t>45.042</a:t>
                      </a:r>
                    </a:p>
                  </a:txBody>
                  <a:tcPr marL="118872" marT="54864">
                    <a:solidFill>
                      <a:srgbClr val="101A16"/>
                    </a:solidFill>
                  </a:tcPr>
                </a:tc>
                <a:tc>
                  <a:txBody>
                    <a:bodyPr/>
                    <a:lstStyle/>
                    <a:p>
                      <a:pPr>
                        <a:defRPr sz="1900" b="0">
                          <a:solidFill>
                            <a:srgbClr val="F2F5EE"/>
                          </a:solidFill>
                          <a:latin typeface="Arial"/>
                        </a:defRPr>
                      </a:pPr>
                      <a:r>
                        <a:t>11.260</a:t>
                      </a:r>
                    </a:p>
                  </a:txBody>
                  <a:tcPr marL="118872" marT="54864">
                    <a:solidFill>
                      <a:srgbClr val="101A16"/>
                    </a:solidFill>
                  </a:tcPr>
                </a:tc>
              </a:tr>
              <a:tr h="495300">
                <a:tc>
                  <a:txBody>
                    <a:bodyPr/>
                    <a:lstStyle/>
                    <a:p>
                      <a:pPr>
                        <a:defRPr sz="1900" b="0">
                          <a:solidFill>
                            <a:srgbClr val="F2F5EE"/>
                          </a:solidFill>
                          <a:latin typeface="Arial"/>
                        </a:defRPr>
                      </a:pPr>
                      <a:r>
                        <a:t>Operating result</a:t>
                      </a:r>
                    </a:p>
                  </a:txBody>
                  <a:tcPr marL="118872" marT="54864">
                    <a:solidFill>
                      <a:srgbClr val="19271F"/>
                    </a:solidFill>
                  </a:tcPr>
                </a:tc>
                <a:tc>
                  <a:txBody>
                    <a:bodyPr/>
                    <a:lstStyle/>
                    <a:p>
                      <a:pPr>
                        <a:defRPr sz="1900" b="0">
                          <a:solidFill>
                            <a:srgbClr val="F2F5EE"/>
                          </a:solidFill>
                          <a:latin typeface="Arial"/>
                        </a:defRPr>
                      </a:pPr>
                      <a:r>
                        <a:t>348.283</a:t>
                      </a:r>
                    </a:p>
                  </a:txBody>
                  <a:tcPr marL="118872" marT="54864">
                    <a:solidFill>
                      <a:srgbClr val="19271F"/>
                    </a:solidFill>
                  </a:tcPr>
                </a:tc>
                <a:tc>
                  <a:txBody>
                    <a:bodyPr/>
                    <a:lstStyle/>
                    <a:p>
                      <a:pPr>
                        <a:defRPr sz="1900" b="0">
                          <a:solidFill>
                            <a:srgbClr val="F2F5EE"/>
                          </a:solidFill>
                          <a:latin typeface="Arial"/>
                        </a:defRPr>
                      </a:pPr>
                      <a:r>
                        <a:t>503.182</a:t>
                      </a:r>
                    </a:p>
                  </a:txBody>
                  <a:tcPr marL="118872" marT="54864">
                    <a:solidFill>
                      <a:srgbClr val="19271F"/>
                    </a:solidFill>
                  </a:tcPr>
                </a:tc>
              </a:tr>
            </a:tbl>
          </a:graphicData>
        </a:graphic>
      </p:graphicFrame>
      <p:sp>
        <p:nvSpPr>
          <p:cNvPr id="10" name="Text 9"/>
          <p:cNvSpPr txBox="1"/>
          <p:nvPr/>
        </p:nvSpPr>
        <p:spPr>
          <a:xfrm>
            <a:off x="822960" y="5212080"/>
            <a:ext cx="10332720" cy="493776"/>
          </a:xfrm>
          <a:prstGeom prst="rect">
            <a:avLst/>
          </a:prstGeom>
          <a:noFill/>
        </p:spPr>
        <p:txBody>
          <a:bodyPr wrap="square" lIns="13716" rIns="13716" tIns="13716" bIns="13716" anchor="t">
            <a:spAutoFit/>
          </a:bodyPr>
          <a:lstStyle/>
          <a:p>
            <a:pPr algn="l">
              <a:lnSpc>
                <a:spcPct val="108000"/>
              </a:lnSpc>
              <a:spcAft>
                <a:spcPts val="300"/>
              </a:spcAft>
              <a:defRPr sz="1900" b="0">
                <a:solidFill>
                  <a:srgbClr val="F2F5EE"/>
                </a:solidFill>
                <a:latin typeface="Arial"/>
              </a:defRPr>
            </a:pPr>
            <a:r>
              <a:t>All 12 months assume 30 000 active users, 2 100 Plus subscribers and 20 cafe campaigns.</a:t>
            </a:r>
          </a:p>
        </p:txBody>
      </p:sp>
      <p:sp>
        <p:nvSpPr>
          <p:cNvPr id="11" name="Text 10"/>
          <p:cNvSpPr txBox="1"/>
          <p:nvPr/>
        </p:nvSpPr>
        <p:spPr>
          <a:xfrm>
            <a:off x="822960" y="5833872"/>
            <a:ext cx="10332720" cy="320040"/>
          </a:xfrm>
          <a:prstGeom prst="rect">
            <a:avLst/>
          </a:prstGeom>
          <a:noFill/>
        </p:spPr>
        <p:txBody>
          <a:bodyPr wrap="square" lIns="13716" rIns="13716" tIns="13716" bIns="13716" anchor="t">
            <a:spAutoFit/>
          </a:bodyPr>
          <a:lstStyle/>
          <a:p>
            <a:pPr algn="l">
              <a:lnSpc>
                <a:spcPct val="108000"/>
              </a:lnSpc>
              <a:spcAft>
                <a:spcPts val="300"/>
              </a:spcAft>
              <a:defRPr sz="1500" b="0">
                <a:solidFill>
                  <a:srgbClr val="EDC76C"/>
                </a:solidFill>
                <a:latin typeface="Arial"/>
              </a:defRPr>
            </a:pPr>
            <a:r>
              <a:t>Conditional fees and tax treatment require confirmation. No automatic entitlement is claimed.</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37.xml><?xml version="1.0" encoding="utf-8"?>
<p:sld xmlns:a="http://schemas.openxmlformats.org/drawingml/2006/main" xmlns:p="http://schemas.openxmlformats.org/presentationml/2006/main" xmlns:r="http://schemas.openxmlformats.org/officeDocument/2006/relationships" show="0">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QUESTIONS AND EVIDENCE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The same street at another time</a:t>
            </a:r>
          </a:p>
        </p:txBody>
      </p:sp>
      <p:cxnSp>
        <p:nvCxnSpPr>
          <p:cNvPr id="4"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6"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37</a:t>
            </a:r>
          </a:p>
        </p:txBody>
      </p:sp>
      <p:sp>
        <p:nvSpPr>
          <p:cNvPr id="7" name="Button Back to questions">
            <a:hlinkClick action="ppaction://hlinksldjump" r:id="rId3"/>
          </p:cNvPr>
          <p:cNvSpPr/>
          <p:nvPr/>
        </p:nvSpPr>
        <p:spPr>
          <a:xfrm>
            <a:off x="9692640" y="246888"/>
            <a:ext cx="192024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tton label Back to questions">
            <a:hlinkClick action="ppaction://hlinksldjump" r:id="rId3"/>
          </p:cNvPr>
          <p:cNvSpPr txBox="1"/>
          <p:nvPr/>
        </p:nvSpPr>
        <p:spPr>
          <a:xfrm>
            <a:off x="9802367" y="320040"/>
            <a:ext cx="17007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questions</a:t>
            </a:r>
          </a:p>
        </p:txBody>
      </p:sp>
      <p:sp>
        <p:nvSpPr>
          <p:cNvPr id="9" name="Text 8"/>
          <p:cNvSpPr txBox="1"/>
          <p:nvPr/>
        </p:nvSpPr>
        <p:spPr>
          <a:xfrm>
            <a:off x="777240" y="1673352"/>
            <a:ext cx="10424160" cy="274320"/>
          </a:xfrm>
          <a:prstGeom prst="rect">
            <a:avLst/>
          </a:prstGeom>
          <a:noFill/>
        </p:spPr>
        <p:txBody>
          <a:bodyPr wrap="square" lIns="13716" rIns="13716" tIns="13716" bIns="13716" anchor="t">
            <a:spAutoFit/>
          </a:bodyPr>
          <a:lstStyle/>
          <a:p>
            <a:pPr algn="l">
              <a:lnSpc>
                <a:spcPct val="108000"/>
              </a:lnSpc>
              <a:spcAft>
                <a:spcPts val="300"/>
              </a:spcAft>
              <a:defRPr sz="1600" b="0">
                <a:solidFill>
                  <a:srgbClr val="A8B8AC"/>
                </a:solidFill>
                <a:latin typeface="Arial"/>
              </a:defRPr>
            </a:pPr>
            <a:r>
              <a:t>Prepared demonstration states · assumed solar positions · no field validation</a:t>
            </a:r>
          </a:p>
        </p:txBody>
      </p:sp>
      <p:sp>
        <p:nvSpPr>
          <p:cNvPr id="10" name="Map canvas"/>
          <p:cNvSpPr/>
          <p:nvPr/>
        </p:nvSpPr>
        <p:spPr>
          <a:xfrm>
            <a:off x="685800" y="2267712"/>
            <a:ext cx="7680960" cy="3639312"/>
          </a:xfrm>
          <a:prstGeom prst="roundRect">
            <a:avLst>
              <a:gd name="adj" fmla="val 9000"/>
            </a:avLst>
          </a:prstGeom>
          <a:solidFill>
            <a:srgbClr val="142C30"/>
          </a:solidFill>
          <a:ln w="12700">
            <a:solidFill>
              <a:srgbClr val="355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ad_v_1"/>
          <p:cNvSpPr/>
          <p:nvPr/>
        </p:nvSpPr>
        <p:spPr>
          <a:xfrm>
            <a:off x="1817754" y="2377440"/>
            <a:ext cx="343229" cy="327355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ad_v_2"/>
          <p:cNvSpPr/>
          <p:nvPr/>
        </p:nvSpPr>
        <p:spPr>
          <a:xfrm>
            <a:off x="4130820" y="2377440"/>
            <a:ext cx="343229" cy="327355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ad_v_3"/>
          <p:cNvSpPr/>
          <p:nvPr/>
        </p:nvSpPr>
        <p:spPr>
          <a:xfrm>
            <a:off x="6518501" y="2377440"/>
            <a:ext cx="343229" cy="327355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ad_h_1"/>
          <p:cNvSpPr/>
          <p:nvPr/>
        </p:nvSpPr>
        <p:spPr>
          <a:xfrm>
            <a:off x="795528" y="2755535"/>
            <a:ext cx="7461504" cy="225875"/>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ad_h_2"/>
          <p:cNvSpPr/>
          <p:nvPr/>
        </p:nvSpPr>
        <p:spPr>
          <a:xfrm>
            <a:off x="795528" y="3868542"/>
            <a:ext cx="7461504" cy="225875"/>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ad_h_3"/>
          <p:cNvSpPr/>
          <p:nvPr/>
        </p:nvSpPr>
        <p:spPr>
          <a:xfrm>
            <a:off x="795528" y="4948815"/>
            <a:ext cx="7461504" cy="225875"/>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rk_01"/>
          <p:cNvSpPr/>
          <p:nvPr/>
        </p:nvSpPr>
        <p:spPr>
          <a:xfrm>
            <a:off x="907450" y="4194261"/>
            <a:ext cx="708842" cy="654710"/>
          </a:xfrm>
          <a:prstGeom prst="rect">
            <a:avLst/>
          </a:prstGeom>
          <a:solidFill>
            <a:srgbClr val="235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hadow building_01"/>
          <p:cNvSpPr/>
          <p:nvPr/>
        </p:nvSpPr>
        <p:spPr>
          <a:xfrm>
            <a:off x="1927594" y="2983024"/>
            <a:ext cx="1777920" cy="687469"/>
          </a:xfrm>
          <a:custGeom>
            <a:avLst/>
            <a:gdLst/>
            <a:ahLst/>
            <a:cxnLst/>
            <a:rect l="l" t="t" r="r" b="b"/>
            <a:pathLst>
              <a:path w="1777920" h="687469">
                <a:moveTo>
                  <a:pt x="0" y="0"/>
                </a:moveTo>
                <a:lnTo>
                  <a:pt x="1231149" y="0"/>
                </a:lnTo>
                <a:lnTo>
                  <a:pt x="1777920" y="130965"/>
                </a:lnTo>
                <a:lnTo>
                  <a:pt x="1777920" y="687469"/>
                </a:lnTo>
                <a:lnTo>
                  <a:pt x="546772" y="687469"/>
                </a:lnTo>
                <a:lnTo>
                  <a:pt x="0" y="556504"/>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hadow building_02"/>
          <p:cNvSpPr/>
          <p:nvPr/>
        </p:nvSpPr>
        <p:spPr>
          <a:xfrm>
            <a:off x="4377355" y="3015766"/>
            <a:ext cx="1678533" cy="638359"/>
          </a:xfrm>
          <a:custGeom>
            <a:avLst/>
            <a:gdLst/>
            <a:ahLst/>
            <a:cxnLst/>
            <a:rect l="l" t="t" r="r" b="b"/>
            <a:pathLst>
              <a:path w="1678533" h="638359">
                <a:moveTo>
                  <a:pt x="0" y="0"/>
                </a:moveTo>
                <a:lnTo>
                  <a:pt x="1268456" y="0"/>
                </a:lnTo>
                <a:lnTo>
                  <a:pt x="1678533" y="98223"/>
                </a:lnTo>
                <a:lnTo>
                  <a:pt x="1678533" y="638359"/>
                </a:lnTo>
                <a:lnTo>
                  <a:pt x="410077" y="638359"/>
                </a:lnTo>
                <a:lnTo>
                  <a:pt x="0" y="540136"/>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hadow building_03"/>
          <p:cNvSpPr/>
          <p:nvPr/>
        </p:nvSpPr>
        <p:spPr>
          <a:xfrm>
            <a:off x="2018722" y="4117859"/>
            <a:ext cx="1686792" cy="649273"/>
          </a:xfrm>
          <a:custGeom>
            <a:avLst/>
            <a:gdLst/>
            <a:ahLst/>
            <a:cxnLst/>
            <a:rect l="l" t="t" r="r" b="b"/>
            <a:pathLst>
              <a:path w="1686792" h="649273">
                <a:moveTo>
                  <a:pt x="0" y="0"/>
                </a:moveTo>
                <a:lnTo>
                  <a:pt x="1231148" y="0"/>
                </a:lnTo>
                <a:lnTo>
                  <a:pt x="1686792" y="109137"/>
                </a:lnTo>
                <a:lnTo>
                  <a:pt x="1686792" y="649273"/>
                </a:lnTo>
                <a:lnTo>
                  <a:pt x="455644" y="649273"/>
                </a:lnTo>
                <a:lnTo>
                  <a:pt x="0" y="540137"/>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hadow building_04"/>
          <p:cNvSpPr/>
          <p:nvPr/>
        </p:nvSpPr>
        <p:spPr>
          <a:xfrm>
            <a:off x="4149533" y="4074203"/>
            <a:ext cx="1906355" cy="692929"/>
          </a:xfrm>
          <a:custGeom>
            <a:avLst/>
            <a:gdLst/>
            <a:ahLst/>
            <a:cxnLst/>
            <a:rect l="l" t="t" r="r" b="b"/>
            <a:pathLst>
              <a:path w="1906355" h="692929">
                <a:moveTo>
                  <a:pt x="0" y="0"/>
                </a:moveTo>
                <a:lnTo>
                  <a:pt x="1268456" y="0"/>
                </a:lnTo>
                <a:lnTo>
                  <a:pt x="1906355" y="152793"/>
                </a:lnTo>
                <a:lnTo>
                  <a:pt x="1906355" y="692929"/>
                </a:lnTo>
                <a:lnTo>
                  <a:pt x="637899" y="692929"/>
                </a:lnTo>
                <a:lnTo>
                  <a:pt x="0" y="540136"/>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hadow building_05"/>
          <p:cNvSpPr/>
          <p:nvPr/>
        </p:nvSpPr>
        <p:spPr>
          <a:xfrm>
            <a:off x="6636594" y="3010305"/>
            <a:ext cx="1284670" cy="660188"/>
          </a:xfrm>
          <a:custGeom>
            <a:avLst/>
            <a:gdLst/>
            <a:ahLst/>
            <a:cxnLst/>
            <a:rect l="l" t="t" r="r" b="b"/>
            <a:pathLst>
              <a:path w="1284670" h="660188">
                <a:moveTo>
                  <a:pt x="0" y="0"/>
                </a:moveTo>
                <a:lnTo>
                  <a:pt x="783458" y="0"/>
                </a:lnTo>
                <a:lnTo>
                  <a:pt x="1284670" y="120051"/>
                </a:lnTo>
                <a:lnTo>
                  <a:pt x="1284670" y="660188"/>
                </a:lnTo>
                <a:lnTo>
                  <a:pt x="501212" y="660188"/>
                </a:lnTo>
                <a:lnTo>
                  <a:pt x="0" y="540137"/>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hadow building_06"/>
          <p:cNvSpPr/>
          <p:nvPr/>
        </p:nvSpPr>
        <p:spPr>
          <a:xfrm>
            <a:off x="6727729" y="4145141"/>
            <a:ext cx="1193535" cy="621991"/>
          </a:xfrm>
          <a:custGeom>
            <a:avLst/>
            <a:gdLst/>
            <a:ahLst/>
            <a:cxnLst/>
            <a:rect l="l" t="t" r="r" b="b"/>
            <a:pathLst>
              <a:path w="1193535" h="621991">
                <a:moveTo>
                  <a:pt x="0" y="0"/>
                </a:moveTo>
                <a:lnTo>
                  <a:pt x="783458" y="0"/>
                </a:lnTo>
                <a:lnTo>
                  <a:pt x="1193535" y="98223"/>
                </a:lnTo>
                <a:lnTo>
                  <a:pt x="1193535" y="621991"/>
                </a:lnTo>
                <a:lnTo>
                  <a:pt x="410077" y="621991"/>
                </a:lnTo>
                <a:lnTo>
                  <a:pt x="0" y="523769"/>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hadow building_07"/>
          <p:cNvSpPr/>
          <p:nvPr/>
        </p:nvSpPr>
        <p:spPr>
          <a:xfrm>
            <a:off x="795528" y="3048505"/>
            <a:ext cx="746150" cy="638355"/>
          </a:xfrm>
          <a:custGeom>
            <a:avLst/>
            <a:gdLst/>
            <a:ahLst/>
            <a:cxnLst/>
            <a:rect l="l" t="t" r="r" b="b"/>
            <a:pathLst>
              <a:path w="746150" h="638355">
                <a:moveTo>
                  <a:pt x="0" y="0"/>
                </a:moveTo>
                <a:lnTo>
                  <a:pt x="404420" y="0"/>
                </a:lnTo>
                <a:lnTo>
                  <a:pt x="746150" y="81851"/>
                </a:lnTo>
                <a:lnTo>
                  <a:pt x="746150" y="638355"/>
                </a:lnTo>
                <a:lnTo>
                  <a:pt x="186537" y="638355"/>
                </a:lnTo>
                <a:lnTo>
                  <a:pt x="0" y="593675"/>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ilding_01"/>
          <p:cNvSpPr/>
          <p:nvPr/>
        </p:nvSpPr>
        <p:spPr>
          <a:xfrm>
            <a:off x="2474366" y="3113989"/>
            <a:ext cx="1231148" cy="556503"/>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building_01 roof 1"/>
          <p:cNvCxnSpPr/>
          <p:nvPr/>
        </p:nvCxnSpPr>
        <p:spPr>
          <a:xfrm>
            <a:off x="2593750" y="3179460"/>
            <a:ext cx="99238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7" name="!!building_02"/>
          <p:cNvSpPr/>
          <p:nvPr/>
        </p:nvSpPr>
        <p:spPr>
          <a:xfrm>
            <a:off x="4787432" y="3113989"/>
            <a:ext cx="1268455" cy="54013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building_02 roof 1"/>
          <p:cNvCxnSpPr/>
          <p:nvPr/>
        </p:nvCxnSpPr>
        <p:spPr>
          <a:xfrm>
            <a:off x="4906816" y="3179460"/>
            <a:ext cx="1029688"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9" name="!!building_03"/>
          <p:cNvSpPr/>
          <p:nvPr/>
        </p:nvSpPr>
        <p:spPr>
          <a:xfrm>
            <a:off x="2474366" y="4226996"/>
            <a:ext cx="1231148" cy="54013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building_03 roof 1"/>
          <p:cNvCxnSpPr/>
          <p:nvPr/>
        </p:nvCxnSpPr>
        <p:spPr>
          <a:xfrm>
            <a:off x="2593750" y="4292467"/>
            <a:ext cx="99238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1" name="!!building_04"/>
          <p:cNvSpPr/>
          <p:nvPr/>
        </p:nvSpPr>
        <p:spPr>
          <a:xfrm>
            <a:off x="4787432" y="4226996"/>
            <a:ext cx="1268455" cy="54013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building_04 roof 1"/>
          <p:cNvCxnSpPr/>
          <p:nvPr/>
        </p:nvCxnSpPr>
        <p:spPr>
          <a:xfrm>
            <a:off x="4906816" y="4292467"/>
            <a:ext cx="1029688"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3" name="!!building_05"/>
          <p:cNvSpPr/>
          <p:nvPr/>
        </p:nvSpPr>
        <p:spPr>
          <a:xfrm>
            <a:off x="7137806" y="3130356"/>
            <a:ext cx="783457" cy="54013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building_05 roof 1"/>
          <p:cNvCxnSpPr/>
          <p:nvPr/>
        </p:nvCxnSpPr>
        <p:spPr>
          <a:xfrm>
            <a:off x="7257190" y="3195828"/>
            <a:ext cx="54469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5" name="!!building_06"/>
          <p:cNvSpPr/>
          <p:nvPr/>
        </p:nvSpPr>
        <p:spPr>
          <a:xfrm>
            <a:off x="7137806" y="4243364"/>
            <a:ext cx="783457" cy="523768"/>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building_06 roof 1"/>
          <p:cNvCxnSpPr/>
          <p:nvPr/>
        </p:nvCxnSpPr>
        <p:spPr>
          <a:xfrm>
            <a:off x="7257190" y="4308835"/>
            <a:ext cx="54469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7" name="!!building_07"/>
          <p:cNvSpPr/>
          <p:nvPr/>
        </p:nvSpPr>
        <p:spPr>
          <a:xfrm>
            <a:off x="982065" y="3130356"/>
            <a:ext cx="559612" cy="556503"/>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building_07 roof 1"/>
          <p:cNvCxnSpPr/>
          <p:nvPr/>
        </p:nvCxnSpPr>
        <p:spPr>
          <a:xfrm>
            <a:off x="1101449" y="3195828"/>
            <a:ext cx="320845"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cxnSp>
        <p:nvCxnSpPr>
          <p:cNvPr id="39" name="route_standard 1"/>
          <p:cNvCxnSpPr/>
          <p:nvPr/>
        </p:nvCxnSpPr>
        <p:spPr>
          <a:xfrm flipH="1" flipV="1">
            <a:off x="1899830" y="5002828"/>
            <a:ext cx="89538" cy="58924"/>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0" name="route_standard 2"/>
          <p:cNvCxnSpPr/>
          <p:nvPr/>
        </p:nvCxnSpPr>
        <p:spPr>
          <a:xfrm flipV="1">
            <a:off x="1899830" y="2809548"/>
            <a:ext cx="0" cy="219328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1" name="route_standard 3"/>
          <p:cNvCxnSpPr/>
          <p:nvPr/>
        </p:nvCxnSpPr>
        <p:spPr>
          <a:xfrm>
            <a:off x="1899830" y="2809548"/>
            <a:ext cx="4879824" cy="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2" name="route_standard 4"/>
          <p:cNvCxnSpPr/>
          <p:nvPr/>
        </p:nvCxnSpPr>
        <p:spPr>
          <a:xfrm>
            <a:off x="6779654" y="2809548"/>
            <a:ext cx="0" cy="2311128"/>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3" name="route_standard 5"/>
          <p:cNvCxnSpPr/>
          <p:nvPr/>
        </p:nvCxnSpPr>
        <p:spPr>
          <a:xfrm flipH="1">
            <a:off x="2078906" y="5120676"/>
            <a:ext cx="4700748" cy="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4" name="route_standard 6"/>
          <p:cNvCxnSpPr/>
          <p:nvPr/>
        </p:nvCxnSpPr>
        <p:spPr>
          <a:xfrm flipH="1" flipV="1">
            <a:off x="1989368" y="5061752"/>
            <a:ext cx="89538" cy="58924"/>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5" name="route_alternative 1"/>
          <p:cNvCxnSpPr/>
          <p:nvPr/>
        </p:nvCxnSpPr>
        <p:spPr>
          <a:xfrm flipV="1">
            <a:off x="1989368" y="5002828"/>
            <a:ext cx="89538" cy="58924"/>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6" name="route_alternative 2"/>
          <p:cNvCxnSpPr/>
          <p:nvPr/>
        </p:nvCxnSpPr>
        <p:spPr>
          <a:xfrm flipV="1">
            <a:off x="2078906" y="4030583"/>
            <a:ext cx="0" cy="972245"/>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7" name="route_alternative 3"/>
          <p:cNvCxnSpPr/>
          <p:nvPr/>
        </p:nvCxnSpPr>
        <p:spPr>
          <a:xfrm>
            <a:off x="2078906" y="4030583"/>
            <a:ext cx="2350374"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8" name="route_alternative 4"/>
          <p:cNvCxnSpPr/>
          <p:nvPr/>
        </p:nvCxnSpPr>
        <p:spPr>
          <a:xfrm flipV="1">
            <a:off x="4429280" y="2927396"/>
            <a:ext cx="0" cy="1103187"/>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9" name="route_alternative 5"/>
          <p:cNvCxnSpPr/>
          <p:nvPr/>
        </p:nvCxnSpPr>
        <p:spPr>
          <a:xfrm>
            <a:off x="4429280" y="2927396"/>
            <a:ext cx="2171298"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50" name="route_alternative 6"/>
          <p:cNvCxnSpPr/>
          <p:nvPr/>
        </p:nvCxnSpPr>
        <p:spPr>
          <a:xfrm>
            <a:off x="6600578" y="2927396"/>
            <a:ext cx="0" cy="2075432"/>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51" name="route_alternative 7"/>
          <p:cNvCxnSpPr/>
          <p:nvPr/>
        </p:nvCxnSpPr>
        <p:spPr>
          <a:xfrm flipH="1">
            <a:off x="2078906" y="5002828"/>
            <a:ext cx="4521672"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52" name="route_alternative 8"/>
          <p:cNvCxnSpPr/>
          <p:nvPr/>
        </p:nvCxnSpPr>
        <p:spPr>
          <a:xfrm flipH="1">
            <a:off x="1989368" y="5002828"/>
            <a:ext cx="89538" cy="58924"/>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sp>
        <p:nvSpPr>
          <p:cNvPr id="53" name="Start point"/>
          <p:cNvSpPr/>
          <p:nvPr/>
        </p:nvSpPr>
        <p:spPr>
          <a:xfrm>
            <a:off x="1897928" y="4970312"/>
            <a:ext cx="182880" cy="182880"/>
          </a:xfrm>
          <a:prstGeom prst="ellipse">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art centre"/>
          <p:cNvSpPr/>
          <p:nvPr/>
        </p:nvSpPr>
        <p:spPr>
          <a:xfrm>
            <a:off x="1943648" y="5016032"/>
            <a:ext cx="91440" cy="91440"/>
          </a:xfrm>
          <a:prstGeom prst="ellipse">
            <a:avLst/>
          </a:prstGeom>
          <a:solidFill>
            <a:srgbClr val="79DC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hoto point"/>
          <p:cNvSpPr/>
          <p:nvPr/>
        </p:nvSpPr>
        <p:spPr>
          <a:xfrm>
            <a:off x="4319552" y="3920855"/>
            <a:ext cx="219456" cy="219456"/>
          </a:xfrm>
          <a:prstGeom prst="ellipse">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 55"/>
          <p:cNvSpPr txBox="1"/>
          <p:nvPr/>
        </p:nvSpPr>
        <p:spPr>
          <a:xfrm>
            <a:off x="4566440" y="3911711"/>
            <a:ext cx="1371600" cy="365760"/>
          </a:xfrm>
          <a:prstGeom prst="rect">
            <a:avLst/>
          </a:prstGeom>
          <a:noFill/>
        </p:spPr>
        <p:txBody>
          <a:bodyPr wrap="square" lIns="13716" rIns="13716" tIns="13716" bIns="13716" anchor="t">
            <a:spAutoFit/>
          </a:bodyPr>
          <a:lstStyle/>
          <a:p>
            <a:pPr algn="l">
              <a:lnSpc>
                <a:spcPct val="108000"/>
              </a:lnSpc>
              <a:spcAft>
                <a:spcPts val="300"/>
              </a:spcAft>
              <a:defRPr sz="1200" b="1">
                <a:solidFill>
                  <a:srgbClr val="F2F5EE"/>
                </a:solidFill>
                <a:latin typeface="Arial"/>
              </a:defRPr>
            </a:pPr>
            <a:r>
              <a:t>Access note</a:t>
            </a:r>
          </a:p>
        </p:txBody>
      </p:sp>
      <p:sp>
        <p:nvSpPr>
          <p:cNvPr id="57" name="Text 56"/>
          <p:cNvSpPr txBox="1"/>
          <p:nvPr/>
        </p:nvSpPr>
        <p:spPr>
          <a:xfrm>
            <a:off x="822960" y="5678424"/>
            <a:ext cx="7406640" cy="173736"/>
          </a:xfrm>
          <a:prstGeom prst="rect">
            <a:avLst/>
          </a:prstGeom>
          <a:noFill/>
        </p:spPr>
        <p:txBody>
          <a:bodyPr wrap="square" lIns="13716" rIns="13716" tIns="13716" bIns="13716" anchor="t">
            <a:spAutoFit/>
          </a:bodyPr>
          <a:lstStyle/>
          <a:p>
            <a:pPr algn="l">
              <a:lnSpc>
                <a:spcPct val="108000"/>
              </a:lnSpc>
              <a:spcAft>
                <a:spcPts val="300"/>
              </a:spcAft>
              <a:defRPr sz="900" b="1">
                <a:solidFill>
                  <a:srgbClr val="A8B8AC"/>
                </a:solidFill>
                <a:latin typeface="Arial"/>
              </a:defRPr>
            </a:pPr>
            <a:r>
              <a:t>ILLUSTRATIVE SCHEME · ASSUMED SUN ANGLES</a:t>
            </a:r>
          </a:p>
        </p:txBody>
      </p:sp>
      <p:sp>
        <p:nvSpPr>
          <p:cNvPr id="58" name="Text 57"/>
          <p:cNvSpPr txBox="1"/>
          <p:nvPr/>
        </p:nvSpPr>
        <p:spPr>
          <a:xfrm>
            <a:off x="7982712" y="2386584"/>
            <a:ext cx="228600" cy="274320"/>
          </a:xfrm>
          <a:prstGeom prst="rect">
            <a:avLst/>
          </a:prstGeom>
          <a:noFill/>
        </p:spPr>
        <p:txBody>
          <a:bodyPr wrap="square" lIns="13716" rIns="13716" tIns="13716" bIns="13716" anchor="t">
            <a:spAutoFit/>
          </a:bodyPr>
          <a:lstStyle/>
          <a:p>
            <a:pPr algn="l">
              <a:lnSpc>
                <a:spcPct val="108000"/>
              </a:lnSpc>
              <a:spcAft>
                <a:spcPts val="300"/>
              </a:spcAft>
              <a:defRPr sz="1100" b="1">
                <a:solidFill>
                  <a:srgbClr val="F2F5EE"/>
                </a:solidFill>
                <a:latin typeface="Arial"/>
              </a:defRPr>
            </a:pPr>
            <a:r>
              <a:t>N</a:t>
            </a:r>
          </a:p>
        </p:txBody>
      </p:sp>
      <p:sp>
        <p:nvSpPr>
          <p:cNvPr id="59" name="Button 09.00">
            <a:hlinkClick action="ppaction://hlinksldjump" r:id="rId4"/>
          </p:cNvPr>
          <p:cNvSpPr/>
          <p:nvPr/>
        </p:nvSpPr>
        <p:spPr>
          <a:xfrm>
            <a:off x="8823960" y="2423160"/>
            <a:ext cx="2423160" cy="393192"/>
          </a:xfrm>
          <a:prstGeom prst="roundRect">
            <a:avLst>
              <a:gd name="adj" fmla="val 9000"/>
            </a:avLst>
          </a:prstGeom>
          <a:solidFill>
            <a:srgbClr val="267353"/>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utton label 09.00">
            <a:hlinkClick action="ppaction://hlinksldjump" r:id="rId4"/>
          </p:cNvPr>
          <p:cNvSpPr txBox="1"/>
          <p:nvPr/>
        </p:nvSpPr>
        <p:spPr>
          <a:xfrm>
            <a:off x="8933688" y="2496312"/>
            <a:ext cx="220370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09.00</a:t>
            </a:r>
          </a:p>
        </p:txBody>
      </p:sp>
      <p:sp>
        <p:nvSpPr>
          <p:cNvPr id="61" name="Button 13.00">
            <a:hlinkClick action="ppaction://hlinksldjump" r:id="rId5"/>
          </p:cNvPr>
          <p:cNvSpPr/>
          <p:nvPr/>
        </p:nvSpPr>
        <p:spPr>
          <a:xfrm>
            <a:off x="8823960" y="3054096"/>
            <a:ext cx="242316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utton label 13.00">
            <a:hlinkClick action="ppaction://hlinksldjump" r:id="rId5"/>
          </p:cNvPr>
          <p:cNvSpPr txBox="1"/>
          <p:nvPr/>
        </p:nvSpPr>
        <p:spPr>
          <a:xfrm>
            <a:off x="8933688" y="3127248"/>
            <a:ext cx="220370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13.00</a:t>
            </a:r>
          </a:p>
        </p:txBody>
      </p:sp>
      <p:sp>
        <p:nvSpPr>
          <p:cNvPr id="63" name="Button 17.00">
            <a:hlinkClick action="ppaction://hlinksldjump" r:id="rId6"/>
          </p:cNvPr>
          <p:cNvSpPr/>
          <p:nvPr/>
        </p:nvSpPr>
        <p:spPr>
          <a:xfrm>
            <a:off x="8823960" y="3685031"/>
            <a:ext cx="242316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utton label 17.00">
            <a:hlinkClick action="ppaction://hlinksldjump" r:id="rId6"/>
          </p:cNvPr>
          <p:cNvSpPr txBox="1"/>
          <p:nvPr/>
        </p:nvSpPr>
        <p:spPr>
          <a:xfrm>
            <a:off x="8933688" y="3758183"/>
            <a:ext cx="220370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17.00</a:t>
            </a:r>
          </a:p>
        </p:txBody>
      </p:sp>
      <p:sp>
        <p:nvSpPr>
          <p:cNvPr id="65" name="Button Back to product">
            <a:hlinkClick action="ppaction://hlinksldjump" r:id="rId7"/>
          </p:cNvPr>
          <p:cNvSpPr/>
          <p:nvPr/>
        </p:nvSpPr>
        <p:spPr>
          <a:xfrm>
            <a:off x="8823960" y="4754880"/>
            <a:ext cx="242316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utton label Back to product">
            <a:hlinkClick action="ppaction://hlinksldjump" r:id="rId7"/>
          </p:cNvPr>
          <p:cNvSpPr txBox="1"/>
          <p:nvPr/>
        </p:nvSpPr>
        <p:spPr>
          <a:xfrm>
            <a:off x="8933688" y="4828032"/>
            <a:ext cx="220370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product</a:t>
            </a:r>
          </a:p>
        </p:txBody>
      </p:sp>
      <p:sp>
        <p:nvSpPr>
          <p:cNvPr id="67" name="Text 66"/>
          <p:cNvSpPr txBox="1"/>
          <p:nvPr/>
        </p:nvSpPr>
        <p:spPr>
          <a:xfrm>
            <a:off x="8869680" y="5440680"/>
            <a:ext cx="2377440" cy="58521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Map scale and geometry stay fixed.</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38.xml><?xml version="1.0" encoding="utf-8"?>
<p:sld xmlns:a="http://schemas.openxmlformats.org/drawingml/2006/main" xmlns:p="http://schemas.openxmlformats.org/presentationml/2006/main" xmlns:r="http://schemas.openxmlformats.org/officeDocument/2006/relationships" show="0">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QUESTIONS AND EVIDENCE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The same street at another time</a:t>
            </a:r>
          </a:p>
        </p:txBody>
      </p:sp>
      <p:cxnSp>
        <p:nvCxnSpPr>
          <p:cNvPr id="4"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6"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38</a:t>
            </a:r>
          </a:p>
        </p:txBody>
      </p:sp>
      <p:sp>
        <p:nvSpPr>
          <p:cNvPr id="7" name="Button Back to questions">
            <a:hlinkClick action="ppaction://hlinksldjump" r:id="rId3"/>
          </p:cNvPr>
          <p:cNvSpPr/>
          <p:nvPr/>
        </p:nvSpPr>
        <p:spPr>
          <a:xfrm>
            <a:off x="9692640" y="246888"/>
            <a:ext cx="192024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tton label Back to questions">
            <a:hlinkClick action="ppaction://hlinksldjump" r:id="rId3"/>
          </p:cNvPr>
          <p:cNvSpPr txBox="1"/>
          <p:nvPr/>
        </p:nvSpPr>
        <p:spPr>
          <a:xfrm>
            <a:off x="9802367" y="320040"/>
            <a:ext cx="17007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questions</a:t>
            </a:r>
          </a:p>
        </p:txBody>
      </p:sp>
      <p:sp>
        <p:nvSpPr>
          <p:cNvPr id="9" name="Text 8"/>
          <p:cNvSpPr txBox="1"/>
          <p:nvPr/>
        </p:nvSpPr>
        <p:spPr>
          <a:xfrm>
            <a:off x="777240" y="1673352"/>
            <a:ext cx="10424160" cy="274320"/>
          </a:xfrm>
          <a:prstGeom prst="rect">
            <a:avLst/>
          </a:prstGeom>
          <a:noFill/>
        </p:spPr>
        <p:txBody>
          <a:bodyPr wrap="square" lIns="13716" rIns="13716" tIns="13716" bIns="13716" anchor="t">
            <a:spAutoFit/>
          </a:bodyPr>
          <a:lstStyle/>
          <a:p>
            <a:pPr algn="l">
              <a:lnSpc>
                <a:spcPct val="108000"/>
              </a:lnSpc>
              <a:spcAft>
                <a:spcPts val="300"/>
              </a:spcAft>
              <a:defRPr sz="1600" b="0">
                <a:solidFill>
                  <a:srgbClr val="A8B8AC"/>
                </a:solidFill>
                <a:latin typeface="Arial"/>
              </a:defRPr>
            </a:pPr>
            <a:r>
              <a:t>Prepared demonstration states · assumed solar positions · no field validation</a:t>
            </a:r>
          </a:p>
        </p:txBody>
      </p:sp>
      <p:sp>
        <p:nvSpPr>
          <p:cNvPr id="10" name="Map canvas"/>
          <p:cNvSpPr/>
          <p:nvPr/>
        </p:nvSpPr>
        <p:spPr>
          <a:xfrm>
            <a:off x="685800" y="2267712"/>
            <a:ext cx="7680960" cy="3639312"/>
          </a:xfrm>
          <a:prstGeom prst="roundRect">
            <a:avLst>
              <a:gd name="adj" fmla="val 9000"/>
            </a:avLst>
          </a:prstGeom>
          <a:solidFill>
            <a:srgbClr val="142C30"/>
          </a:solidFill>
          <a:ln w="12700">
            <a:solidFill>
              <a:srgbClr val="355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ad_v_1"/>
          <p:cNvSpPr/>
          <p:nvPr/>
        </p:nvSpPr>
        <p:spPr>
          <a:xfrm>
            <a:off x="1817754" y="2377440"/>
            <a:ext cx="343229" cy="327355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ad_v_2"/>
          <p:cNvSpPr/>
          <p:nvPr/>
        </p:nvSpPr>
        <p:spPr>
          <a:xfrm>
            <a:off x="4130820" y="2377440"/>
            <a:ext cx="343229" cy="327355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ad_v_3"/>
          <p:cNvSpPr/>
          <p:nvPr/>
        </p:nvSpPr>
        <p:spPr>
          <a:xfrm>
            <a:off x="6518501" y="2377440"/>
            <a:ext cx="343229" cy="327355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ad_h_1"/>
          <p:cNvSpPr/>
          <p:nvPr/>
        </p:nvSpPr>
        <p:spPr>
          <a:xfrm>
            <a:off x="795528" y="2755535"/>
            <a:ext cx="7461504" cy="225875"/>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ad_h_2"/>
          <p:cNvSpPr/>
          <p:nvPr/>
        </p:nvSpPr>
        <p:spPr>
          <a:xfrm>
            <a:off x="795528" y="3868542"/>
            <a:ext cx="7461504" cy="225875"/>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ad_h_3"/>
          <p:cNvSpPr/>
          <p:nvPr/>
        </p:nvSpPr>
        <p:spPr>
          <a:xfrm>
            <a:off x="795528" y="4948815"/>
            <a:ext cx="7461504" cy="225875"/>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rk_01"/>
          <p:cNvSpPr/>
          <p:nvPr/>
        </p:nvSpPr>
        <p:spPr>
          <a:xfrm>
            <a:off x="907450" y="4194261"/>
            <a:ext cx="708842" cy="654710"/>
          </a:xfrm>
          <a:prstGeom prst="rect">
            <a:avLst/>
          </a:prstGeom>
          <a:solidFill>
            <a:srgbClr val="235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hadow building_01"/>
          <p:cNvSpPr/>
          <p:nvPr/>
        </p:nvSpPr>
        <p:spPr>
          <a:xfrm>
            <a:off x="2474366" y="3030726"/>
            <a:ext cx="1231148" cy="639767"/>
          </a:xfrm>
          <a:custGeom>
            <a:avLst/>
            <a:gdLst/>
            <a:ahLst/>
            <a:cxnLst/>
            <a:rect l="l" t="t" r="r" b="b"/>
            <a:pathLst>
              <a:path w="1231148" h="639767">
                <a:moveTo>
                  <a:pt x="0" y="0"/>
                </a:moveTo>
                <a:lnTo>
                  <a:pt x="1231148" y="0"/>
                </a:lnTo>
                <a:lnTo>
                  <a:pt x="1231148" y="639767"/>
                </a:lnTo>
                <a:lnTo>
                  <a:pt x="0" y="639767"/>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hadow building_02"/>
          <p:cNvSpPr/>
          <p:nvPr/>
        </p:nvSpPr>
        <p:spPr>
          <a:xfrm>
            <a:off x="4787432" y="3051542"/>
            <a:ext cx="1268456" cy="602583"/>
          </a:xfrm>
          <a:custGeom>
            <a:avLst/>
            <a:gdLst/>
            <a:ahLst/>
            <a:cxnLst/>
            <a:rect l="l" t="t" r="r" b="b"/>
            <a:pathLst>
              <a:path w="1268456" h="602583">
                <a:moveTo>
                  <a:pt x="0" y="0"/>
                </a:moveTo>
                <a:lnTo>
                  <a:pt x="1268456" y="0"/>
                </a:lnTo>
                <a:lnTo>
                  <a:pt x="1268456" y="602583"/>
                </a:lnTo>
                <a:lnTo>
                  <a:pt x="0" y="602583"/>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hadow building_03"/>
          <p:cNvSpPr/>
          <p:nvPr/>
        </p:nvSpPr>
        <p:spPr>
          <a:xfrm>
            <a:off x="2474366" y="4157610"/>
            <a:ext cx="1231148" cy="609522"/>
          </a:xfrm>
          <a:custGeom>
            <a:avLst/>
            <a:gdLst/>
            <a:ahLst/>
            <a:cxnLst/>
            <a:rect l="l" t="t" r="r" b="b"/>
            <a:pathLst>
              <a:path w="1231148" h="609522">
                <a:moveTo>
                  <a:pt x="0" y="0"/>
                </a:moveTo>
                <a:lnTo>
                  <a:pt x="1231148" y="0"/>
                </a:lnTo>
                <a:lnTo>
                  <a:pt x="1231148" y="609522"/>
                </a:lnTo>
                <a:lnTo>
                  <a:pt x="0" y="609522"/>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hadow building_04"/>
          <p:cNvSpPr/>
          <p:nvPr/>
        </p:nvSpPr>
        <p:spPr>
          <a:xfrm>
            <a:off x="4787432" y="4129857"/>
            <a:ext cx="1268456" cy="637275"/>
          </a:xfrm>
          <a:custGeom>
            <a:avLst/>
            <a:gdLst/>
            <a:ahLst/>
            <a:cxnLst/>
            <a:rect l="l" t="t" r="r" b="b"/>
            <a:pathLst>
              <a:path w="1268456" h="637275">
                <a:moveTo>
                  <a:pt x="0" y="0"/>
                </a:moveTo>
                <a:lnTo>
                  <a:pt x="1268456" y="0"/>
                </a:lnTo>
                <a:lnTo>
                  <a:pt x="1268456" y="637275"/>
                </a:lnTo>
                <a:lnTo>
                  <a:pt x="0" y="637275"/>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hadow building_05"/>
          <p:cNvSpPr/>
          <p:nvPr/>
        </p:nvSpPr>
        <p:spPr>
          <a:xfrm>
            <a:off x="7137806" y="3054034"/>
            <a:ext cx="783458" cy="616459"/>
          </a:xfrm>
          <a:custGeom>
            <a:avLst/>
            <a:gdLst/>
            <a:ahLst/>
            <a:cxnLst/>
            <a:rect l="l" t="t" r="r" b="b"/>
            <a:pathLst>
              <a:path w="783458" h="616459">
                <a:moveTo>
                  <a:pt x="0" y="0"/>
                </a:moveTo>
                <a:lnTo>
                  <a:pt x="783458" y="0"/>
                </a:lnTo>
                <a:lnTo>
                  <a:pt x="783458" y="616459"/>
                </a:lnTo>
                <a:lnTo>
                  <a:pt x="0" y="616459"/>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hadow building_06"/>
          <p:cNvSpPr/>
          <p:nvPr/>
        </p:nvSpPr>
        <p:spPr>
          <a:xfrm>
            <a:off x="7137806" y="4180918"/>
            <a:ext cx="783458" cy="586214"/>
          </a:xfrm>
          <a:custGeom>
            <a:avLst/>
            <a:gdLst/>
            <a:ahLst/>
            <a:cxnLst/>
            <a:rect l="l" t="t" r="r" b="b"/>
            <a:pathLst>
              <a:path w="783458" h="586214">
                <a:moveTo>
                  <a:pt x="0" y="0"/>
                </a:moveTo>
                <a:lnTo>
                  <a:pt x="783458" y="0"/>
                </a:lnTo>
                <a:lnTo>
                  <a:pt x="783458" y="586214"/>
                </a:lnTo>
                <a:lnTo>
                  <a:pt x="0" y="586214"/>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hadow building_07"/>
          <p:cNvSpPr/>
          <p:nvPr/>
        </p:nvSpPr>
        <p:spPr>
          <a:xfrm>
            <a:off x="982065" y="3078317"/>
            <a:ext cx="559613" cy="608543"/>
          </a:xfrm>
          <a:custGeom>
            <a:avLst/>
            <a:gdLst/>
            <a:ahLst/>
            <a:cxnLst/>
            <a:rect l="l" t="t" r="r" b="b"/>
            <a:pathLst>
              <a:path w="559613" h="608543">
                <a:moveTo>
                  <a:pt x="0" y="0"/>
                </a:moveTo>
                <a:lnTo>
                  <a:pt x="559613" y="0"/>
                </a:lnTo>
                <a:lnTo>
                  <a:pt x="559613" y="608543"/>
                </a:lnTo>
                <a:lnTo>
                  <a:pt x="0" y="608543"/>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ilding_01"/>
          <p:cNvSpPr/>
          <p:nvPr/>
        </p:nvSpPr>
        <p:spPr>
          <a:xfrm>
            <a:off x="2474366" y="3113989"/>
            <a:ext cx="1231148" cy="556503"/>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building_01 roof 1"/>
          <p:cNvCxnSpPr/>
          <p:nvPr/>
        </p:nvCxnSpPr>
        <p:spPr>
          <a:xfrm>
            <a:off x="2593750" y="3179460"/>
            <a:ext cx="99238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7" name="!!building_02"/>
          <p:cNvSpPr/>
          <p:nvPr/>
        </p:nvSpPr>
        <p:spPr>
          <a:xfrm>
            <a:off x="4787432" y="3113989"/>
            <a:ext cx="1268455" cy="54013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building_02 roof 1"/>
          <p:cNvCxnSpPr/>
          <p:nvPr/>
        </p:nvCxnSpPr>
        <p:spPr>
          <a:xfrm>
            <a:off x="4906816" y="3179460"/>
            <a:ext cx="1029688"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9" name="!!building_03"/>
          <p:cNvSpPr/>
          <p:nvPr/>
        </p:nvSpPr>
        <p:spPr>
          <a:xfrm>
            <a:off x="2474366" y="4226996"/>
            <a:ext cx="1231148" cy="54013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building_03 roof 1"/>
          <p:cNvCxnSpPr/>
          <p:nvPr/>
        </p:nvCxnSpPr>
        <p:spPr>
          <a:xfrm>
            <a:off x="2593750" y="4292467"/>
            <a:ext cx="99238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1" name="!!building_04"/>
          <p:cNvSpPr/>
          <p:nvPr/>
        </p:nvSpPr>
        <p:spPr>
          <a:xfrm>
            <a:off x="4787432" y="4226996"/>
            <a:ext cx="1268455" cy="54013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building_04 roof 1"/>
          <p:cNvCxnSpPr/>
          <p:nvPr/>
        </p:nvCxnSpPr>
        <p:spPr>
          <a:xfrm>
            <a:off x="4906816" y="4292467"/>
            <a:ext cx="1029688"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3" name="!!building_05"/>
          <p:cNvSpPr/>
          <p:nvPr/>
        </p:nvSpPr>
        <p:spPr>
          <a:xfrm>
            <a:off x="7137806" y="3130356"/>
            <a:ext cx="783457" cy="54013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building_05 roof 1"/>
          <p:cNvCxnSpPr/>
          <p:nvPr/>
        </p:nvCxnSpPr>
        <p:spPr>
          <a:xfrm>
            <a:off x="7257190" y="3195828"/>
            <a:ext cx="54469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5" name="!!building_06"/>
          <p:cNvSpPr/>
          <p:nvPr/>
        </p:nvSpPr>
        <p:spPr>
          <a:xfrm>
            <a:off x="7137806" y="4243364"/>
            <a:ext cx="783457" cy="523768"/>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building_06 roof 1"/>
          <p:cNvCxnSpPr/>
          <p:nvPr/>
        </p:nvCxnSpPr>
        <p:spPr>
          <a:xfrm>
            <a:off x="7257190" y="4308835"/>
            <a:ext cx="54469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7" name="!!building_07"/>
          <p:cNvSpPr/>
          <p:nvPr/>
        </p:nvSpPr>
        <p:spPr>
          <a:xfrm>
            <a:off x="982065" y="3130356"/>
            <a:ext cx="559612" cy="556503"/>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building_07 roof 1"/>
          <p:cNvCxnSpPr/>
          <p:nvPr/>
        </p:nvCxnSpPr>
        <p:spPr>
          <a:xfrm>
            <a:off x="1101449" y="3195828"/>
            <a:ext cx="320845"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cxnSp>
        <p:nvCxnSpPr>
          <p:cNvPr id="39" name="route_standard 1"/>
          <p:cNvCxnSpPr/>
          <p:nvPr/>
        </p:nvCxnSpPr>
        <p:spPr>
          <a:xfrm flipH="1" flipV="1">
            <a:off x="1899830" y="5002828"/>
            <a:ext cx="89538" cy="58924"/>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0" name="route_standard 2"/>
          <p:cNvCxnSpPr/>
          <p:nvPr/>
        </p:nvCxnSpPr>
        <p:spPr>
          <a:xfrm flipV="1">
            <a:off x="1899830" y="2809548"/>
            <a:ext cx="0" cy="219328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1" name="route_standard 3"/>
          <p:cNvCxnSpPr/>
          <p:nvPr/>
        </p:nvCxnSpPr>
        <p:spPr>
          <a:xfrm>
            <a:off x="1899830" y="2809548"/>
            <a:ext cx="4879824" cy="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2" name="route_standard 4"/>
          <p:cNvCxnSpPr/>
          <p:nvPr/>
        </p:nvCxnSpPr>
        <p:spPr>
          <a:xfrm>
            <a:off x="6779654" y="2809548"/>
            <a:ext cx="0" cy="2311128"/>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3" name="route_standard 5"/>
          <p:cNvCxnSpPr/>
          <p:nvPr/>
        </p:nvCxnSpPr>
        <p:spPr>
          <a:xfrm flipH="1">
            <a:off x="2078906" y="5120676"/>
            <a:ext cx="4700748" cy="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4" name="route_standard 6"/>
          <p:cNvCxnSpPr/>
          <p:nvPr/>
        </p:nvCxnSpPr>
        <p:spPr>
          <a:xfrm flipH="1" flipV="1">
            <a:off x="1989368" y="5061752"/>
            <a:ext cx="89538" cy="58924"/>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5" name="route_alternative 1"/>
          <p:cNvCxnSpPr/>
          <p:nvPr/>
        </p:nvCxnSpPr>
        <p:spPr>
          <a:xfrm flipV="1">
            <a:off x="1989368" y="5002828"/>
            <a:ext cx="89538" cy="58924"/>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6" name="route_alternative 2"/>
          <p:cNvCxnSpPr/>
          <p:nvPr/>
        </p:nvCxnSpPr>
        <p:spPr>
          <a:xfrm flipV="1">
            <a:off x="2078906" y="4030583"/>
            <a:ext cx="0" cy="972245"/>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7" name="route_alternative 3"/>
          <p:cNvCxnSpPr/>
          <p:nvPr/>
        </p:nvCxnSpPr>
        <p:spPr>
          <a:xfrm>
            <a:off x="2078906" y="4030583"/>
            <a:ext cx="2350374"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8" name="route_alternative 4"/>
          <p:cNvCxnSpPr/>
          <p:nvPr/>
        </p:nvCxnSpPr>
        <p:spPr>
          <a:xfrm flipV="1">
            <a:off x="4429280" y="2927396"/>
            <a:ext cx="0" cy="1103187"/>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9" name="route_alternative 5"/>
          <p:cNvCxnSpPr/>
          <p:nvPr/>
        </p:nvCxnSpPr>
        <p:spPr>
          <a:xfrm>
            <a:off x="4429280" y="2927396"/>
            <a:ext cx="2171298"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50" name="route_alternative 6"/>
          <p:cNvCxnSpPr/>
          <p:nvPr/>
        </p:nvCxnSpPr>
        <p:spPr>
          <a:xfrm>
            <a:off x="6600578" y="2927396"/>
            <a:ext cx="0" cy="2075432"/>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51" name="route_alternative 7"/>
          <p:cNvCxnSpPr/>
          <p:nvPr/>
        </p:nvCxnSpPr>
        <p:spPr>
          <a:xfrm flipH="1">
            <a:off x="2078906" y="5002828"/>
            <a:ext cx="4521672"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52" name="route_alternative 8"/>
          <p:cNvCxnSpPr/>
          <p:nvPr/>
        </p:nvCxnSpPr>
        <p:spPr>
          <a:xfrm flipH="1">
            <a:off x="1989368" y="5002828"/>
            <a:ext cx="89538" cy="58924"/>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sp>
        <p:nvSpPr>
          <p:cNvPr id="53" name="Start point"/>
          <p:cNvSpPr/>
          <p:nvPr/>
        </p:nvSpPr>
        <p:spPr>
          <a:xfrm>
            <a:off x="1897928" y="4970312"/>
            <a:ext cx="182880" cy="182880"/>
          </a:xfrm>
          <a:prstGeom prst="ellipse">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art centre"/>
          <p:cNvSpPr/>
          <p:nvPr/>
        </p:nvSpPr>
        <p:spPr>
          <a:xfrm>
            <a:off x="1943648" y="5016032"/>
            <a:ext cx="91440" cy="91440"/>
          </a:xfrm>
          <a:prstGeom prst="ellipse">
            <a:avLst/>
          </a:prstGeom>
          <a:solidFill>
            <a:srgbClr val="79DC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hoto point"/>
          <p:cNvSpPr/>
          <p:nvPr/>
        </p:nvSpPr>
        <p:spPr>
          <a:xfrm>
            <a:off x="4319552" y="3920855"/>
            <a:ext cx="219456" cy="219456"/>
          </a:xfrm>
          <a:prstGeom prst="ellipse">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 55"/>
          <p:cNvSpPr txBox="1"/>
          <p:nvPr/>
        </p:nvSpPr>
        <p:spPr>
          <a:xfrm>
            <a:off x="4566440" y="3911711"/>
            <a:ext cx="1371600" cy="365760"/>
          </a:xfrm>
          <a:prstGeom prst="rect">
            <a:avLst/>
          </a:prstGeom>
          <a:noFill/>
        </p:spPr>
        <p:txBody>
          <a:bodyPr wrap="square" lIns="13716" rIns="13716" tIns="13716" bIns="13716" anchor="t">
            <a:spAutoFit/>
          </a:bodyPr>
          <a:lstStyle/>
          <a:p>
            <a:pPr algn="l">
              <a:lnSpc>
                <a:spcPct val="108000"/>
              </a:lnSpc>
              <a:spcAft>
                <a:spcPts val="300"/>
              </a:spcAft>
              <a:defRPr sz="1200" b="1">
                <a:solidFill>
                  <a:srgbClr val="F2F5EE"/>
                </a:solidFill>
                <a:latin typeface="Arial"/>
              </a:defRPr>
            </a:pPr>
            <a:r>
              <a:t>Access note</a:t>
            </a:r>
          </a:p>
        </p:txBody>
      </p:sp>
      <p:sp>
        <p:nvSpPr>
          <p:cNvPr id="57" name="Text 56"/>
          <p:cNvSpPr txBox="1"/>
          <p:nvPr/>
        </p:nvSpPr>
        <p:spPr>
          <a:xfrm>
            <a:off x="822960" y="5678424"/>
            <a:ext cx="7406640" cy="173736"/>
          </a:xfrm>
          <a:prstGeom prst="rect">
            <a:avLst/>
          </a:prstGeom>
          <a:noFill/>
        </p:spPr>
        <p:txBody>
          <a:bodyPr wrap="square" lIns="13716" rIns="13716" tIns="13716" bIns="13716" anchor="t">
            <a:spAutoFit/>
          </a:bodyPr>
          <a:lstStyle/>
          <a:p>
            <a:pPr algn="l">
              <a:lnSpc>
                <a:spcPct val="108000"/>
              </a:lnSpc>
              <a:spcAft>
                <a:spcPts val="300"/>
              </a:spcAft>
              <a:defRPr sz="900" b="1">
                <a:solidFill>
                  <a:srgbClr val="A8B8AC"/>
                </a:solidFill>
                <a:latin typeface="Arial"/>
              </a:defRPr>
            </a:pPr>
            <a:r>
              <a:t>ILLUSTRATIVE SCHEME · ASSUMED SUN ANGLES</a:t>
            </a:r>
          </a:p>
        </p:txBody>
      </p:sp>
      <p:sp>
        <p:nvSpPr>
          <p:cNvPr id="58" name="Text 57"/>
          <p:cNvSpPr txBox="1"/>
          <p:nvPr/>
        </p:nvSpPr>
        <p:spPr>
          <a:xfrm>
            <a:off x="7982712" y="2386584"/>
            <a:ext cx="228600" cy="274320"/>
          </a:xfrm>
          <a:prstGeom prst="rect">
            <a:avLst/>
          </a:prstGeom>
          <a:noFill/>
        </p:spPr>
        <p:txBody>
          <a:bodyPr wrap="square" lIns="13716" rIns="13716" tIns="13716" bIns="13716" anchor="t">
            <a:spAutoFit/>
          </a:bodyPr>
          <a:lstStyle/>
          <a:p>
            <a:pPr algn="l">
              <a:lnSpc>
                <a:spcPct val="108000"/>
              </a:lnSpc>
              <a:spcAft>
                <a:spcPts val="300"/>
              </a:spcAft>
              <a:defRPr sz="1100" b="1">
                <a:solidFill>
                  <a:srgbClr val="F2F5EE"/>
                </a:solidFill>
                <a:latin typeface="Arial"/>
              </a:defRPr>
            </a:pPr>
            <a:r>
              <a:t>N</a:t>
            </a:r>
          </a:p>
        </p:txBody>
      </p:sp>
      <p:sp>
        <p:nvSpPr>
          <p:cNvPr id="59" name="Button 09.00">
            <a:hlinkClick action="ppaction://hlinksldjump" r:id="rId4"/>
          </p:cNvPr>
          <p:cNvSpPr/>
          <p:nvPr/>
        </p:nvSpPr>
        <p:spPr>
          <a:xfrm>
            <a:off x="8823960" y="2423160"/>
            <a:ext cx="242316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utton label 09.00">
            <a:hlinkClick action="ppaction://hlinksldjump" r:id="rId4"/>
          </p:cNvPr>
          <p:cNvSpPr txBox="1"/>
          <p:nvPr/>
        </p:nvSpPr>
        <p:spPr>
          <a:xfrm>
            <a:off x="8933688" y="2496312"/>
            <a:ext cx="220370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09.00</a:t>
            </a:r>
          </a:p>
        </p:txBody>
      </p:sp>
      <p:sp>
        <p:nvSpPr>
          <p:cNvPr id="61" name="Button 13.00">
            <a:hlinkClick action="ppaction://hlinksldjump" r:id="rId5"/>
          </p:cNvPr>
          <p:cNvSpPr/>
          <p:nvPr/>
        </p:nvSpPr>
        <p:spPr>
          <a:xfrm>
            <a:off x="8823960" y="3054096"/>
            <a:ext cx="2423160" cy="393192"/>
          </a:xfrm>
          <a:prstGeom prst="roundRect">
            <a:avLst>
              <a:gd name="adj" fmla="val 9000"/>
            </a:avLst>
          </a:prstGeom>
          <a:solidFill>
            <a:srgbClr val="267353"/>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utton label 13.00">
            <a:hlinkClick action="ppaction://hlinksldjump" r:id="rId5"/>
          </p:cNvPr>
          <p:cNvSpPr txBox="1"/>
          <p:nvPr/>
        </p:nvSpPr>
        <p:spPr>
          <a:xfrm>
            <a:off x="8933688" y="3127248"/>
            <a:ext cx="220370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13.00</a:t>
            </a:r>
          </a:p>
        </p:txBody>
      </p:sp>
      <p:sp>
        <p:nvSpPr>
          <p:cNvPr id="63" name="Button 17.00">
            <a:hlinkClick action="ppaction://hlinksldjump" r:id="rId6"/>
          </p:cNvPr>
          <p:cNvSpPr/>
          <p:nvPr/>
        </p:nvSpPr>
        <p:spPr>
          <a:xfrm>
            <a:off x="8823960" y="3685031"/>
            <a:ext cx="242316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utton label 17.00">
            <a:hlinkClick action="ppaction://hlinksldjump" r:id="rId6"/>
          </p:cNvPr>
          <p:cNvSpPr txBox="1"/>
          <p:nvPr/>
        </p:nvSpPr>
        <p:spPr>
          <a:xfrm>
            <a:off x="8933688" y="3758183"/>
            <a:ext cx="220370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17.00</a:t>
            </a:r>
          </a:p>
        </p:txBody>
      </p:sp>
      <p:sp>
        <p:nvSpPr>
          <p:cNvPr id="65" name="Button Back to product">
            <a:hlinkClick action="ppaction://hlinksldjump" r:id="rId7"/>
          </p:cNvPr>
          <p:cNvSpPr/>
          <p:nvPr/>
        </p:nvSpPr>
        <p:spPr>
          <a:xfrm>
            <a:off x="8823960" y="4754880"/>
            <a:ext cx="242316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utton label Back to product">
            <a:hlinkClick action="ppaction://hlinksldjump" r:id="rId7"/>
          </p:cNvPr>
          <p:cNvSpPr txBox="1"/>
          <p:nvPr/>
        </p:nvSpPr>
        <p:spPr>
          <a:xfrm>
            <a:off x="8933688" y="4828032"/>
            <a:ext cx="220370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product</a:t>
            </a:r>
          </a:p>
        </p:txBody>
      </p:sp>
      <p:sp>
        <p:nvSpPr>
          <p:cNvPr id="67" name="Text 66"/>
          <p:cNvSpPr txBox="1"/>
          <p:nvPr/>
        </p:nvSpPr>
        <p:spPr>
          <a:xfrm>
            <a:off x="8869680" y="5440680"/>
            <a:ext cx="2377440" cy="58521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Map scale and geometry stay fixed.</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39.xml><?xml version="1.0" encoding="utf-8"?>
<p:sld xmlns:a="http://schemas.openxmlformats.org/drawingml/2006/main" xmlns:p="http://schemas.openxmlformats.org/presentationml/2006/main" xmlns:r="http://schemas.openxmlformats.org/officeDocument/2006/relationships" show="0">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QUESTIONS AND EVIDENCE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The same street at another time</a:t>
            </a:r>
          </a:p>
        </p:txBody>
      </p:sp>
      <p:cxnSp>
        <p:nvCxnSpPr>
          <p:cNvPr id="4"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6"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39</a:t>
            </a:r>
          </a:p>
        </p:txBody>
      </p:sp>
      <p:sp>
        <p:nvSpPr>
          <p:cNvPr id="7" name="Button Back to questions">
            <a:hlinkClick action="ppaction://hlinksldjump" r:id="rId3"/>
          </p:cNvPr>
          <p:cNvSpPr/>
          <p:nvPr/>
        </p:nvSpPr>
        <p:spPr>
          <a:xfrm>
            <a:off x="9692640" y="246888"/>
            <a:ext cx="192024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tton label Back to questions">
            <a:hlinkClick action="ppaction://hlinksldjump" r:id="rId3"/>
          </p:cNvPr>
          <p:cNvSpPr txBox="1"/>
          <p:nvPr/>
        </p:nvSpPr>
        <p:spPr>
          <a:xfrm>
            <a:off x="9802367" y="320040"/>
            <a:ext cx="17007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questions</a:t>
            </a:r>
          </a:p>
        </p:txBody>
      </p:sp>
      <p:sp>
        <p:nvSpPr>
          <p:cNvPr id="9" name="Text 8"/>
          <p:cNvSpPr txBox="1"/>
          <p:nvPr/>
        </p:nvSpPr>
        <p:spPr>
          <a:xfrm>
            <a:off x="777240" y="1673352"/>
            <a:ext cx="10424160" cy="274320"/>
          </a:xfrm>
          <a:prstGeom prst="rect">
            <a:avLst/>
          </a:prstGeom>
          <a:noFill/>
        </p:spPr>
        <p:txBody>
          <a:bodyPr wrap="square" lIns="13716" rIns="13716" tIns="13716" bIns="13716" anchor="t">
            <a:spAutoFit/>
          </a:bodyPr>
          <a:lstStyle/>
          <a:p>
            <a:pPr algn="l">
              <a:lnSpc>
                <a:spcPct val="108000"/>
              </a:lnSpc>
              <a:spcAft>
                <a:spcPts val="300"/>
              </a:spcAft>
              <a:defRPr sz="1600" b="0">
                <a:solidFill>
                  <a:srgbClr val="A8B8AC"/>
                </a:solidFill>
                <a:latin typeface="Arial"/>
              </a:defRPr>
            </a:pPr>
            <a:r>
              <a:t>Prepared demonstration states · assumed solar positions · no field validation</a:t>
            </a:r>
          </a:p>
        </p:txBody>
      </p:sp>
      <p:sp>
        <p:nvSpPr>
          <p:cNvPr id="10" name="Map canvas"/>
          <p:cNvSpPr/>
          <p:nvPr/>
        </p:nvSpPr>
        <p:spPr>
          <a:xfrm>
            <a:off x="685800" y="2267712"/>
            <a:ext cx="7680960" cy="3639312"/>
          </a:xfrm>
          <a:prstGeom prst="roundRect">
            <a:avLst>
              <a:gd name="adj" fmla="val 9000"/>
            </a:avLst>
          </a:prstGeom>
          <a:solidFill>
            <a:srgbClr val="142C30"/>
          </a:solidFill>
          <a:ln w="12700">
            <a:solidFill>
              <a:srgbClr val="355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ad_v_1"/>
          <p:cNvSpPr/>
          <p:nvPr/>
        </p:nvSpPr>
        <p:spPr>
          <a:xfrm>
            <a:off x="1817754" y="2377440"/>
            <a:ext cx="343229" cy="327355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ad_v_2"/>
          <p:cNvSpPr/>
          <p:nvPr/>
        </p:nvSpPr>
        <p:spPr>
          <a:xfrm>
            <a:off x="4130820" y="2377440"/>
            <a:ext cx="343229" cy="327355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ad_v_3"/>
          <p:cNvSpPr/>
          <p:nvPr/>
        </p:nvSpPr>
        <p:spPr>
          <a:xfrm>
            <a:off x="6518501" y="2377440"/>
            <a:ext cx="343229" cy="3273552"/>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ad_h_1"/>
          <p:cNvSpPr/>
          <p:nvPr/>
        </p:nvSpPr>
        <p:spPr>
          <a:xfrm>
            <a:off x="795528" y="2755535"/>
            <a:ext cx="7461504" cy="225875"/>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ad_h_2"/>
          <p:cNvSpPr/>
          <p:nvPr/>
        </p:nvSpPr>
        <p:spPr>
          <a:xfrm>
            <a:off x="795528" y="3868542"/>
            <a:ext cx="7461504" cy="225875"/>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ad_h_3"/>
          <p:cNvSpPr/>
          <p:nvPr/>
        </p:nvSpPr>
        <p:spPr>
          <a:xfrm>
            <a:off x="795528" y="4948815"/>
            <a:ext cx="7461504" cy="225875"/>
          </a:xfrm>
          <a:prstGeom prst="rect">
            <a:avLst/>
          </a:prstGeom>
          <a:solidFill>
            <a:srgbClr val="304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rk_01"/>
          <p:cNvSpPr/>
          <p:nvPr/>
        </p:nvSpPr>
        <p:spPr>
          <a:xfrm>
            <a:off x="907450" y="4194261"/>
            <a:ext cx="708842" cy="654710"/>
          </a:xfrm>
          <a:prstGeom prst="rect">
            <a:avLst/>
          </a:prstGeom>
          <a:solidFill>
            <a:srgbClr val="235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hadow building_01"/>
          <p:cNvSpPr/>
          <p:nvPr/>
        </p:nvSpPr>
        <p:spPr>
          <a:xfrm>
            <a:off x="2474366" y="2946200"/>
            <a:ext cx="1931656" cy="724293"/>
          </a:xfrm>
          <a:custGeom>
            <a:avLst/>
            <a:gdLst/>
            <a:ahLst/>
            <a:cxnLst/>
            <a:rect l="l" t="t" r="r" b="b"/>
            <a:pathLst>
              <a:path w="1931656" h="724293">
                <a:moveTo>
                  <a:pt x="0" y="167789"/>
                </a:moveTo>
                <a:lnTo>
                  <a:pt x="700508" y="0"/>
                </a:lnTo>
                <a:lnTo>
                  <a:pt x="1931656" y="0"/>
                </a:lnTo>
                <a:lnTo>
                  <a:pt x="1931656" y="556503"/>
                </a:lnTo>
                <a:lnTo>
                  <a:pt x="1231148" y="724293"/>
                </a:lnTo>
                <a:lnTo>
                  <a:pt x="0" y="724293"/>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hadow building_02"/>
          <p:cNvSpPr/>
          <p:nvPr/>
        </p:nvSpPr>
        <p:spPr>
          <a:xfrm>
            <a:off x="4787432" y="2988147"/>
            <a:ext cx="1793835" cy="665978"/>
          </a:xfrm>
          <a:custGeom>
            <a:avLst/>
            <a:gdLst/>
            <a:ahLst/>
            <a:cxnLst/>
            <a:rect l="l" t="t" r="r" b="b"/>
            <a:pathLst>
              <a:path w="1793835" h="665978">
                <a:moveTo>
                  <a:pt x="0" y="125842"/>
                </a:moveTo>
                <a:lnTo>
                  <a:pt x="525380" y="0"/>
                </a:lnTo>
                <a:lnTo>
                  <a:pt x="1793835" y="0"/>
                </a:lnTo>
                <a:lnTo>
                  <a:pt x="1793835" y="540136"/>
                </a:lnTo>
                <a:lnTo>
                  <a:pt x="1268456" y="665978"/>
                </a:lnTo>
                <a:lnTo>
                  <a:pt x="0" y="665978"/>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hadow building_03"/>
          <p:cNvSpPr/>
          <p:nvPr/>
        </p:nvSpPr>
        <p:spPr>
          <a:xfrm>
            <a:off x="2474366" y="4087173"/>
            <a:ext cx="1814906" cy="679959"/>
          </a:xfrm>
          <a:custGeom>
            <a:avLst/>
            <a:gdLst/>
            <a:ahLst/>
            <a:cxnLst/>
            <a:rect l="l" t="t" r="r" b="b"/>
            <a:pathLst>
              <a:path w="1814906" h="679959">
                <a:moveTo>
                  <a:pt x="0" y="139823"/>
                </a:moveTo>
                <a:lnTo>
                  <a:pt x="583758" y="0"/>
                </a:lnTo>
                <a:lnTo>
                  <a:pt x="1814906" y="0"/>
                </a:lnTo>
                <a:lnTo>
                  <a:pt x="1814906" y="540136"/>
                </a:lnTo>
                <a:lnTo>
                  <a:pt x="1231148" y="679959"/>
                </a:lnTo>
                <a:lnTo>
                  <a:pt x="0" y="679959"/>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hadow building_04"/>
          <p:cNvSpPr/>
          <p:nvPr/>
        </p:nvSpPr>
        <p:spPr>
          <a:xfrm>
            <a:off x="4787432" y="4031241"/>
            <a:ext cx="2085714" cy="735891"/>
          </a:xfrm>
          <a:custGeom>
            <a:avLst/>
            <a:gdLst/>
            <a:ahLst/>
            <a:cxnLst/>
            <a:rect l="l" t="t" r="r" b="b"/>
            <a:pathLst>
              <a:path w="2085714" h="735891">
                <a:moveTo>
                  <a:pt x="0" y="195755"/>
                </a:moveTo>
                <a:lnTo>
                  <a:pt x="817259" y="0"/>
                </a:lnTo>
                <a:lnTo>
                  <a:pt x="2085714" y="0"/>
                </a:lnTo>
                <a:lnTo>
                  <a:pt x="2085714" y="540136"/>
                </a:lnTo>
                <a:lnTo>
                  <a:pt x="1268456" y="735891"/>
                </a:lnTo>
                <a:lnTo>
                  <a:pt x="0" y="735891"/>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hadow building_05"/>
          <p:cNvSpPr/>
          <p:nvPr/>
        </p:nvSpPr>
        <p:spPr>
          <a:xfrm>
            <a:off x="7137806" y="2976549"/>
            <a:ext cx="1119225" cy="693944"/>
          </a:xfrm>
          <a:custGeom>
            <a:avLst/>
            <a:gdLst/>
            <a:ahLst/>
            <a:cxnLst/>
            <a:rect l="l" t="t" r="r" b="b"/>
            <a:pathLst>
              <a:path w="1119225" h="693944">
                <a:moveTo>
                  <a:pt x="0" y="153807"/>
                </a:moveTo>
                <a:lnTo>
                  <a:pt x="642129" y="0"/>
                </a:lnTo>
                <a:lnTo>
                  <a:pt x="1119225" y="0"/>
                </a:lnTo>
                <a:lnTo>
                  <a:pt x="1119225" y="613519"/>
                </a:lnTo>
                <a:lnTo>
                  <a:pt x="783458" y="693944"/>
                </a:lnTo>
                <a:lnTo>
                  <a:pt x="0" y="693944"/>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hadow building_06"/>
          <p:cNvSpPr/>
          <p:nvPr/>
        </p:nvSpPr>
        <p:spPr>
          <a:xfrm>
            <a:off x="7137806" y="4117522"/>
            <a:ext cx="1119225" cy="649610"/>
          </a:xfrm>
          <a:custGeom>
            <a:avLst/>
            <a:gdLst/>
            <a:ahLst/>
            <a:cxnLst/>
            <a:rect l="l" t="t" r="r" b="b"/>
            <a:pathLst>
              <a:path w="1119225" h="649610">
                <a:moveTo>
                  <a:pt x="0" y="125842"/>
                </a:moveTo>
                <a:lnTo>
                  <a:pt x="525379" y="0"/>
                </a:lnTo>
                <a:lnTo>
                  <a:pt x="1119225" y="0"/>
                </a:lnTo>
                <a:lnTo>
                  <a:pt x="1119225" y="569186"/>
                </a:lnTo>
                <a:lnTo>
                  <a:pt x="783458" y="649610"/>
                </a:lnTo>
                <a:lnTo>
                  <a:pt x="0" y="649610"/>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hadow building_07"/>
          <p:cNvSpPr/>
          <p:nvPr/>
        </p:nvSpPr>
        <p:spPr>
          <a:xfrm>
            <a:off x="982065" y="3025488"/>
            <a:ext cx="997432" cy="661372"/>
          </a:xfrm>
          <a:custGeom>
            <a:avLst/>
            <a:gdLst/>
            <a:ahLst/>
            <a:cxnLst/>
            <a:rect l="l" t="t" r="r" b="b"/>
            <a:pathLst>
              <a:path w="997432" h="661372">
                <a:moveTo>
                  <a:pt x="0" y="104868"/>
                </a:moveTo>
                <a:lnTo>
                  <a:pt x="437819" y="0"/>
                </a:lnTo>
                <a:lnTo>
                  <a:pt x="997432" y="0"/>
                </a:lnTo>
                <a:lnTo>
                  <a:pt x="997432" y="556504"/>
                </a:lnTo>
                <a:lnTo>
                  <a:pt x="559613" y="661372"/>
                </a:lnTo>
                <a:lnTo>
                  <a:pt x="0" y="661372"/>
                </a:lnTo>
                <a:close/>
              </a:path>
            </a:pathLst>
          </a:custGeom>
          <a:solidFill>
            <a:srgbClr val="0815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ilding_01"/>
          <p:cNvSpPr/>
          <p:nvPr/>
        </p:nvSpPr>
        <p:spPr>
          <a:xfrm>
            <a:off x="2474366" y="3113989"/>
            <a:ext cx="1231148" cy="556503"/>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building_01 roof 1"/>
          <p:cNvCxnSpPr/>
          <p:nvPr/>
        </p:nvCxnSpPr>
        <p:spPr>
          <a:xfrm>
            <a:off x="2593750" y="3179460"/>
            <a:ext cx="99238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7" name="!!building_02"/>
          <p:cNvSpPr/>
          <p:nvPr/>
        </p:nvSpPr>
        <p:spPr>
          <a:xfrm>
            <a:off x="4787432" y="3113989"/>
            <a:ext cx="1268455" cy="54013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building_02 roof 1"/>
          <p:cNvCxnSpPr/>
          <p:nvPr/>
        </p:nvCxnSpPr>
        <p:spPr>
          <a:xfrm>
            <a:off x="4906816" y="3179460"/>
            <a:ext cx="1029688"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29" name="!!building_03"/>
          <p:cNvSpPr/>
          <p:nvPr/>
        </p:nvSpPr>
        <p:spPr>
          <a:xfrm>
            <a:off x="2474366" y="4226996"/>
            <a:ext cx="1231148" cy="54013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building_03 roof 1"/>
          <p:cNvCxnSpPr/>
          <p:nvPr/>
        </p:nvCxnSpPr>
        <p:spPr>
          <a:xfrm>
            <a:off x="2593750" y="4292467"/>
            <a:ext cx="99238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1" name="!!building_04"/>
          <p:cNvSpPr/>
          <p:nvPr/>
        </p:nvSpPr>
        <p:spPr>
          <a:xfrm>
            <a:off x="4787432" y="4226996"/>
            <a:ext cx="1268455" cy="54013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building_04 roof 1"/>
          <p:cNvCxnSpPr/>
          <p:nvPr/>
        </p:nvCxnSpPr>
        <p:spPr>
          <a:xfrm>
            <a:off x="4906816" y="4292467"/>
            <a:ext cx="1029688"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3" name="!!building_05"/>
          <p:cNvSpPr/>
          <p:nvPr/>
        </p:nvSpPr>
        <p:spPr>
          <a:xfrm>
            <a:off x="7137806" y="3130356"/>
            <a:ext cx="783457" cy="540136"/>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building_05 roof 1"/>
          <p:cNvCxnSpPr/>
          <p:nvPr/>
        </p:nvCxnSpPr>
        <p:spPr>
          <a:xfrm>
            <a:off x="7257190" y="3195828"/>
            <a:ext cx="54469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5" name="!!building_06"/>
          <p:cNvSpPr/>
          <p:nvPr/>
        </p:nvSpPr>
        <p:spPr>
          <a:xfrm>
            <a:off x="7137806" y="4243364"/>
            <a:ext cx="783457" cy="523768"/>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building_06 roof 1"/>
          <p:cNvCxnSpPr/>
          <p:nvPr/>
        </p:nvCxnSpPr>
        <p:spPr>
          <a:xfrm>
            <a:off x="7257190" y="4308835"/>
            <a:ext cx="544690"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sp>
        <p:nvSpPr>
          <p:cNvPr id="37" name="!!building_07"/>
          <p:cNvSpPr/>
          <p:nvPr/>
        </p:nvSpPr>
        <p:spPr>
          <a:xfrm>
            <a:off x="982065" y="3130356"/>
            <a:ext cx="559612" cy="556503"/>
          </a:xfrm>
          <a:prstGeom prst="rect">
            <a:avLst/>
          </a:prstGeom>
          <a:solidFill>
            <a:srgbClr val="718B80"/>
          </a:solidFill>
          <a:ln w="12700">
            <a:solidFill>
              <a:srgbClr val="A2B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building_07 roof 1"/>
          <p:cNvCxnSpPr/>
          <p:nvPr/>
        </p:nvCxnSpPr>
        <p:spPr>
          <a:xfrm>
            <a:off x="1101449" y="3195828"/>
            <a:ext cx="320845" cy="0"/>
          </a:xfrm>
          <a:prstGeom prst="line">
            <a:avLst/>
          </a:prstGeom>
          <a:ln w="8890">
            <a:solidFill>
              <a:srgbClr val="A5B7AD"/>
            </a:solidFill>
          </a:ln>
        </p:spPr>
        <p:style>
          <a:lnRef idx="2">
            <a:schemeClr val="accent1"/>
          </a:lnRef>
          <a:fillRef idx="0">
            <a:schemeClr val="accent1"/>
          </a:fillRef>
          <a:effectRef idx="1">
            <a:schemeClr val="accent1"/>
          </a:effectRef>
          <a:fontRef idx="minor">
            <a:schemeClr val="tx1"/>
          </a:fontRef>
        </p:style>
      </p:cxnSp>
      <p:cxnSp>
        <p:nvCxnSpPr>
          <p:cNvPr id="39" name="route_standard 1"/>
          <p:cNvCxnSpPr/>
          <p:nvPr/>
        </p:nvCxnSpPr>
        <p:spPr>
          <a:xfrm flipH="1" flipV="1">
            <a:off x="1899830" y="5002828"/>
            <a:ext cx="89538" cy="58924"/>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0" name="route_standard 2"/>
          <p:cNvCxnSpPr/>
          <p:nvPr/>
        </p:nvCxnSpPr>
        <p:spPr>
          <a:xfrm flipV="1">
            <a:off x="1899830" y="2809548"/>
            <a:ext cx="0" cy="219328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1" name="route_standard 3"/>
          <p:cNvCxnSpPr/>
          <p:nvPr/>
        </p:nvCxnSpPr>
        <p:spPr>
          <a:xfrm>
            <a:off x="1899830" y="2809548"/>
            <a:ext cx="4879824" cy="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2" name="route_standard 4"/>
          <p:cNvCxnSpPr/>
          <p:nvPr/>
        </p:nvCxnSpPr>
        <p:spPr>
          <a:xfrm>
            <a:off x="6779654" y="2809548"/>
            <a:ext cx="0" cy="2311128"/>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3" name="route_standard 5"/>
          <p:cNvCxnSpPr/>
          <p:nvPr/>
        </p:nvCxnSpPr>
        <p:spPr>
          <a:xfrm flipH="1">
            <a:off x="2078906" y="5120676"/>
            <a:ext cx="4700748" cy="0"/>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4" name="route_standard 6"/>
          <p:cNvCxnSpPr/>
          <p:nvPr/>
        </p:nvCxnSpPr>
        <p:spPr>
          <a:xfrm flipH="1" flipV="1">
            <a:off x="1989368" y="5061752"/>
            <a:ext cx="89538" cy="58924"/>
          </a:xfrm>
          <a:prstGeom prst="line">
            <a:avLst/>
          </a:prstGeom>
          <a:ln w="41910">
            <a:solidFill>
              <a:srgbClr val="EDC76C"/>
            </a:solidFill>
            <a:prstDash val="dash"/>
          </a:ln>
        </p:spPr>
        <p:style>
          <a:lnRef idx="2">
            <a:schemeClr val="accent1"/>
          </a:lnRef>
          <a:fillRef idx="0">
            <a:schemeClr val="accent1"/>
          </a:fillRef>
          <a:effectRef idx="1">
            <a:schemeClr val="accent1"/>
          </a:effectRef>
          <a:fontRef idx="minor">
            <a:schemeClr val="tx1"/>
          </a:fontRef>
        </p:style>
      </p:cxnSp>
      <p:cxnSp>
        <p:nvCxnSpPr>
          <p:cNvPr id="45" name="route_alternative 1"/>
          <p:cNvCxnSpPr/>
          <p:nvPr/>
        </p:nvCxnSpPr>
        <p:spPr>
          <a:xfrm flipV="1">
            <a:off x="1989368" y="5002828"/>
            <a:ext cx="89538" cy="58924"/>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6" name="route_alternative 2"/>
          <p:cNvCxnSpPr/>
          <p:nvPr/>
        </p:nvCxnSpPr>
        <p:spPr>
          <a:xfrm flipV="1">
            <a:off x="2078906" y="4030583"/>
            <a:ext cx="0" cy="972245"/>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7" name="route_alternative 3"/>
          <p:cNvCxnSpPr/>
          <p:nvPr/>
        </p:nvCxnSpPr>
        <p:spPr>
          <a:xfrm>
            <a:off x="2078906" y="4030583"/>
            <a:ext cx="2350374"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8" name="route_alternative 4"/>
          <p:cNvCxnSpPr/>
          <p:nvPr/>
        </p:nvCxnSpPr>
        <p:spPr>
          <a:xfrm flipV="1">
            <a:off x="4429280" y="2927396"/>
            <a:ext cx="0" cy="1103187"/>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49" name="route_alternative 5"/>
          <p:cNvCxnSpPr/>
          <p:nvPr/>
        </p:nvCxnSpPr>
        <p:spPr>
          <a:xfrm>
            <a:off x="4429280" y="2927396"/>
            <a:ext cx="2171298"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50" name="route_alternative 6"/>
          <p:cNvCxnSpPr/>
          <p:nvPr/>
        </p:nvCxnSpPr>
        <p:spPr>
          <a:xfrm>
            <a:off x="6600578" y="2927396"/>
            <a:ext cx="0" cy="2075432"/>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51" name="route_alternative 7"/>
          <p:cNvCxnSpPr/>
          <p:nvPr/>
        </p:nvCxnSpPr>
        <p:spPr>
          <a:xfrm flipH="1">
            <a:off x="2078906" y="5002828"/>
            <a:ext cx="4521672" cy="0"/>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cxnSp>
        <p:nvCxnSpPr>
          <p:cNvPr id="52" name="route_alternative 8"/>
          <p:cNvCxnSpPr/>
          <p:nvPr/>
        </p:nvCxnSpPr>
        <p:spPr>
          <a:xfrm flipH="1">
            <a:off x="1989368" y="5002828"/>
            <a:ext cx="89538" cy="58924"/>
          </a:xfrm>
          <a:prstGeom prst="line">
            <a:avLst/>
          </a:prstGeom>
          <a:ln w="53340">
            <a:solidFill>
              <a:srgbClr val="79DCAF"/>
            </a:solidFill>
          </a:ln>
        </p:spPr>
        <p:style>
          <a:lnRef idx="2">
            <a:schemeClr val="accent1"/>
          </a:lnRef>
          <a:fillRef idx="0">
            <a:schemeClr val="accent1"/>
          </a:fillRef>
          <a:effectRef idx="1">
            <a:schemeClr val="accent1"/>
          </a:effectRef>
          <a:fontRef idx="minor">
            <a:schemeClr val="tx1"/>
          </a:fontRef>
        </p:style>
      </p:cxnSp>
      <p:sp>
        <p:nvSpPr>
          <p:cNvPr id="53" name="Start point"/>
          <p:cNvSpPr/>
          <p:nvPr/>
        </p:nvSpPr>
        <p:spPr>
          <a:xfrm>
            <a:off x="1897928" y="4970312"/>
            <a:ext cx="182880" cy="182880"/>
          </a:xfrm>
          <a:prstGeom prst="ellipse">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art centre"/>
          <p:cNvSpPr/>
          <p:nvPr/>
        </p:nvSpPr>
        <p:spPr>
          <a:xfrm>
            <a:off x="1943648" y="5016032"/>
            <a:ext cx="91440" cy="91440"/>
          </a:xfrm>
          <a:prstGeom prst="ellipse">
            <a:avLst/>
          </a:prstGeom>
          <a:solidFill>
            <a:srgbClr val="79DC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hoto point"/>
          <p:cNvSpPr/>
          <p:nvPr/>
        </p:nvSpPr>
        <p:spPr>
          <a:xfrm>
            <a:off x="4319552" y="3920855"/>
            <a:ext cx="219456" cy="219456"/>
          </a:xfrm>
          <a:prstGeom prst="ellipse">
            <a:avLst/>
          </a:prstGeom>
          <a:solidFill>
            <a:srgbClr val="F2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 55"/>
          <p:cNvSpPr txBox="1"/>
          <p:nvPr/>
        </p:nvSpPr>
        <p:spPr>
          <a:xfrm>
            <a:off x="4566440" y="3911711"/>
            <a:ext cx="1371600" cy="365760"/>
          </a:xfrm>
          <a:prstGeom prst="rect">
            <a:avLst/>
          </a:prstGeom>
          <a:noFill/>
        </p:spPr>
        <p:txBody>
          <a:bodyPr wrap="square" lIns="13716" rIns="13716" tIns="13716" bIns="13716" anchor="t">
            <a:spAutoFit/>
          </a:bodyPr>
          <a:lstStyle/>
          <a:p>
            <a:pPr algn="l">
              <a:lnSpc>
                <a:spcPct val="108000"/>
              </a:lnSpc>
              <a:spcAft>
                <a:spcPts val="300"/>
              </a:spcAft>
              <a:defRPr sz="1200" b="1">
                <a:solidFill>
                  <a:srgbClr val="F2F5EE"/>
                </a:solidFill>
                <a:latin typeface="Arial"/>
              </a:defRPr>
            </a:pPr>
            <a:r>
              <a:t>Access note</a:t>
            </a:r>
          </a:p>
        </p:txBody>
      </p:sp>
      <p:sp>
        <p:nvSpPr>
          <p:cNvPr id="57" name="Text 56"/>
          <p:cNvSpPr txBox="1"/>
          <p:nvPr/>
        </p:nvSpPr>
        <p:spPr>
          <a:xfrm>
            <a:off x="822960" y="5678424"/>
            <a:ext cx="7406640" cy="173736"/>
          </a:xfrm>
          <a:prstGeom prst="rect">
            <a:avLst/>
          </a:prstGeom>
          <a:noFill/>
        </p:spPr>
        <p:txBody>
          <a:bodyPr wrap="square" lIns="13716" rIns="13716" tIns="13716" bIns="13716" anchor="t">
            <a:spAutoFit/>
          </a:bodyPr>
          <a:lstStyle/>
          <a:p>
            <a:pPr algn="l">
              <a:lnSpc>
                <a:spcPct val="108000"/>
              </a:lnSpc>
              <a:spcAft>
                <a:spcPts val="300"/>
              </a:spcAft>
              <a:defRPr sz="900" b="1">
                <a:solidFill>
                  <a:srgbClr val="A8B8AC"/>
                </a:solidFill>
                <a:latin typeface="Arial"/>
              </a:defRPr>
            </a:pPr>
            <a:r>
              <a:t>ILLUSTRATIVE SCHEME · ASSUMED SUN ANGLES</a:t>
            </a:r>
          </a:p>
        </p:txBody>
      </p:sp>
      <p:sp>
        <p:nvSpPr>
          <p:cNvPr id="58" name="Text 57"/>
          <p:cNvSpPr txBox="1"/>
          <p:nvPr/>
        </p:nvSpPr>
        <p:spPr>
          <a:xfrm>
            <a:off x="7982712" y="2386584"/>
            <a:ext cx="228600" cy="274320"/>
          </a:xfrm>
          <a:prstGeom prst="rect">
            <a:avLst/>
          </a:prstGeom>
          <a:noFill/>
        </p:spPr>
        <p:txBody>
          <a:bodyPr wrap="square" lIns="13716" rIns="13716" tIns="13716" bIns="13716" anchor="t">
            <a:spAutoFit/>
          </a:bodyPr>
          <a:lstStyle/>
          <a:p>
            <a:pPr algn="l">
              <a:lnSpc>
                <a:spcPct val="108000"/>
              </a:lnSpc>
              <a:spcAft>
                <a:spcPts val="300"/>
              </a:spcAft>
              <a:defRPr sz="1100" b="1">
                <a:solidFill>
                  <a:srgbClr val="F2F5EE"/>
                </a:solidFill>
                <a:latin typeface="Arial"/>
              </a:defRPr>
            </a:pPr>
            <a:r>
              <a:t>N</a:t>
            </a:r>
          </a:p>
        </p:txBody>
      </p:sp>
      <p:sp>
        <p:nvSpPr>
          <p:cNvPr id="59" name="Button 09.00">
            <a:hlinkClick action="ppaction://hlinksldjump" r:id="rId4"/>
          </p:cNvPr>
          <p:cNvSpPr/>
          <p:nvPr/>
        </p:nvSpPr>
        <p:spPr>
          <a:xfrm>
            <a:off x="8823960" y="2423160"/>
            <a:ext cx="242316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utton label 09.00">
            <a:hlinkClick action="ppaction://hlinksldjump" r:id="rId4"/>
          </p:cNvPr>
          <p:cNvSpPr txBox="1"/>
          <p:nvPr/>
        </p:nvSpPr>
        <p:spPr>
          <a:xfrm>
            <a:off x="8933688" y="2496312"/>
            <a:ext cx="220370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09.00</a:t>
            </a:r>
          </a:p>
        </p:txBody>
      </p:sp>
      <p:sp>
        <p:nvSpPr>
          <p:cNvPr id="61" name="Button 13.00">
            <a:hlinkClick action="ppaction://hlinksldjump" r:id="rId5"/>
          </p:cNvPr>
          <p:cNvSpPr/>
          <p:nvPr/>
        </p:nvSpPr>
        <p:spPr>
          <a:xfrm>
            <a:off x="8823960" y="3054096"/>
            <a:ext cx="242316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utton label 13.00">
            <a:hlinkClick action="ppaction://hlinksldjump" r:id="rId5"/>
          </p:cNvPr>
          <p:cNvSpPr txBox="1"/>
          <p:nvPr/>
        </p:nvSpPr>
        <p:spPr>
          <a:xfrm>
            <a:off x="8933688" y="3127248"/>
            <a:ext cx="220370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13.00</a:t>
            </a:r>
          </a:p>
        </p:txBody>
      </p:sp>
      <p:sp>
        <p:nvSpPr>
          <p:cNvPr id="63" name="Button 17.00">
            <a:hlinkClick action="ppaction://hlinksldjump" r:id="rId6"/>
          </p:cNvPr>
          <p:cNvSpPr/>
          <p:nvPr/>
        </p:nvSpPr>
        <p:spPr>
          <a:xfrm>
            <a:off x="8823960" y="3685031"/>
            <a:ext cx="2423160" cy="393192"/>
          </a:xfrm>
          <a:prstGeom prst="roundRect">
            <a:avLst>
              <a:gd name="adj" fmla="val 9000"/>
            </a:avLst>
          </a:prstGeom>
          <a:solidFill>
            <a:srgbClr val="267353"/>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utton label 17.00">
            <a:hlinkClick action="ppaction://hlinksldjump" r:id="rId6"/>
          </p:cNvPr>
          <p:cNvSpPr txBox="1"/>
          <p:nvPr/>
        </p:nvSpPr>
        <p:spPr>
          <a:xfrm>
            <a:off x="8933688" y="3758183"/>
            <a:ext cx="220370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17.00</a:t>
            </a:r>
          </a:p>
        </p:txBody>
      </p:sp>
      <p:sp>
        <p:nvSpPr>
          <p:cNvPr id="65" name="Button Back to product">
            <a:hlinkClick action="ppaction://hlinksldjump" r:id="rId7"/>
          </p:cNvPr>
          <p:cNvSpPr/>
          <p:nvPr/>
        </p:nvSpPr>
        <p:spPr>
          <a:xfrm>
            <a:off x="8823960" y="4754880"/>
            <a:ext cx="242316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utton label Back to product">
            <a:hlinkClick action="ppaction://hlinksldjump" r:id="rId7"/>
          </p:cNvPr>
          <p:cNvSpPr txBox="1"/>
          <p:nvPr/>
        </p:nvSpPr>
        <p:spPr>
          <a:xfrm>
            <a:off x="8933688" y="4828032"/>
            <a:ext cx="220370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product</a:t>
            </a:r>
          </a:p>
        </p:txBody>
      </p:sp>
      <p:sp>
        <p:nvSpPr>
          <p:cNvPr id="67" name="Text 66"/>
          <p:cNvSpPr txBox="1"/>
          <p:nvPr/>
        </p:nvSpPr>
        <p:spPr>
          <a:xfrm>
            <a:off x="8869680" y="5440680"/>
            <a:ext cx="2377440" cy="585216"/>
          </a:xfrm>
          <a:prstGeom prst="rect">
            <a:avLst/>
          </a:prstGeom>
          <a:noFill/>
        </p:spPr>
        <p:txBody>
          <a:bodyPr wrap="square" lIns="13716" rIns="13716" tIns="13716" bIns="13716" anchor="t">
            <a:spAutoFit/>
          </a:bodyPr>
          <a:lstStyle/>
          <a:p>
            <a:pPr algn="l">
              <a:lnSpc>
                <a:spcPct val="108000"/>
              </a:lnSpc>
              <a:spcAft>
                <a:spcPts val="300"/>
              </a:spcAft>
              <a:defRPr sz="1800" b="0">
                <a:solidFill>
                  <a:srgbClr val="A8B8AC"/>
                </a:solidFill>
                <a:latin typeface="Arial"/>
              </a:defRPr>
            </a:pPr>
            <a:r>
              <a:t>Map scale and geometry stay fixed.</a:t>
            </a:r>
          </a:p>
        </p:txBody>
      </p:sp>
    </p:spTree>
  </p:cSld>
  <p:clrMapOvr>
    <a:masterClrMapping/>
  </p:clrMapOvr>
  <p:transition xmlns:p14="http://schemas.microsoft.com/office/powerpoint/2010/main" xmlns:mc="http://schemas.openxmlformats.org/markup-compatibility/2006" spd="fast" p14:dur="320" mc:Ignorable="p14" advClick="1">
    <p:fade/>
  </p:transition>
</p:sld>
</file>

<file path=ppt/slides/slide40.xml><?xml version="1.0" encoding="utf-8"?>
<p:sld xmlns:a="http://schemas.openxmlformats.org/drawingml/2006/main" xmlns:p="http://schemas.openxmlformats.org/presentationml/2006/main" xmlns:r="http://schemas.openxmlformats.org/officeDocument/2006/relationships" show="0">
  <p:cSld>
    <p:bg>
      <p:bgPr>
        <a:solidFill>
          <a:srgbClr val="101A16"/>
        </a:solidFill>
        <a:effectLst/>
      </p:bgPr>
    </p:bg>
    <p:spTree>
      <p:nvGrpSpPr>
        <p:cNvPr id="1" name=""/>
        <p:cNvGrpSpPr/>
        <p:nvPr/>
      </p:nvGrpSpPr>
      <p:grpSpPr/>
      <p:sp>
        <p:nvSpPr>
          <p:cNvPr id="2" name="Section label"/>
          <p:cNvSpPr txBox="1"/>
          <p:nvPr/>
        </p:nvSpPr>
        <p:spPr>
          <a:xfrm>
            <a:off x="502920" y="237744"/>
            <a:ext cx="7132320" cy="219456"/>
          </a:xfrm>
          <a:prstGeom prst="rect">
            <a:avLst/>
          </a:prstGeom>
          <a:noFill/>
        </p:spPr>
        <p:txBody>
          <a:bodyPr wrap="square" lIns="13716" rIns="13716" tIns="13716" bIns="13716" anchor="t">
            <a:spAutoFit/>
          </a:bodyPr>
          <a:lstStyle/>
          <a:p>
            <a:pPr algn="l">
              <a:lnSpc>
                <a:spcPct val="108000"/>
              </a:lnSpc>
              <a:spcAft>
                <a:spcPts val="300"/>
              </a:spcAft>
              <a:defRPr sz="1100" b="1">
                <a:solidFill>
                  <a:srgbClr val="79DCAF"/>
                </a:solidFill>
                <a:latin typeface="Arial"/>
              </a:defRPr>
            </a:pPr>
            <a:r>
              <a:t>SOYA  /  QUESTIONS AND EVIDENCE</a:t>
            </a:r>
          </a:p>
        </p:txBody>
      </p:sp>
      <p:sp>
        <p:nvSpPr>
          <p:cNvPr id="3" name="Slide title"/>
          <p:cNvSpPr txBox="1"/>
          <p:nvPr/>
        </p:nvSpPr>
        <p:spPr>
          <a:xfrm>
            <a:off x="502920" y="731520"/>
            <a:ext cx="11109960" cy="914400"/>
          </a:xfrm>
          <a:prstGeom prst="rect">
            <a:avLst/>
          </a:prstGeom>
          <a:noFill/>
        </p:spPr>
        <p:txBody>
          <a:bodyPr wrap="square" lIns="13716" rIns="13716" tIns="13716" bIns="13716" anchor="t">
            <a:spAutoFit/>
          </a:bodyPr>
          <a:lstStyle/>
          <a:p>
            <a:pPr algn="l">
              <a:lnSpc>
                <a:spcPct val="108000"/>
              </a:lnSpc>
              <a:spcAft>
                <a:spcPts val="300"/>
              </a:spcAft>
              <a:defRPr sz="3200" b="1">
                <a:solidFill>
                  <a:srgbClr val="F2F5EE"/>
                </a:solidFill>
                <a:latin typeface="Arial"/>
              </a:defRPr>
            </a:pPr>
            <a:r>
              <a:t>Building height changes the shadow</a:t>
            </a:r>
          </a:p>
        </p:txBody>
      </p:sp>
      <p:cxnSp>
        <p:nvCxnSpPr>
          <p:cNvPr id="4" name="Footer rule 1"/>
          <p:cNvCxnSpPr/>
          <p:nvPr/>
        </p:nvCxnSpPr>
        <p:spPr>
          <a:xfrm>
            <a:off x="502920" y="6419088"/>
            <a:ext cx="11183112" cy="0"/>
          </a:xfrm>
          <a:prstGeom prst="line">
            <a:avLst/>
          </a:prstGeom>
          <a:ln w="8890">
            <a:solidFill>
              <a:srgbClr val="354B3D"/>
            </a:solidFill>
          </a:ln>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21207" y="6528816"/>
            <a:ext cx="8595360" cy="182880"/>
          </a:xfrm>
          <a:prstGeom prst="rect">
            <a:avLst/>
          </a:prstGeom>
          <a:noFill/>
        </p:spPr>
        <p:txBody>
          <a:bodyPr wrap="square" lIns="13716" rIns="13716" tIns="13716" bIns="13716" anchor="t">
            <a:spAutoFit/>
          </a:bodyPr>
          <a:lstStyle/>
          <a:p>
            <a:pPr algn="l">
              <a:lnSpc>
                <a:spcPct val="108000"/>
              </a:lnSpc>
              <a:spcAft>
                <a:spcPts val="300"/>
              </a:spcAft>
              <a:defRPr sz="900" b="0">
                <a:solidFill>
                  <a:srgbClr val="A8B8AC"/>
                </a:solidFill>
                <a:latin typeface="Arial"/>
              </a:defRPr>
            </a:pPr>
            <a:r>
              <a:t>UDEZ01AF · CW2 · Business proposal and planning scenarios</a:t>
            </a:r>
          </a:p>
        </p:txBody>
      </p:sp>
      <p:sp>
        <p:nvSpPr>
          <p:cNvPr id="6" name="Page number"/>
          <p:cNvSpPr txBox="1"/>
          <p:nvPr/>
        </p:nvSpPr>
        <p:spPr>
          <a:xfrm>
            <a:off x="11119104" y="6492240"/>
            <a:ext cx="530352" cy="228600"/>
          </a:xfrm>
          <a:prstGeom prst="rect">
            <a:avLst/>
          </a:prstGeom>
          <a:noFill/>
        </p:spPr>
        <p:txBody>
          <a:bodyPr wrap="square" lIns="13716" rIns="13716" tIns="13716" bIns="13716" anchor="t">
            <a:spAutoFit/>
          </a:bodyPr>
          <a:lstStyle/>
          <a:p>
            <a:pPr algn="r">
              <a:lnSpc>
                <a:spcPct val="108000"/>
              </a:lnSpc>
              <a:spcAft>
                <a:spcPts val="300"/>
              </a:spcAft>
              <a:defRPr sz="1000" b="1">
                <a:solidFill>
                  <a:srgbClr val="A8B8AC"/>
                </a:solidFill>
                <a:latin typeface="Arial"/>
              </a:defRPr>
            </a:pPr>
            <a:r>
              <a:t>40</a:t>
            </a:r>
          </a:p>
        </p:txBody>
      </p:sp>
      <p:sp>
        <p:nvSpPr>
          <p:cNvPr id="7" name="Button Back to questions">
            <a:hlinkClick action="ppaction://hlinksldjump" r:id="rId6"/>
          </p:cNvPr>
          <p:cNvSpPr/>
          <p:nvPr/>
        </p:nvSpPr>
        <p:spPr>
          <a:xfrm>
            <a:off x="9692640" y="246888"/>
            <a:ext cx="192024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tton label Back to questions">
            <a:hlinkClick action="ppaction://hlinksldjump" r:id="rId6"/>
          </p:cNvPr>
          <p:cNvSpPr txBox="1"/>
          <p:nvPr/>
        </p:nvSpPr>
        <p:spPr>
          <a:xfrm>
            <a:off x="9802367" y="320040"/>
            <a:ext cx="170078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Back to questions</a:t>
            </a:r>
          </a:p>
        </p:txBody>
      </p:sp>
      <p:pic>
        <p:nvPicPr>
          <p:cNvPr id="9" name="Embedded illustrative shade demonstration" descr="Illustrative building geometry with changing assumed sunlight and two concept walking routes.">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1999" cy="6858000"/>
          </a:xfrm>
          <a:prstGeom prst="rect">
            <a:avLst/>
          </a:prstGeom>
        </p:spPr>
      </p:pic>
      <p:sp>
        <p:nvSpPr>
          <p:cNvPr id="10" name="Button Product">
            <a:hlinkClick action="ppaction://hlinksldjump" r:id="rId7"/>
          </p:cNvPr>
          <p:cNvSpPr/>
          <p:nvPr/>
        </p:nvSpPr>
        <p:spPr>
          <a:xfrm>
            <a:off x="8732520" y="6400800"/>
            <a:ext cx="132588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utton label Product">
            <a:hlinkClick action="ppaction://hlinksldjump" r:id="rId7"/>
          </p:cNvPr>
          <p:cNvSpPr txBox="1"/>
          <p:nvPr/>
        </p:nvSpPr>
        <p:spPr>
          <a:xfrm>
            <a:off x="8842248" y="6473952"/>
            <a:ext cx="110642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Product</a:t>
            </a:r>
          </a:p>
        </p:txBody>
      </p:sp>
      <p:sp>
        <p:nvSpPr>
          <p:cNvPr id="12" name="Button Questions">
            <a:hlinkClick action="ppaction://hlinksldjump" r:id="rId6"/>
          </p:cNvPr>
          <p:cNvSpPr/>
          <p:nvPr/>
        </p:nvSpPr>
        <p:spPr>
          <a:xfrm>
            <a:off x="10195560" y="6400800"/>
            <a:ext cx="1508760" cy="393192"/>
          </a:xfrm>
          <a:prstGeom prst="roundRect">
            <a:avLst>
              <a:gd name="adj" fmla="val 9000"/>
            </a:avLst>
          </a:prstGeom>
          <a:solidFill>
            <a:srgbClr val="22352A"/>
          </a:solidFill>
          <a:ln w="12700">
            <a:solidFill>
              <a:srgbClr val="354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utton label Questions">
            <a:hlinkClick action="ppaction://hlinksldjump" r:id="rId6"/>
          </p:cNvPr>
          <p:cNvSpPr txBox="1"/>
          <p:nvPr/>
        </p:nvSpPr>
        <p:spPr>
          <a:xfrm>
            <a:off x="10305288" y="6473952"/>
            <a:ext cx="1289304" cy="256032"/>
          </a:xfrm>
          <a:prstGeom prst="rect">
            <a:avLst/>
          </a:prstGeom>
          <a:noFill/>
        </p:spPr>
        <p:txBody>
          <a:bodyPr wrap="square" lIns="13716" rIns="13716" tIns="13716" bIns="13716" anchor="t">
            <a:spAutoFit/>
          </a:bodyPr>
          <a:lstStyle/>
          <a:p>
            <a:pPr algn="l">
              <a:lnSpc>
                <a:spcPct val="108000"/>
              </a:lnSpc>
              <a:spcAft>
                <a:spcPts val="300"/>
              </a:spcAft>
              <a:defRPr sz="1400" b="1">
                <a:solidFill>
                  <a:srgbClr val="F2F5EE"/>
                </a:solidFill>
                <a:latin typeface="Arial"/>
              </a:defRPr>
            </a:pPr>
            <a:r>
              <a:t>Questions</a:t>
            </a:r>
          </a:p>
        </p:txBody>
      </p:sp>
    </p:spTree>
  </p:cSld>
  <p:clrMapOvr>
    <a:masterClrMapping/>
  </p:clrMapOvr>
  <p:transition xmlns:p14="http://schemas.microsoft.com/office/powerpoint/2010/main" xmlns:mc="http://schemas.openxmlformats.org/markup-compatibility/2006" spd="fast" p14:dur="320" mc:Ignorable="p14" advClick="1">
    <p:fade/>
  </p:transition>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SOYA · CW2 Group Presentation</dc:title>
  <dc:subject>Introduction to Business and Management · UDEZ01AF</dc:subject>
  <dc:creator>Soya project team</dc:creator>
  <cp:keywords>Soya, CW2, business plan, shade, walking, Tashkent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